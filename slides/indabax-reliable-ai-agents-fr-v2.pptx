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8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38"/>
    <p:sldId id="269" r:id="rId39"/>
    <p:sldId id="270" r:id="rId40"/>
    <p:sldId id="271" r:id="rId41"/>
    <p:sldId id="272" r:id="rId42"/>
    <p:sldId id="273" r:id="rId43"/>
    <p:sldId id="274" r:id="rId44"/>
    <p:sldId id="275" r:id="rId45"/>
    <p:sldId id="276" r:id="rId46"/>
    <p:sldId id="277" r:id="rId47"/>
    <p:sldId id="278" r:id="rId48"/>
    <p:sldId id="279" r:id="rId49"/>
    <p:sldId id="280" r:id="rId50"/>
    <p:sldId id="281" r:id="rId51"/>
  </p:sldIdLst>
  <p:sldSz cx="18288000" cy="10287000"/>
  <p:notesSz cx="6858000" cy="9144000"/>
  <p:embeddedFontLst>
    <p:embeddedFont>
      <p:font typeface="Poppins Bold" charset="1" panose="00000800000000000000"/>
      <p:regular r:id="rId21"/>
    </p:embeddedFont>
    <p:embeddedFont>
      <p:font typeface="Poppins" charset="1" panose="00000500000000000000"/>
      <p:regular r:id="rId22"/>
    </p:embeddedFont>
    <p:embeddedFont>
      <p:font typeface="Poppins Medium" charset="1" panose="00000600000000000000"/>
      <p:regular r:id="rId23"/>
    </p:embeddedFont>
    <p:embeddedFont>
      <p:font typeface="Poppins Semi-Bold" charset="1" panose="00000700000000000000"/>
      <p:regular r:id="rId24"/>
    </p:embeddedFont>
    <p:embeddedFont>
      <p:font typeface="Arimo" charset="1" panose="020B0604020202020204"/>
      <p:regular r:id="rId26"/>
    </p:embeddedFont>
    <p:embeddedFont>
      <p:font typeface="Arimo Bold" charset="1" panose="020B0704020202020204"/>
      <p:regular r:id="rId3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19" Type="http://schemas.openxmlformats.org/officeDocument/2006/relationships/theme" Target="theme/theme2.xml"/><Relationship Id="rId20" Type="http://schemas.openxmlformats.org/officeDocument/2006/relationships/notesSlide" Target="notesSlides/notesSlide1.xml"/><Relationship Id="rId21" Type="http://schemas.openxmlformats.org/officeDocument/2006/relationships/font" Target="fonts/font21.fntdata"/><Relationship Id="rId22" Type="http://schemas.openxmlformats.org/officeDocument/2006/relationships/font" Target="fonts/font22.fntdata"/><Relationship Id="rId23" Type="http://schemas.openxmlformats.org/officeDocument/2006/relationships/font" Target="fonts/font23.fntdata"/><Relationship Id="rId24" Type="http://schemas.openxmlformats.org/officeDocument/2006/relationships/font" Target="fonts/font24.fntdata"/><Relationship Id="rId25" Type="http://schemas.openxmlformats.org/officeDocument/2006/relationships/notesSlide" Target="notesSlides/notesSlide2.xml"/><Relationship Id="rId26" Type="http://schemas.openxmlformats.org/officeDocument/2006/relationships/font" Target="fonts/font26.fntdata"/><Relationship Id="rId27" Type="http://schemas.openxmlformats.org/officeDocument/2006/relationships/notesSlide" Target="notesSlides/notesSlide3.xml"/><Relationship Id="rId28" Type="http://schemas.openxmlformats.org/officeDocument/2006/relationships/notesSlide" Target="notesSlides/notesSlide4.xml"/><Relationship Id="rId29" Type="http://schemas.openxmlformats.org/officeDocument/2006/relationships/notesSlide" Target="notesSlides/notesSlide5.xml"/><Relationship Id="rId30" Type="http://schemas.openxmlformats.org/officeDocument/2006/relationships/notesSlide" Target="notesSlides/notesSlide6.xml"/><Relationship Id="rId31" Type="http://schemas.openxmlformats.org/officeDocument/2006/relationships/notesSlide" Target="notesSlides/notesSlide7.xml"/><Relationship Id="rId32" Type="http://schemas.openxmlformats.org/officeDocument/2006/relationships/font" Target="fonts/font32.fntdata"/><Relationship Id="rId33" Type="http://schemas.openxmlformats.org/officeDocument/2006/relationships/notesSlide" Target="notesSlides/notesSlide8.xml"/><Relationship Id="rId34" Type="http://schemas.openxmlformats.org/officeDocument/2006/relationships/notesSlide" Target="notesSlides/notesSlide9.xml"/><Relationship Id="rId35" Type="http://schemas.openxmlformats.org/officeDocument/2006/relationships/notesSlide" Target="notesSlides/notesSlide10.xml"/><Relationship Id="rId36" Type="http://schemas.openxmlformats.org/officeDocument/2006/relationships/notesSlide" Target="notesSlides/notesSlide11.xml"/><Relationship Id="rId37" Type="http://schemas.openxmlformats.org/officeDocument/2006/relationships/notesSlide" Target="notesSlides/notesSlide12.xml"/><Relationship Id="rId38" Type="http://schemas.openxmlformats.org/officeDocument/2006/relationships/slide" Target="slides/slide13.xml"/><Relationship Id="rId39" Type="http://schemas.openxmlformats.org/officeDocument/2006/relationships/slide" Target="slides/slide14.xml"/><Relationship Id="rId40" Type="http://schemas.openxmlformats.org/officeDocument/2006/relationships/slide" Target="slides/slide15.xml"/><Relationship Id="rId41" Type="http://schemas.openxmlformats.org/officeDocument/2006/relationships/slide" Target="slides/slide16.xml"/><Relationship Id="rId42" Type="http://schemas.openxmlformats.org/officeDocument/2006/relationships/slide" Target="slides/slide17.xml"/><Relationship Id="rId43" Type="http://schemas.openxmlformats.org/officeDocument/2006/relationships/slide" Target="slides/slide18.xml"/><Relationship Id="rId44" Type="http://schemas.openxmlformats.org/officeDocument/2006/relationships/slide" Target="slides/slide19.xml"/><Relationship Id="rId45" Type="http://schemas.openxmlformats.org/officeDocument/2006/relationships/slide" Target="slides/slide20.xml"/><Relationship Id="rId46" Type="http://schemas.openxmlformats.org/officeDocument/2006/relationships/slide" Target="slides/slide21.xml"/><Relationship Id="rId47" Type="http://schemas.openxmlformats.org/officeDocument/2006/relationships/slide" Target="slides/slide22.xml"/><Relationship Id="rId48" Type="http://schemas.openxmlformats.org/officeDocument/2006/relationships/slide" Target="slides/slide23.xml"/><Relationship Id="rId49" Type="http://schemas.openxmlformats.org/officeDocument/2006/relationships/slide" Target="slides/slide24.xml"/><Relationship Id="rId50" Type="http://schemas.openxmlformats.org/officeDocument/2006/relationships/slide" Target="slides/slide25.xml"/><Relationship Id="rId51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t>00:00–00:01</a:t>
            </a:r>
          </a:p>
          <a:p>
            <a:r>
              <a:t>Objectif : Annoncer le résultat d’apprentissage.</a:t>
            </a:r>
          </a:p>
          <a:p>
            <a:r>
              <a:t>À dire : Nous allons partir d’un modèle qui répond, lui donner des outils, construire sa boucle d’exécution puis vérifier ses décisions.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t>00:01–00:02</a:t>
            </a:r>
          </a:p>
          <a:p>
            <a:r>
              <a:t>Objectif : Donner la carte de la session.</a:t>
            </a:r>
          </a:p>
          <a:p>
            <a:r>
              <a:t>À dire : Chaque bloc commence par l’idée. Le code vient ensuite pour montrer comment cette idée devient un système exécutable.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t>00:02–00:04</a:t>
            </a:r>
          </a:p>
          <a:p>
            <a:r>
              <a:t>Objectif : Installer un problème concret.</a:t>
            </a:r>
          </a:p>
          <a:p>
            <a:r>
              <a:t>À dire : KoraCare est fictif. Nous devons examiner cette alerte sans confondre une réponse plausible avec une exécution prouvée.</a:t>
            </a:r>
          </a:p>
          <a:p>
            <a:r>
              <a:t>Question : Quelle information faut-il vérifier en premier ?</a:t>
            </a:r>
          </a:p>
          <a:p>
            <a:r>
              <a:t>Réponse attendue : La mesure actuelle de la clinique.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t>00:04–00:06</a:t>
            </a:r>
          </a:p>
          <a:p>
            <a:r>
              <a:t>Objectif : Rendre les données et la règle explicites.</a:t>
            </a:r>
          </a:p>
          <a:p>
            <a:r>
              <a:t>À dire : La valeur 12,4 n’est ni un seuil ni une moyenne : c’est la mesure lue dans notre jeu de données.</a:t>
            </a:r>
          </a:p>
          <a:p>
            <a:r>
              <a:t>Question : Pourquoi 12,4 °C ne suffit-il pas à lui seul ?</a:t>
            </a:r>
          </a:p>
          <a:p>
            <a:r>
              <a:t>Réponse attendue : La durée, l’état du capteur et la procédure comptent aussi.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t>00:06–00:09</a:t>
            </a:r>
          </a:p>
          <a:p>
            <a:r>
              <a:t>Objectif : Poser le vocabulaire avant le code.</a:t>
            </a:r>
          </a:p>
          <a:p>
            <a:r>
              <a:t>À dire : Le modèle propose. Notre code décide ce qui est autorisé, exécute les fonctions et conserve les preuves.</a:t>
            </a:r>
          </a:p>
          <a:p>
            <a:r>
              <a:t>Question : Qui exécute réellement un outil ?</a:t>
            </a:r>
          </a:p>
          <a:p>
            <a:r>
              <a:t>Réponse attendue : Le programme Python, après contrôle de la proposition.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t>00:09–00:11</a:t>
            </a:r>
          </a:p>
          <a:p>
            <a:r>
              <a:t>Objectif : Présenter le cycle complet avant son implémentation.</a:t>
            </a:r>
          </a:p>
          <a:p>
            <a:r>
              <a:t>À dire : Suivons toujours ces quatre moments : proposition, contrôle, exécution, observation.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t>00:11–00:13</a:t>
            </a:r>
          </a:p>
          <a:p>
            <a:r>
              <a:t>Objectif : Expliquer le contrat d’un outil.</a:t>
            </a:r>
          </a:p>
          <a:p>
            <a:r>
              <a:t>À dire : Le modèle voit le schéma. Il ne voit pas ni n’exécute directement le corps de la fonction.</a:t>
            </a:r>
          </a:p>
          <a:p>
            <a:r>
              <a:t>Question : À quoi sert le schéma ?</a:t>
            </a:r>
          </a:p>
          <a:p>
            <a:r>
              <a:t>Réponse attendue : À expliquer au modèle comment demander l’outil de manière structurée.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t>00:13–00:16</a:t>
            </a:r>
          </a:p>
          <a:p>
            <a:r>
              <a:t>Objectif : Montrer un outil réel et lisible.</a:t>
            </a:r>
          </a:p>
          <a:p>
            <a:r>
              <a:t>À dire : La description guide le modèle ; ce code contrôle l’entrée et produit la donnée qui sera utilisée par la suite.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t>00:16–00:18</a:t>
            </a:r>
          </a:p>
          <a:p>
            <a:r>
              <a:t>Objectif : Expliquer l’abstraction du client avant de l’utiliser.</a:t>
            </a:r>
          </a:p>
          <a:p>
            <a:r>
              <a:t>À dire : Le reste de l’agent dépend d’un contrat simple. C’est ce qui permet de changer de fournisseur sans réécrire la boucle.</a:t>
            </a:r>
          </a:p>
          <a:p>
            <a:r>
              <a:t>Question : Comment savons-nous que client possède complete ?</a:t>
            </a:r>
          </a:p>
          <a:p>
            <a:r>
              <a:t>Réponse attendue : Le protocole LLMClient définit ce contrat.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t>00:18–00:21</a:t>
            </a:r>
          </a:p>
          <a:p>
            <a:r>
              <a:t>Objectif : Rendre complete, mode et client compréhensibles.</a:t>
            </a:r>
          </a:p>
          <a:p>
            <a:r>
              <a:t>À dire : Rien n’est caché : le protocole annonce le contrat et la fonction reçoit l’implémentation choisie.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t>00:21–00:23</a:t>
            </a:r>
          </a:p>
          <a:p>
            <a:r>
              <a:t>Objectif : Distinguer proposition et exécution.</a:t>
            </a:r>
          </a:p>
          <a:p>
            <a:r>
              <a:t>À dire : Le bloc de gauche est une demande du modèle. Le bloc de droite est le résultat obtenu par Python.</a:t>
            </a:r>
          </a:p>
          <a:p>
            <a:r>
              <a:t>Question : À quel moment connaissons-nous réellement 12,4 °C ?</a:t>
            </a:r>
          </a:p>
          <a:p>
            <a:r>
              <a:t>Réponse attendue : Après l’exécution réussie de get_clinic_status.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t>00:23–00:25</a:t>
            </a:r>
          </a:p>
          <a:p>
            <a:r>
              <a:t>Objectif : Expliquer l’état avant le code d’exécution.</a:t>
            </a:r>
          </a:p>
          <a:p>
            <a:r>
              <a:t>À dire : L’historique sert à poursuivre le raisonnement ; la trace sert à vérifier ce qui s’est réellement passé.</a:t>
            </a:r>
          </a:p>
          <a:p>
            <a:r>
              <a:t>Question : Pourquoi conserver les deux ?</a:t>
            </a:r>
          </a:p>
          <a:p>
            <a:r>
              <a:t>Réponse attendue : Ils servent à des responsabilités différentes : contexte du modèle et preuve d’exécution.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00:25–00:27</a:t>
            </a:r>
          </a:p>
          <a:p>
            <a:r>
              <a:t>Objectif : Montrer une abstraction d’état simple.</a:t>
            </a:r>
          </a:p>
          <a:p>
            <a:r>
              <a:t>À dire : L’objet AgentState évite de faire circuler quatre variables séparées à chaque fonction.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00:27–00:30</a:t>
            </a:r>
          </a:p>
          <a:p>
            <a:r>
              <a:t>Objectif : Montrer le cœur de l’aller-retour.</a:t>
            </a:r>
          </a:p>
          <a:p>
            <a:r>
              <a:t>À dire : make_trace condense ici la construction d’une TraceEntry ; la version exécutable conserve tous ses champs.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00:30–00:33</a:t>
            </a:r>
          </a:p>
          <a:p>
            <a:r>
              <a:t>Objectif : Faire parcourir la chaîne de décisions.</a:t>
            </a:r>
          </a:p>
          <a:p>
            <a:r>
              <a:t>À dire : À chaque ligne, demandez quelle information manquait avant cet appel et ce que le résultat permet ensuite.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00:33–00:35</a:t>
            </a:r>
          </a:p>
          <a:p>
            <a:r>
              <a:t>Objectif : Expliquer la boucle avant son code.</a:t>
            </a:r>
          </a:p>
          <a:p>
            <a:r>
              <a:t>À dire : Les fonctions précédentes sont maintenant assemblées. Le modèle propose la suite ; Python garde les limites.</a:t>
            </a:r>
          </a:p>
          <a:p>
            <a:r>
              <a:t>Question : Quelles sont les deux sorties possibles d’un tour ?</a:t>
            </a:r>
          </a:p>
          <a:p>
            <a:r>
              <a:t>Réponse attendue : Un ou plusieurs appels d’outils, ou une réponse finale.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00:35–00:38</a:t>
            </a:r>
          </a:p>
          <a:p>
            <a:r>
              <a:t>Objectif : Montrer l’assemblage final.</a:t>
            </a:r>
          </a:p>
          <a:p>
            <a:r>
              <a:t>À dire : Chaque nom correspond à une idée déjà expliquée. La boucle devient lisible parce que les responsabilités sont séparées.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00:38–00:40</a:t>
            </a:r>
          </a:p>
          <a:p>
            <a:r>
              <a:t>Objectif : Élargir la validation au-delà du schéma.</a:t>
            </a:r>
          </a:p>
          <a:p>
            <a:r>
              <a:t>À dire : Un modèle peut produire un JSON parfaitement valide avec une température inventée. Il faut comparer avec la trace.</a:t>
            </a:r>
          </a:p>
          <a:p>
            <a:r>
              <a:t>Question : 5,0 est-il un argument valide pour une température ?</a:t>
            </a:r>
          </a:p>
          <a:p>
            <a:r>
              <a:t>Réponse attendue : Oui pour le type ; non pour la cohérence si le capteur a renvoyé 12,4.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00:40–00:43</a:t>
            </a:r>
          </a:p>
          <a:p>
            <a:r>
              <a:t>Objectif : Montrer un contrôle de provenance réel.</a:t>
            </a:r>
          </a:p>
          <a:p>
            <a:r>
              <a:t>À dire : Le type float ne suffit pas. Cette règle empêche le modèle de modifier silencieusement une observation.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00:43–00:45</a:t>
            </a:r>
          </a:p>
          <a:p>
            <a:r>
              <a:t>Objectif : Montrer que la réponse finale est aussi contrôlée.</a:t>
            </a:r>
          </a:p>
          <a:p>
            <a:r>
              <a:t>À dire : Une phrase assurée ne remplace ni le dossier ni la revue. Le système doit donc bloquer cette conclusion.</a:t>
            </a:r>
          </a:p>
          <a:p>
            <a:r>
              <a:t>Question : Pourquoi le résultat correct est-il un arrêt ?</a:t>
            </a:r>
          </a:p>
          <a:p>
            <a:r>
              <a:t>Réponse attendue : Parce que les preuves requises pour conclure sont absentes.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00:45–00:47</a:t>
            </a:r>
          </a:p>
          <a:p>
            <a:r>
              <a:t>Objectif : Montrer la frontière de décision.</a:t>
            </a:r>
          </a:p>
          <a:p>
            <a:r>
              <a:t>À dire : Demander une revue ne suffit pas. Le programme vérifie la décision, son incident et son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00:47–00:48</a:t>
            </a:r>
          </a:p>
          <a:p>
            <a:r>
              <a:t>Objectif : Expliquer ce que mesure la suite d’évaluation.</a:t>
            </a:r>
          </a:p>
          <a:p>
            <a:r>
              <a:t>À dire : Nous testons le comportement du système, pas seulement la formulation de la dernière réponse.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00:48–00:49</a:t>
            </a:r>
          </a:p>
          <a:p>
            <a:r>
              <a:t>Objectif : Lire un cas normal et un refus attendu.</a:t>
            </a:r>
          </a:p>
          <a:p>
            <a:r>
              <a:t>À dire : Le scénario approbation absente est PASS parce que le système produit review_required comme prévu.</a:t>
            </a:r>
          </a:p>
          <a:p>
            <a:r>
              <a:t>Question : Que doit-il arriver si l’on retire la protection correspondante ?</a:t>
            </a:r>
          </a:p>
          <a:p>
            <a:r>
              <a:t>Réponse attendue : Ce test doit échouer.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00:49</a:t>
            </a:r>
          </a:p>
          <a:p>
            <a:r>
              <a:t>Objectif : Consolider les acquis.</a:t>
            </a:r>
          </a:p>
          <a:p>
            <a:r>
              <a:t>À dire : Même sans avoir codé pendant la séance, vous pouvez maintenant lire la boucle, expliquer ses composants et identifier où placer un contrôle.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00:49–00:50</a:t>
            </a:r>
          </a:p>
          <a:p>
            <a:r>
              <a:t>Objectif : Donner une suite adaptée à chaque niveau.</a:t>
            </a:r>
          </a:p>
          <a:p>
            <a:r>
              <a:t>À dire : Commencez par la démonstration guidée. Passez ensuite au notebook solution, puis au notebook participant si vous voulez reconstruire les décisions.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00:50</a:t>
            </a:r>
          </a:p>
          <a:p>
            <a:r>
              <a:t>Objectif : Clore sur le transfert vers leurs projets.</a:t>
            </a:r>
          </a:p>
          <a:p>
            <a:r>
              <a:t>À dire : Laisser le QR et les ressources affichés.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github.com/chabelbossa/indabax-reliable-ai-agents/blob/main/examples/guided_demo.py" TargetMode="External"/><Relationship Id="rId4" Type="http://schemas.openxmlformats.org/officeDocument/2006/relationships/hyperlink" Target="https://colab.research.google.com/github/chabelbossa/indabax-reliable-ai-agents/blob/main/notebooks/workshop-solution-fr.ipynb" TargetMode="External"/><Relationship Id="rId5" Type="http://schemas.openxmlformats.org/officeDocument/2006/relationships/hyperlink" Target="https://colab.research.google.com/github/chabelbossa/indabax-reliable-ai-agents/blob/main/notebooks/workshop-fr.ipynb" TargetMode="External"/><Relationship Id="rId6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hyperlink" Target="https://github.com/chabelbossa/indabax-reliable-ai-agents" TargetMode="External"/><Relationship Id="rId5" Type="http://schemas.openxmlformats.org/officeDocument/2006/relationships/notesSlide" Target="../notesSlides/notesSlide26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143000" y="1047750"/>
            <a:ext cx="738188" cy="857250"/>
            <a:chOff x="0" y="0"/>
            <a:chExt cx="984250" cy="1143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84250" cy="1143000"/>
            </a:xfrm>
            <a:custGeom>
              <a:avLst/>
              <a:gdLst/>
              <a:ahLst/>
              <a:cxnLst/>
              <a:rect r="r" b="b" t="t" l="l"/>
              <a:pathLst>
                <a:path h="1143000" w="984250">
                  <a:moveTo>
                    <a:pt x="0" y="0"/>
                  </a:moveTo>
                  <a:lnTo>
                    <a:pt x="984250" y="0"/>
                  </a:lnTo>
                  <a:lnTo>
                    <a:pt x="984250" y="1143000"/>
                  </a:lnTo>
                  <a:lnTo>
                    <a:pt x="0" y="1143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1143000" y="4457510"/>
            <a:ext cx="16002000" cy="26197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2"/>
              </a:lnSpc>
            </a:pPr>
            <a:r>
              <a:rPr lang="en-US" b="true" sz="9600" spc="-288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Construire des agents IA fiables</a:t>
            </a:r>
          </a:p>
          <a:p>
            <a:pPr algn="l">
              <a:lnSpc>
                <a:spcPts val="9792"/>
              </a:lnSpc>
            </a:pPr>
          </a:p>
        </p:txBody>
      </p:sp>
      <p:grpSp>
        <p:nvGrpSpPr>
          <p:cNvPr name="Group 5" id="5"/>
          <p:cNvGrpSpPr/>
          <p:nvPr/>
        </p:nvGrpSpPr>
        <p:grpSpPr>
          <a:xfrm rot="0">
            <a:off x="14105668" y="619908"/>
            <a:ext cx="3039332" cy="455634"/>
            <a:chOff x="0" y="0"/>
            <a:chExt cx="800483" cy="120002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00483" cy="120002"/>
            </a:xfrm>
            <a:custGeom>
              <a:avLst/>
              <a:gdLst/>
              <a:ahLst/>
              <a:cxnLst/>
              <a:rect r="r" b="b" t="t" l="l"/>
              <a:pathLst>
                <a:path h="120002" w="800483">
                  <a:moveTo>
                    <a:pt x="60001" y="0"/>
                  </a:moveTo>
                  <a:lnTo>
                    <a:pt x="740481" y="0"/>
                  </a:lnTo>
                  <a:cubicBezTo>
                    <a:pt x="756395" y="0"/>
                    <a:pt x="771656" y="6322"/>
                    <a:pt x="782909" y="17574"/>
                  </a:cubicBezTo>
                  <a:cubicBezTo>
                    <a:pt x="794161" y="28826"/>
                    <a:pt x="800483" y="44088"/>
                    <a:pt x="800483" y="60001"/>
                  </a:cubicBezTo>
                  <a:lnTo>
                    <a:pt x="800483" y="60001"/>
                  </a:lnTo>
                  <a:cubicBezTo>
                    <a:pt x="800483" y="75915"/>
                    <a:pt x="794161" y="91176"/>
                    <a:pt x="782909" y="102428"/>
                  </a:cubicBezTo>
                  <a:cubicBezTo>
                    <a:pt x="771656" y="113681"/>
                    <a:pt x="756395" y="120002"/>
                    <a:pt x="740481" y="120002"/>
                  </a:cubicBezTo>
                  <a:lnTo>
                    <a:pt x="60001" y="120002"/>
                  </a:lnTo>
                  <a:cubicBezTo>
                    <a:pt x="44088" y="120002"/>
                    <a:pt x="28826" y="113681"/>
                    <a:pt x="17574" y="102428"/>
                  </a:cubicBezTo>
                  <a:cubicBezTo>
                    <a:pt x="6322" y="91176"/>
                    <a:pt x="0" y="75915"/>
                    <a:pt x="0" y="60001"/>
                  </a:cubicBezTo>
                  <a:lnTo>
                    <a:pt x="0" y="60001"/>
                  </a:lnTo>
                  <a:cubicBezTo>
                    <a:pt x="0" y="44088"/>
                    <a:pt x="6322" y="28826"/>
                    <a:pt x="17574" y="17574"/>
                  </a:cubicBezTo>
                  <a:cubicBezTo>
                    <a:pt x="28826" y="6322"/>
                    <a:pt x="44088" y="0"/>
                    <a:pt x="60001" y="0"/>
                  </a:cubicBezTo>
                  <a:close/>
                </a:path>
              </a:pathLst>
            </a:custGeom>
            <a:solidFill>
              <a:srgbClr val="FBC418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800483" cy="17715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2278628" y="1156178"/>
            <a:ext cx="3265499" cy="545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20"/>
              </a:lnSpc>
            </a:pPr>
            <a:r>
              <a:rPr lang="en-US" b="true" sz="3014" spc="-3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3014" spc="-3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3014" spc="-3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143000" y="7425976"/>
            <a:ext cx="16002000" cy="1051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2700">
                <a:solidFill>
                  <a:srgbClr val="2B2B2B"/>
                </a:solidFill>
                <a:latin typeface="Poppins"/>
                <a:ea typeface="Poppins"/>
                <a:cs typeface="Poppins"/>
                <a:sym typeface="Poppins"/>
              </a:rPr>
              <a:t>Comprendre, construire et vérifier une boucle agentique en Python.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143000" y="8953500"/>
            <a:ext cx="7315200" cy="731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b="true" sz="1800">
                <a:solidFill>
                  <a:srgbClr val="5B5B5B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BOSSA Chabel · Ingénieur logiciel · ENSGMM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3678186" y="8953500"/>
            <a:ext cx="3466814" cy="731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b="true" sz="1800">
                <a:solidFill>
                  <a:srgbClr val="5B5B5B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IndabaX Bénin 2026 · Cotonou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4698467" y="630238"/>
            <a:ext cx="1853733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b="true" sz="2000" spc="100">
                <a:solidFill>
                  <a:srgbClr val="2B2B2B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ATELIER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14" id="14"/>
          <p:cNvGrpSpPr/>
          <p:nvPr/>
        </p:nvGrpSpPr>
        <p:grpSpPr>
          <a:xfrm rot="0">
            <a:off x="1143000" y="9623298"/>
            <a:ext cx="393668" cy="457200"/>
            <a:chOff x="0" y="0"/>
            <a:chExt cx="524891" cy="609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24891" cy="609600"/>
            </a:xfrm>
            <a:custGeom>
              <a:avLst/>
              <a:gdLst/>
              <a:ahLst/>
              <a:cxnLst/>
              <a:rect r="r" b="b" t="t" l="l"/>
              <a:pathLst>
                <a:path h="609600" w="524891">
                  <a:moveTo>
                    <a:pt x="0" y="0"/>
                  </a:moveTo>
                  <a:lnTo>
                    <a:pt x="524891" y="0"/>
                  </a:lnTo>
                  <a:lnTo>
                    <a:pt x="524891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1689068" y="9699498"/>
            <a:ext cx="1577626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165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64840" y="96469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3000"/>
              </a:lnSpc>
              <a:spcAft>
                <a:spcPts val="700"/>
              </a:spcAft>
            </a:pPr>
            <a:r>
              <a:rPr sz="1700" b="0">
                <a:solidFill>
                  <a:srgbClr val="53645A"/>
                </a:solidFill>
                <a:latin typeface="Poppins"/>
              </a:rPr>
              <a:t>02 / 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713232"/>
            <a:ext cx="1600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1900" b="1">
                <a:solidFill>
                  <a:srgbClr val="008751"/>
                </a:solidFill>
                <a:latin typeface="Poppins"/>
              </a:rPr>
              <a:t>50 MINUTES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1325880"/>
            <a:ext cx="160020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4300" b="1">
                <a:solidFill>
                  <a:srgbClr val="111713"/>
                </a:solidFill>
                <a:latin typeface="Poppins"/>
              </a:rPr>
              <a:t>Un concept, son code, puis son comportement observable.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2880360"/>
            <a:ext cx="914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3100" b="1">
                <a:solidFill>
                  <a:srgbClr val="008751"/>
                </a:solidFill>
                <a:latin typeface="Poppins"/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2880360"/>
            <a:ext cx="114300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900" b="1">
                <a:solidFill>
                  <a:srgbClr val="111713"/>
                </a:solidFill>
                <a:latin typeface="Poppins"/>
              </a:rPr>
              <a:t>Comprendre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3160" y="3429000"/>
            <a:ext cx="11430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000" b="0">
                <a:solidFill>
                  <a:srgbClr val="53645A"/>
                </a:solidFill>
                <a:latin typeface="Poppins"/>
              </a:rPr>
              <a:t>Distinguer modèle, outil, agent et application.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79040" y="3017520"/>
            <a:ext cx="1965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3000"/>
              </a:lnSpc>
              <a:spcAft>
                <a:spcPts val="700"/>
              </a:spcAft>
            </a:pPr>
            <a:r>
              <a:rPr sz="2400" b="1">
                <a:solidFill>
                  <a:srgbClr val="008751"/>
                </a:solidFill>
                <a:latin typeface="Poppins"/>
              </a:rPr>
              <a:t>9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4178808"/>
            <a:ext cx="914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3100" b="1">
                <a:solidFill>
                  <a:srgbClr val="008751"/>
                </a:solidFill>
                <a:latin typeface="Poppins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23160" y="4178808"/>
            <a:ext cx="114300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900" b="1">
                <a:solidFill>
                  <a:srgbClr val="111713"/>
                </a:solidFill>
                <a:latin typeface="Poppins"/>
              </a:rPr>
              <a:t>Construire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23160" y="4727448"/>
            <a:ext cx="11430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000" b="0">
                <a:solidFill>
                  <a:srgbClr val="53645A"/>
                </a:solidFill>
                <a:latin typeface="Poppins"/>
              </a:rPr>
              <a:t>Assembler proposition, exécution et observation.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179040" y="4315968"/>
            <a:ext cx="1965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3000"/>
              </a:lnSpc>
              <a:spcAft>
                <a:spcPts val="700"/>
              </a:spcAft>
            </a:pPr>
            <a:r>
              <a:rPr sz="2400" b="1">
                <a:solidFill>
                  <a:srgbClr val="008751"/>
                </a:solidFill>
                <a:latin typeface="Poppins"/>
              </a:rPr>
              <a:t>20 min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5477256"/>
            <a:ext cx="914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3100" b="1">
                <a:solidFill>
                  <a:srgbClr val="008751"/>
                </a:solidFill>
                <a:latin typeface="Poppins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23160" y="5477256"/>
            <a:ext cx="114300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900" b="1">
                <a:solidFill>
                  <a:srgbClr val="111713"/>
                </a:solidFill>
                <a:latin typeface="Poppins"/>
              </a:rPr>
              <a:t>Fiabiliser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23160" y="6025896"/>
            <a:ext cx="11430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000" b="0">
                <a:solidFill>
                  <a:srgbClr val="53645A"/>
                </a:solidFill>
                <a:latin typeface="Poppins"/>
              </a:rPr>
              <a:t>Valider les preuves et contrôler les actions.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179040" y="5614416"/>
            <a:ext cx="1965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3000"/>
              </a:lnSpc>
              <a:spcAft>
                <a:spcPts val="700"/>
              </a:spcAft>
            </a:pPr>
            <a:r>
              <a:rPr sz="2400" b="1">
                <a:solidFill>
                  <a:srgbClr val="008751"/>
                </a:solidFill>
                <a:latin typeface="Poppins"/>
              </a:rPr>
              <a:t>13 min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6775704"/>
            <a:ext cx="914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3100" b="1">
                <a:solidFill>
                  <a:srgbClr val="008751"/>
                </a:solidFill>
                <a:latin typeface="Poppins"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23160" y="6775704"/>
            <a:ext cx="114300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900" b="1">
                <a:solidFill>
                  <a:srgbClr val="111713"/>
                </a:solidFill>
                <a:latin typeface="Poppins"/>
              </a:rPr>
              <a:t>Évaluer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23160" y="7324344"/>
            <a:ext cx="11430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000" b="0">
                <a:solidFill>
                  <a:srgbClr val="53645A"/>
                </a:solidFill>
                <a:latin typeface="Poppins"/>
              </a:rPr>
              <a:t>Tester les chemins normaux et les refus attendus.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179040" y="6912864"/>
            <a:ext cx="1965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3000"/>
              </a:lnSpc>
              <a:spcAft>
                <a:spcPts val="700"/>
              </a:spcAft>
            </a:pPr>
            <a:r>
              <a:rPr sz="2400" b="1">
                <a:solidFill>
                  <a:srgbClr val="008751"/>
                </a:solidFill>
                <a:latin typeface="Poppins"/>
              </a:rPr>
              <a:t>8 min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 xmlns:r="http://schemas.openxmlformats.org/officeDocument/2006/relationships">
        <p:nvGrpSpPr>
          <p:cNvPr name="Group 14" id="14"/>
          <p:cNvGrpSpPr/>
          <p:nvPr/>
        </p:nvGrpSpPr>
        <p:grpSpPr>
          <a:xfrm rot="0">
            <a:off x="1143000" y="9623298"/>
            <a:ext cx="393668" cy="457200"/>
            <a:chOff x="0" y="0"/>
            <a:chExt cx="524891" cy="609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24891" cy="609600"/>
            </a:xfrm>
            <a:custGeom>
              <a:avLst/>
              <a:gdLst/>
              <a:ahLst/>
              <a:cxnLst/>
              <a:rect r="r" b="b" t="t" l="l"/>
              <a:pathLst>
                <a:path h="609600" w="524891">
                  <a:moveTo>
                    <a:pt x="0" y="0"/>
                  </a:moveTo>
                  <a:lnTo>
                    <a:pt x="524891" y="0"/>
                  </a:lnTo>
                  <a:lnTo>
                    <a:pt x="524891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1689068" y="9699498"/>
            <a:ext cx="1577626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165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64840" y="96469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3000"/>
              </a:lnSpc>
              <a:spcAft>
                <a:spcPts val="700"/>
              </a:spcAft>
            </a:pPr>
            <a:r>
              <a:rPr sz="1700" b="0">
                <a:solidFill>
                  <a:srgbClr val="53645A"/>
                </a:solidFill>
                <a:latin typeface="Poppins"/>
              </a:rPr>
              <a:t>03 / 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713232"/>
            <a:ext cx="1600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1900" b="1">
                <a:solidFill>
                  <a:srgbClr val="008751"/>
                </a:solidFill>
                <a:latin typeface="Poppins"/>
              </a:rPr>
              <a:t>VOTRE MISSION · KORACARE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1325880"/>
            <a:ext cx="160020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4300" b="1">
                <a:solidFill>
                  <a:srgbClr val="111713"/>
                </a:solidFill>
                <a:latin typeface="Poppins"/>
              </a:rPr>
              <a:t>09:42 : une clinique signale une hausse de température.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2880360"/>
            <a:ext cx="5486400" cy="5166360"/>
          </a:xfrm>
          <a:prstGeom prst="roundRect">
            <a:avLst>
              <a:gd name="adj" fmla="val 8000"/>
            </a:avLst>
          </a:prstGeom>
          <a:solidFill>
            <a:srgbClr val="0087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63040" y="3154679"/>
            <a:ext cx="48463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3000" b="1">
                <a:solidFill>
                  <a:srgbClr val="FFFFFF"/>
                </a:solidFill>
                <a:latin typeface="Poppins"/>
              </a:rPr>
              <a:t>Alerte CC-204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206240"/>
            <a:ext cx="484632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600" b="0">
                <a:solidFill>
                  <a:srgbClr val="FFFFFF"/>
                </a:solidFill>
                <a:latin typeface="Poppins"/>
              </a:rPr>
              <a:t>Clinique KCARE-ADJ-01</a:t>
            </a:r>
          </a:p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600" b="0">
                <a:solidFill>
                  <a:srgbClr val="FFFFFF"/>
                </a:solidFill>
                <a:latin typeface="Poppins"/>
              </a:rPr>
              <a:t/>
            </a:r>
          </a:p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600" b="0">
                <a:solidFill>
                  <a:srgbClr val="FFFFFF"/>
                </a:solidFill>
                <a:latin typeface="Poppins"/>
              </a:rPr>
              <a:t>12,4 °C depuis 52 min</a:t>
            </a:r>
          </a:p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600" b="0">
                <a:solidFill>
                  <a:srgbClr val="FFFFFF"/>
                </a:solidFill>
                <a:latin typeface="Poppins"/>
              </a:rPr>
              <a:t/>
            </a:r>
          </a:p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600" b="0">
                <a:solidFill>
                  <a:srgbClr val="FFFFFF"/>
                </a:solidFill>
                <a:latin typeface="Poppins"/>
              </a:rPr>
              <a:t>Vaccins · lot VX-204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2880360"/>
            <a:ext cx="978408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900" b="0">
                <a:solidFill>
                  <a:srgbClr val="111713"/>
                </a:solidFill>
                <a:latin typeface="Poppins"/>
              </a:rPr>
              <a:t>Le réfrigérateur de la clinique a déclenché une alerte. Votre équipe doit vérifier les mesures et retrouver la procédure à suivre.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5394960"/>
            <a:ext cx="9784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700" b="1">
                <a:solidFill>
                  <a:srgbClr val="008751"/>
                </a:solidFill>
                <a:latin typeface="Poppins"/>
              </a:rPr>
              <a:t>Vous êtes l’équipe de garde.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6172200"/>
            <a:ext cx="97840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600" b="0">
                <a:solidFill>
                  <a:srgbClr val="111713"/>
                </a:solidFill>
                <a:latin typeface="Poppins"/>
              </a:rPr>
              <a:t>Construire un agent qui rassemble les preuves, prépare l’incident et demande la décision d’un opérateur simulé.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8961120"/>
            <a:ext cx="160020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1700" b="0">
                <a:solidFill>
                  <a:srgbClr val="53645A"/>
                </a:solidFill>
                <a:latin typeface="Poppins"/>
              </a:rPr>
              <a:t>Exercice fictif : données, procédures et opérateur simulés. Aucun acte médical ni aucune action physique.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14" id="14"/>
          <p:cNvGrpSpPr/>
          <p:nvPr/>
        </p:nvGrpSpPr>
        <p:grpSpPr>
          <a:xfrm rot="0">
            <a:off x="1143000" y="9623298"/>
            <a:ext cx="393668" cy="457200"/>
            <a:chOff x="0" y="0"/>
            <a:chExt cx="524891" cy="609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24891" cy="609600"/>
            </a:xfrm>
            <a:custGeom>
              <a:avLst/>
              <a:gdLst/>
              <a:ahLst/>
              <a:cxnLst/>
              <a:rect r="r" b="b" t="t" l="l"/>
              <a:pathLst>
                <a:path h="609600" w="524891">
                  <a:moveTo>
                    <a:pt x="0" y="0"/>
                  </a:moveTo>
                  <a:lnTo>
                    <a:pt x="524891" y="0"/>
                  </a:lnTo>
                  <a:lnTo>
                    <a:pt x="524891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1689068" y="9699498"/>
            <a:ext cx="1577626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165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64840" y="96469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3000"/>
              </a:lnSpc>
              <a:spcAft>
                <a:spcPts val="700"/>
              </a:spcAft>
            </a:pPr>
            <a:r>
              <a:rPr sz="1700" b="0">
                <a:solidFill>
                  <a:srgbClr val="53645A"/>
                </a:solidFill>
                <a:latin typeface="Poppins"/>
              </a:rPr>
              <a:t>04 / 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713232"/>
            <a:ext cx="1600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1900" b="1">
                <a:solidFill>
                  <a:srgbClr val="008751"/>
                </a:solidFill>
                <a:latin typeface="Poppins"/>
              </a:rPr>
              <a:t>COMPRENDRE LE SCÉNARIO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1325880"/>
            <a:ext cx="160020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4300" b="1">
                <a:solidFill>
                  <a:srgbClr val="111713"/>
                </a:solidFill>
                <a:latin typeface="Poppins"/>
              </a:rPr>
              <a:t>12,4 °C est une mesure, pas une moyenne.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2880360"/>
            <a:ext cx="5059680" cy="4526280"/>
          </a:xfrm>
          <a:prstGeom prst="roundRect">
            <a:avLst>
              <a:gd name="adj" fmla="val 8000"/>
            </a:avLst>
          </a:prstGeom>
          <a:solidFill>
            <a:srgbClr val="EF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63040" y="3154679"/>
            <a:ext cx="4419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3000" b="1">
                <a:solidFill>
                  <a:srgbClr val="008751"/>
                </a:solidFill>
                <a:latin typeface="Poppins"/>
              </a:rPr>
              <a:t>Observation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206240"/>
            <a:ext cx="441960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500" b="0">
                <a:solidFill>
                  <a:srgbClr val="111713"/>
                </a:solidFill>
                <a:latin typeface="Poppins"/>
              </a:rPr>
              <a:t>Le capteur indique 12,4 °C depuis 52 minutes. Son état est OK.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14160" y="2880360"/>
            <a:ext cx="5059680" cy="4526280"/>
          </a:xfrm>
          <a:prstGeom prst="roundRect">
            <a:avLst>
              <a:gd name="adj" fmla="val 8000"/>
            </a:avLst>
          </a:prstGeom>
          <a:solidFill>
            <a:srgbClr val="EF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34200" y="3154679"/>
            <a:ext cx="4419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3000" b="1">
                <a:solidFill>
                  <a:srgbClr val="111713"/>
                </a:solidFill>
                <a:latin typeface="Poppins"/>
              </a:rPr>
              <a:t>Règle du lab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34200" y="4206240"/>
            <a:ext cx="441960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500" b="0">
                <a:solidFill>
                  <a:srgbClr val="111713"/>
                </a:solidFill>
                <a:latin typeface="Poppins"/>
              </a:rPr>
              <a:t>La plage est 2–8 °C. Au-dessus de 8 °C pendant au moins 30 minutes, le cas est CRITICAL.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2085320" y="2880360"/>
            <a:ext cx="5059680" cy="4526280"/>
          </a:xfrm>
          <a:prstGeom prst="roundRect">
            <a:avLst>
              <a:gd name="adj" fmla="val 8000"/>
            </a:avLst>
          </a:prstGeom>
          <a:solidFill>
            <a:srgbClr val="EF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405360" y="3154679"/>
            <a:ext cx="4419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3000" b="1">
                <a:solidFill>
                  <a:srgbClr val="BE2440"/>
                </a:solidFill>
                <a:latin typeface="Poppins"/>
              </a:rPr>
              <a:t>Décision attendue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405360" y="4206240"/>
            <a:ext cx="441960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500" b="0">
                <a:solidFill>
                  <a:srgbClr val="111713"/>
                </a:solidFill>
                <a:latin typeface="Poppins"/>
              </a:rPr>
              <a:t>Consulter la procédure, créer le dossier et obtenir la revue requise avant de conclure.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7726679"/>
            <a:ext cx="160020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500" b="1">
                <a:solidFill>
                  <a:srgbClr val="008751"/>
                </a:solidFill>
                <a:latin typeface="Poppins"/>
              </a:rPr>
              <a:t>Les données, la procédure et l’opérateur sont simulés. Aucune action médicale ou physique n’est exécutée.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14" id="14"/>
          <p:cNvGrpSpPr/>
          <p:nvPr/>
        </p:nvGrpSpPr>
        <p:grpSpPr>
          <a:xfrm rot="0">
            <a:off x="1143000" y="9623298"/>
            <a:ext cx="393668" cy="457200"/>
            <a:chOff x="0" y="0"/>
            <a:chExt cx="524891" cy="609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24891" cy="609600"/>
            </a:xfrm>
            <a:custGeom>
              <a:avLst/>
              <a:gdLst/>
              <a:ahLst/>
              <a:cxnLst/>
              <a:rect r="r" b="b" t="t" l="l"/>
              <a:pathLst>
                <a:path h="609600" w="524891">
                  <a:moveTo>
                    <a:pt x="0" y="0"/>
                  </a:moveTo>
                  <a:lnTo>
                    <a:pt x="524891" y="0"/>
                  </a:lnTo>
                  <a:lnTo>
                    <a:pt x="524891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1689068" y="9699498"/>
            <a:ext cx="1577626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165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64840" y="96469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3000"/>
              </a:lnSpc>
              <a:spcAft>
                <a:spcPts val="700"/>
              </a:spcAft>
            </a:pPr>
            <a:r>
              <a:rPr sz="1700" b="0">
                <a:solidFill>
                  <a:srgbClr val="53645A"/>
                </a:solidFill>
                <a:latin typeface="Poppins"/>
              </a:rPr>
              <a:t>05 / 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713232"/>
            <a:ext cx="1600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1900" b="1">
                <a:solidFill>
                  <a:srgbClr val="008751"/>
                </a:solidFill>
                <a:latin typeface="Poppins"/>
              </a:rPr>
              <a:t>1 · DU MODÈLE À L’AGENT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1325880"/>
            <a:ext cx="160020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4300" b="1">
                <a:solidFill>
                  <a:srgbClr val="111713"/>
                </a:solidFill>
                <a:latin typeface="Poppins"/>
              </a:rPr>
              <a:t>Un modèle produit une proposition. Une application agit.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2880360"/>
            <a:ext cx="5059680" cy="4526280"/>
          </a:xfrm>
          <a:prstGeom prst="roundRect">
            <a:avLst>
              <a:gd name="adj" fmla="val 8000"/>
            </a:avLst>
          </a:prstGeom>
          <a:solidFill>
            <a:srgbClr val="EF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63040" y="3154679"/>
            <a:ext cx="4419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3000" b="1">
                <a:solidFill>
                  <a:srgbClr val="008751"/>
                </a:solidFill>
                <a:latin typeface="Poppins"/>
              </a:rPr>
              <a:t>Modèle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206240"/>
            <a:ext cx="441960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500" b="0">
                <a:solidFill>
                  <a:srgbClr val="111713"/>
                </a:solidFill>
                <a:latin typeface="Poppins"/>
              </a:rPr>
              <a:t>Il reçoit des messages et prédit une réponse : du texte ou un appel structuré.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14160" y="2880360"/>
            <a:ext cx="5059680" cy="4526280"/>
          </a:xfrm>
          <a:prstGeom prst="roundRect">
            <a:avLst>
              <a:gd name="adj" fmla="val 8000"/>
            </a:avLst>
          </a:prstGeom>
          <a:solidFill>
            <a:srgbClr val="EF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34200" y="3154679"/>
            <a:ext cx="4419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3000" b="1">
                <a:solidFill>
                  <a:srgbClr val="111713"/>
                </a:solidFill>
                <a:latin typeface="Poppins"/>
              </a:rPr>
              <a:t>Outil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34200" y="4206240"/>
            <a:ext cx="441960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500" b="0">
                <a:solidFill>
                  <a:srgbClr val="111713"/>
                </a:solidFill>
                <a:latin typeface="Poppins"/>
              </a:rPr>
              <a:t>C’est une fonction écrite par le développeur : lire une donnée, appliquer une règle ou créer un dossier.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2085320" y="2880360"/>
            <a:ext cx="5059680" cy="4526280"/>
          </a:xfrm>
          <a:prstGeom prst="roundRect">
            <a:avLst>
              <a:gd name="adj" fmla="val 8000"/>
            </a:avLst>
          </a:prstGeom>
          <a:solidFill>
            <a:srgbClr val="EF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405360" y="3154679"/>
            <a:ext cx="4419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3000" b="1">
                <a:solidFill>
                  <a:srgbClr val="BE2440"/>
                </a:solidFill>
                <a:latin typeface="Poppins"/>
              </a:rPr>
              <a:t>Agent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405360" y="4206240"/>
            <a:ext cx="441960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500" b="0">
                <a:solidFill>
                  <a:srgbClr val="111713"/>
                </a:solidFill>
                <a:latin typeface="Poppins"/>
              </a:rPr>
              <a:t>C’est l’application qui fait alterner le modèle et les outils jusqu’à une réponse ou un arrêt.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7726679"/>
            <a:ext cx="160020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500" b="1">
                <a:solidFill>
                  <a:srgbClr val="008751"/>
                </a:solidFill>
                <a:latin typeface="Poppins"/>
              </a:rPr>
              <a:t>Le modèle ne découvre pas les fonctions tout seul : l’application lui transmet leurs descriptions.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 xmlns:r="http://schemas.openxmlformats.org/officeDocument/2006/relationships">
        <p:nvGrpSpPr>
          <p:cNvPr name="Group 14" id="14"/>
          <p:cNvGrpSpPr/>
          <p:nvPr/>
        </p:nvGrpSpPr>
        <p:grpSpPr>
          <a:xfrm rot="0">
            <a:off x="1143000" y="9623298"/>
            <a:ext cx="393668" cy="457200"/>
            <a:chOff x="0" y="0"/>
            <a:chExt cx="524891" cy="609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24891" cy="609600"/>
            </a:xfrm>
            <a:custGeom>
              <a:avLst/>
              <a:gdLst/>
              <a:ahLst/>
              <a:cxnLst/>
              <a:rect r="r" b="b" t="t" l="l"/>
              <a:pathLst>
                <a:path h="609600" w="524891">
                  <a:moveTo>
                    <a:pt x="0" y="0"/>
                  </a:moveTo>
                  <a:lnTo>
                    <a:pt x="524891" y="0"/>
                  </a:lnTo>
                  <a:lnTo>
                    <a:pt x="524891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1689068" y="9699498"/>
            <a:ext cx="1577626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165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64840" y="96469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3000"/>
              </a:lnSpc>
              <a:spcAft>
                <a:spcPts val="700"/>
              </a:spcAft>
            </a:pPr>
            <a:r>
              <a:rPr sz="1700" b="0">
                <a:solidFill>
                  <a:srgbClr val="53645A"/>
                </a:solidFill>
                <a:latin typeface="Poppins"/>
              </a:rPr>
              <a:t>06 / 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713232"/>
            <a:ext cx="1600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1900" b="1">
                <a:solidFill>
                  <a:srgbClr val="008751"/>
                </a:solidFill>
                <a:latin typeface="Poppins"/>
              </a:rPr>
              <a:t>LE MÉCANISME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1325880"/>
            <a:ext cx="160020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4300" b="1">
                <a:solidFill>
                  <a:srgbClr val="111713"/>
                </a:solidFill>
                <a:latin typeface="Poppins"/>
              </a:rPr>
              <a:t>Un tour transforme une demande en nouvelle information.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3200400"/>
            <a:ext cx="4937760" cy="2514600"/>
          </a:xfrm>
          <a:prstGeom prst="roundRect">
            <a:avLst>
              <a:gd name="adj" fmla="val 8000"/>
            </a:avLst>
          </a:prstGeom>
          <a:solidFill>
            <a:srgbClr val="EF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63040" y="3474720"/>
            <a:ext cx="4297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3000" b="1">
                <a:solidFill>
                  <a:srgbClr val="008751"/>
                </a:solidFill>
                <a:latin typeface="Poppins"/>
              </a:rPr>
              <a:t>Le modèle propose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526280"/>
            <a:ext cx="42976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300" b="0">
                <a:solidFill>
                  <a:srgbClr val="111713"/>
                </a:solidFill>
                <a:latin typeface="Poppins"/>
              </a:rPr>
              <a:t>Une réponse ou un appel d’outil à partir de l’historique.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0" y="3200400"/>
            <a:ext cx="4937760" cy="2514600"/>
          </a:xfrm>
          <a:prstGeom prst="roundRect">
            <a:avLst>
              <a:gd name="adj" fmla="val 8000"/>
            </a:avLst>
          </a:prstGeom>
          <a:solidFill>
            <a:srgbClr val="EF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95159" y="3474720"/>
            <a:ext cx="4297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3000" b="1">
                <a:solidFill>
                  <a:srgbClr val="008751"/>
                </a:solidFill>
                <a:latin typeface="Poppins"/>
              </a:rPr>
              <a:t>Python contrôle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95159" y="4526280"/>
            <a:ext cx="42976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300" b="0">
                <a:solidFill>
                  <a:srgbClr val="111713"/>
                </a:solidFill>
                <a:latin typeface="Poppins"/>
              </a:rPr>
              <a:t>Le nom, les arguments et les règles d’autorisation.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2207240" y="3200400"/>
            <a:ext cx="4937760" cy="2514600"/>
          </a:xfrm>
          <a:prstGeom prst="roundRect">
            <a:avLst>
              <a:gd name="adj" fmla="val 8000"/>
            </a:avLst>
          </a:prstGeom>
          <a:solidFill>
            <a:srgbClr val="EF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527280" y="3474720"/>
            <a:ext cx="4297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3000" b="1">
                <a:solidFill>
                  <a:srgbClr val="008751"/>
                </a:solidFill>
                <a:latin typeface="Poppins"/>
              </a:rPr>
              <a:t>L’outil s’exécute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527280" y="4526280"/>
            <a:ext cx="42976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300" b="0">
                <a:solidFill>
                  <a:srgbClr val="111713"/>
                </a:solidFill>
                <a:latin typeface="Poppins"/>
              </a:rPr>
              <a:t>Une fonction renvoie une donnée ou une erreur.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6144768" y="4206240"/>
            <a:ext cx="438912" cy="365760"/>
          </a:xfrm>
          <a:prstGeom prst="rightArrow">
            <a:avLst/>
          </a:prstGeom>
          <a:solidFill>
            <a:srgbClr val="0087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ight Arrow 29"/>
          <p:cNvSpPr/>
          <p:nvPr/>
        </p:nvSpPr>
        <p:spPr>
          <a:xfrm>
            <a:off x="11676888" y="4206240"/>
            <a:ext cx="438912" cy="365760"/>
          </a:xfrm>
          <a:prstGeom prst="rightArrow">
            <a:avLst/>
          </a:prstGeom>
          <a:solidFill>
            <a:srgbClr val="0087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14401800" y="5943600"/>
            <a:ext cx="411480" cy="640080"/>
          </a:xfrm>
          <a:prstGeom prst="downArrow">
            <a:avLst/>
          </a:prstGeom>
          <a:solidFill>
            <a:srgbClr val="0087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675120" y="6720840"/>
            <a:ext cx="10469880" cy="960120"/>
          </a:xfrm>
          <a:prstGeom prst="roundRect">
            <a:avLst>
              <a:gd name="adj" fmla="val 8000"/>
            </a:avLst>
          </a:prstGeom>
          <a:solidFill>
            <a:srgbClr val="0087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95160" y="6912864"/>
            <a:ext cx="9829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500" b="1">
                <a:solidFill>
                  <a:srgbClr val="FFFFFF"/>
                </a:solidFill>
                <a:latin typeface="Poppins"/>
              </a:rPr>
              <a:t>Le résultat devient une observation dans l’historique.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3611880" y="7205472"/>
            <a:ext cx="3063240" cy="0"/>
          </a:xfrm>
          <a:prstGeom prst="line">
            <a:avLst/>
          </a:prstGeom>
          <a:ln w="38100">
            <a:solidFill>
              <a:srgbClr val="0087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3611880" y="6355080"/>
            <a:ext cx="0" cy="850392"/>
          </a:xfrm>
          <a:prstGeom prst="line">
            <a:avLst/>
          </a:prstGeom>
          <a:ln w="38100">
            <a:solidFill>
              <a:srgbClr val="0087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Up Arrow 35"/>
          <p:cNvSpPr/>
          <p:nvPr/>
        </p:nvSpPr>
        <p:spPr>
          <a:xfrm>
            <a:off x="3401568" y="5897880"/>
            <a:ext cx="420624" cy="502920"/>
          </a:xfrm>
          <a:prstGeom prst="upArrow">
            <a:avLst/>
          </a:prstGeom>
          <a:solidFill>
            <a:srgbClr val="0087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3000" y="7635240"/>
            <a:ext cx="4937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200" b="0">
                <a:solidFill>
                  <a:srgbClr val="008751"/>
                </a:solidFill>
                <a:latin typeface="Poppins"/>
              </a:rPr>
              <a:t>Un nouveau tour peut commencer.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2606040"/>
            <a:ext cx="1600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300" b="0">
                <a:solidFill>
                  <a:srgbClr val="53645A"/>
                </a:solidFill>
                <a:latin typeface="Poppins"/>
              </a:rPr>
              <a:t>Le résultat d’un outil n’est pas automatiquement la réponse finale.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3000" y="8458200"/>
            <a:ext cx="16002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300" b="1">
                <a:solidFill>
                  <a:srgbClr val="008751"/>
                </a:solidFill>
                <a:latin typeface="Poppins"/>
              </a:rPr>
              <a:t>Lorsque le modèle répond, Python vérifie les preuves avant de rendre la conclusion.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 xmlns:r="http://schemas.openxmlformats.org/officeDocument/2006/relationships">
        <p:nvGrpSpPr>
          <p:cNvPr name="Group 14" id="14"/>
          <p:cNvGrpSpPr/>
          <p:nvPr/>
        </p:nvGrpSpPr>
        <p:grpSpPr>
          <a:xfrm rot="0">
            <a:off x="1143000" y="9623298"/>
            <a:ext cx="393668" cy="457200"/>
            <a:chOff x="0" y="0"/>
            <a:chExt cx="524891" cy="609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24891" cy="609600"/>
            </a:xfrm>
            <a:custGeom>
              <a:avLst/>
              <a:gdLst/>
              <a:ahLst/>
              <a:cxnLst/>
              <a:rect r="r" b="b" t="t" l="l"/>
              <a:pathLst>
                <a:path h="609600" w="524891">
                  <a:moveTo>
                    <a:pt x="0" y="0"/>
                  </a:moveTo>
                  <a:lnTo>
                    <a:pt x="524891" y="0"/>
                  </a:lnTo>
                  <a:lnTo>
                    <a:pt x="524891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1689068" y="9699498"/>
            <a:ext cx="1577626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165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64840" y="96469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3000"/>
              </a:lnSpc>
              <a:spcAft>
                <a:spcPts val="700"/>
              </a:spcAft>
            </a:pPr>
            <a:r>
              <a:rPr sz="1700" b="0">
                <a:solidFill>
                  <a:srgbClr val="53645A"/>
                </a:solidFill>
                <a:latin typeface="Poppins"/>
              </a:rPr>
              <a:t>07 / 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713232"/>
            <a:ext cx="1600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1900" b="1">
                <a:solidFill>
                  <a:srgbClr val="008751"/>
                </a:solidFill>
                <a:latin typeface="Poppins"/>
              </a:rPr>
              <a:t>2 · DONNER DES OUTILS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1325880"/>
            <a:ext cx="160020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4300" b="1">
                <a:solidFill>
                  <a:srgbClr val="111713"/>
                </a:solidFill>
                <a:latin typeface="Poppins"/>
              </a:rPr>
              <a:t>Un outil possède une fonction et un contrat.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2880360"/>
            <a:ext cx="5059680" cy="4526280"/>
          </a:xfrm>
          <a:prstGeom prst="roundRect">
            <a:avLst>
              <a:gd name="adj" fmla="val 8000"/>
            </a:avLst>
          </a:prstGeom>
          <a:solidFill>
            <a:srgbClr val="EF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63040" y="3154679"/>
            <a:ext cx="4419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3000" b="1">
                <a:solidFill>
                  <a:srgbClr val="008751"/>
                </a:solidFill>
                <a:latin typeface="Poppins"/>
              </a:rPr>
              <a:t>La fonction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206240"/>
            <a:ext cx="441960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500" b="0">
                <a:solidFill>
                  <a:srgbClr val="111713"/>
                </a:solidFill>
                <a:latin typeface="Poppins"/>
              </a:rPr>
              <a:t>Elle contient le comportement réel. Ici, elle lit les données locales d’une clinique.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14160" y="2880360"/>
            <a:ext cx="5059680" cy="4526280"/>
          </a:xfrm>
          <a:prstGeom prst="roundRect">
            <a:avLst>
              <a:gd name="adj" fmla="val 8000"/>
            </a:avLst>
          </a:prstGeom>
          <a:solidFill>
            <a:srgbClr val="EF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34200" y="3154679"/>
            <a:ext cx="4419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3000" b="1">
                <a:solidFill>
                  <a:srgbClr val="111713"/>
                </a:solidFill>
                <a:latin typeface="Poppins"/>
              </a:rPr>
              <a:t>Le schéma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34200" y="4206240"/>
            <a:ext cx="441960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500" b="0">
                <a:solidFill>
                  <a:srgbClr val="111713"/>
                </a:solidFill>
                <a:latin typeface="Poppins"/>
              </a:rPr>
              <a:t>Il décrit au modèle le nom, le but et les arguments autorisés.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2085320" y="2880360"/>
            <a:ext cx="5059680" cy="4526280"/>
          </a:xfrm>
          <a:prstGeom prst="roundRect">
            <a:avLst>
              <a:gd name="adj" fmla="val 8000"/>
            </a:avLst>
          </a:prstGeom>
          <a:solidFill>
            <a:srgbClr val="EF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405360" y="3154679"/>
            <a:ext cx="4419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3000" b="1">
                <a:solidFill>
                  <a:srgbClr val="BE2440"/>
                </a:solidFill>
                <a:latin typeface="Poppins"/>
              </a:rPr>
              <a:t>Le résultat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405360" y="4206240"/>
            <a:ext cx="441960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500" b="0">
                <a:solidFill>
                  <a:srgbClr val="111713"/>
                </a:solidFill>
                <a:latin typeface="Poppins"/>
              </a:rPr>
              <a:t>Il distingue une réussite avec des données d’un échec explicite.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7726679"/>
            <a:ext cx="160020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500" b="1">
                <a:solidFill>
                  <a:srgbClr val="008751"/>
                </a:solidFill>
                <a:latin typeface="Poppins"/>
              </a:rPr>
              <a:t>Le schéma guide le modèle ; la validation et l’exécution restent dans Python.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 xmlns:r="http://schemas.openxmlformats.org/officeDocument/2006/relationships">
        <p:nvGrpSpPr>
          <p:cNvPr name="Group 14" id="14"/>
          <p:cNvGrpSpPr/>
          <p:nvPr/>
        </p:nvGrpSpPr>
        <p:grpSpPr>
          <a:xfrm rot="0">
            <a:off x="1143000" y="9623298"/>
            <a:ext cx="393668" cy="457200"/>
            <a:chOff x="0" y="0"/>
            <a:chExt cx="524891" cy="609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24891" cy="609600"/>
            </a:xfrm>
            <a:custGeom>
              <a:avLst/>
              <a:gdLst/>
              <a:ahLst/>
              <a:cxnLst/>
              <a:rect r="r" b="b" t="t" l="l"/>
              <a:pathLst>
                <a:path h="609600" w="524891">
                  <a:moveTo>
                    <a:pt x="0" y="0"/>
                  </a:moveTo>
                  <a:lnTo>
                    <a:pt x="524891" y="0"/>
                  </a:lnTo>
                  <a:lnTo>
                    <a:pt x="524891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1689068" y="9699498"/>
            <a:ext cx="1577626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165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64840" y="96469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3000"/>
              </a:lnSpc>
              <a:spcAft>
                <a:spcPts val="700"/>
              </a:spcAft>
            </a:pPr>
            <a:r>
              <a:rPr sz="1700" b="0">
                <a:solidFill>
                  <a:srgbClr val="53645A"/>
                </a:solidFill>
                <a:latin typeface="Poppins"/>
              </a:rPr>
              <a:t>08 / 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713232"/>
            <a:ext cx="1600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1900" b="1">
                <a:solidFill>
                  <a:srgbClr val="008751"/>
                </a:solidFill>
                <a:latin typeface="Poppins"/>
              </a:rPr>
              <a:t>PYTHON RÉEL · LE CONTRAT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1325880"/>
            <a:ext cx="160020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4000" b="1">
                <a:solidFill>
                  <a:srgbClr val="111713"/>
                </a:solidFill>
                <a:latin typeface="Poppins"/>
              </a:rPr>
              <a:t>Valider les arguments avant de lire les données.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2743200"/>
            <a:ext cx="9966960" cy="5852160"/>
          </a:xfrm>
          <a:prstGeom prst="roundRect">
            <a:avLst>
              <a:gd name="adj" fmla="val 8000"/>
            </a:avLst>
          </a:prstGeom>
          <a:solidFill>
            <a:srgbClr val="1117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17320" y="2971800"/>
            <a:ext cx="9418320" cy="5440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DejaVu Sans Mono"/>
              </a:rPr>
              <a:t>class ClinicStatusInput(BaseModel):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DejaVu Sans Mono"/>
              </a:rPr>
              <a:t>    clinic_id: str = Field(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DejaVu Sans Mono"/>
              </a:rPr>
              <a:t>        pattern=r"^KCARE-[A-Z]{3}-\d{2}$"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DejaVu Sans Mono"/>
              </a:rPr>
              <a:t>    )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DejaVu Sans Mono"/>
              </a:rPr>
              <a:t/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DejaVu Sans Mono"/>
              </a:rPr>
              <a:t>def get_clinic_status(arguments: dict) -&gt; ToolResult: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DejaVu Sans Mono"/>
              </a:rPr>
              <a:t>    values = ClinicStatusInput.model_validate(arguments)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DejaVu Sans Mono"/>
              </a:rPr>
              <a:t>    clinics = json.loads(CLINICS_PATH.read_text())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DejaVu Sans Mono"/>
              </a:rPr>
              <a:t>    clinic = next(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DejaVu Sans Mono"/>
              </a:rPr>
              <a:t>        (row for row in clinics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DejaVu Sans Mono"/>
              </a:rPr>
              <a:t>         if row["clinic_id"] == values.clinic_id),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DejaVu Sans Mono"/>
              </a:rPr>
              <a:t>        None,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DejaVu Sans Mono"/>
              </a:rPr>
              <a:t>    )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DejaVu Sans Mono"/>
              </a:rPr>
              <a:t>    if clinic is None: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DejaVu Sans Mono"/>
              </a:rPr>
              <a:t>        return ToolResult(ok=False, error={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DejaVu Sans Mono"/>
              </a:rPr>
              <a:t>            "type": "ClinicNotFound",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DejaVu Sans Mono"/>
              </a:rPr>
              <a:t>            "message": f"Unknown clinic: {values.clinic_id}",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DejaVu Sans Mono"/>
              </a:rPr>
              <a:t>        })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DejaVu Sans Mono"/>
              </a:rPr>
              <a:t>    return ToolResult(ok=True, data=clinic)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567160" y="2743200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1800" b="1">
                <a:solidFill>
                  <a:srgbClr val="008751"/>
                </a:solidFill>
                <a:latin typeface="Poppins"/>
              </a:rPr>
              <a:t>CE QUE FAIT CE CODE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567160" y="3474720"/>
            <a:ext cx="530352" cy="530352"/>
          </a:xfrm>
          <a:prstGeom prst="roundRect">
            <a:avLst>
              <a:gd name="adj" fmla="val 8000"/>
            </a:avLst>
          </a:prstGeom>
          <a:solidFill>
            <a:srgbClr val="0087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567160" y="3547872"/>
            <a:ext cx="5303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3000"/>
              </a:lnSpc>
              <a:spcAft>
                <a:spcPts val="700"/>
              </a:spcAft>
            </a:pPr>
            <a:r>
              <a:rPr sz="1900" b="1">
                <a:solidFill>
                  <a:srgbClr val="FFFFFF"/>
                </a:solidFill>
                <a:latin typeface="Poppins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0" y="3474720"/>
            <a:ext cx="4800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200" b="0">
                <a:solidFill>
                  <a:srgbClr val="111713"/>
                </a:solidFill>
                <a:latin typeface="Poppins"/>
              </a:rPr>
              <a:t>ClinicStatusInput impose le format de l’identifiant.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567160" y="4526279"/>
            <a:ext cx="530352" cy="530352"/>
          </a:xfrm>
          <a:prstGeom prst="roundRect">
            <a:avLst>
              <a:gd name="adj" fmla="val 8000"/>
            </a:avLst>
          </a:prstGeom>
          <a:solidFill>
            <a:srgbClr val="0087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567160" y="4599431"/>
            <a:ext cx="5303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3000"/>
              </a:lnSpc>
              <a:spcAft>
                <a:spcPts val="700"/>
              </a:spcAft>
            </a:pPr>
            <a:r>
              <a:rPr sz="1900" b="1">
                <a:solidFill>
                  <a:srgbClr val="FFFFFF"/>
                </a:solidFill>
                <a:latin typeface="Poppins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0" y="4526279"/>
            <a:ext cx="4800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200" b="0">
                <a:solidFill>
                  <a:srgbClr val="111713"/>
                </a:solidFill>
                <a:latin typeface="Poppins"/>
              </a:rPr>
              <a:t>La fonction cherche ensuite la clinique dans un fichier local.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567160" y="5577840"/>
            <a:ext cx="530352" cy="530352"/>
          </a:xfrm>
          <a:prstGeom prst="roundRect">
            <a:avLst>
              <a:gd name="adj" fmla="val 8000"/>
            </a:avLst>
          </a:prstGeom>
          <a:solidFill>
            <a:srgbClr val="0087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567160" y="5650992"/>
            <a:ext cx="5303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3000"/>
              </a:lnSpc>
              <a:spcAft>
                <a:spcPts val="700"/>
              </a:spcAft>
            </a:pPr>
            <a:r>
              <a:rPr sz="1900" b="1">
                <a:solidFill>
                  <a:srgbClr val="FFFFFF"/>
                </a:solidFill>
                <a:latin typeface="Poppins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0" y="5577840"/>
            <a:ext cx="4800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200" b="0">
                <a:solidFill>
                  <a:srgbClr val="111713"/>
                </a:solidFill>
                <a:latin typeface="Poppins"/>
              </a:rPr>
              <a:t>Le résultat annonce clairement succès ou erreur.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567160" y="7132320"/>
            <a:ext cx="5577840" cy="1417320"/>
          </a:xfrm>
          <a:prstGeom prst="roundRect">
            <a:avLst>
              <a:gd name="adj" fmla="val 8000"/>
            </a:avLst>
          </a:prstGeom>
          <a:solidFill>
            <a:srgbClr val="EF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841480" y="7296912"/>
            <a:ext cx="502920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1800" b="1">
                <a:solidFill>
                  <a:srgbClr val="008751"/>
                </a:solidFill>
                <a:latin typeface="Poppins"/>
              </a:rPr>
              <a:t>Entrée : KCARE-ADJ-01 → Sortie : 12,4 °C · 52 min · capteur OK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 xmlns:r="http://schemas.openxmlformats.org/officeDocument/2006/relationships">
        <p:nvGrpSpPr>
          <p:cNvPr name="Group 14" id="14"/>
          <p:cNvGrpSpPr/>
          <p:nvPr/>
        </p:nvGrpSpPr>
        <p:grpSpPr>
          <a:xfrm rot="0">
            <a:off x="1143000" y="9623298"/>
            <a:ext cx="393668" cy="457200"/>
            <a:chOff x="0" y="0"/>
            <a:chExt cx="524891" cy="609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24891" cy="609600"/>
            </a:xfrm>
            <a:custGeom>
              <a:avLst/>
              <a:gdLst/>
              <a:ahLst/>
              <a:cxnLst/>
              <a:rect r="r" b="b" t="t" l="l"/>
              <a:pathLst>
                <a:path h="609600" w="524891">
                  <a:moveTo>
                    <a:pt x="0" y="0"/>
                  </a:moveTo>
                  <a:lnTo>
                    <a:pt x="524891" y="0"/>
                  </a:lnTo>
                  <a:lnTo>
                    <a:pt x="524891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1689068" y="9699498"/>
            <a:ext cx="1577626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165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64840" y="96469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3000"/>
              </a:lnSpc>
              <a:spcAft>
                <a:spcPts val="700"/>
              </a:spcAft>
            </a:pPr>
            <a:r>
              <a:rPr sz="1700" b="0">
                <a:solidFill>
                  <a:srgbClr val="53645A"/>
                </a:solidFill>
                <a:latin typeface="Poppins"/>
              </a:rPr>
              <a:t>09 / 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713232"/>
            <a:ext cx="1600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1900" b="1">
                <a:solidFill>
                  <a:srgbClr val="008751"/>
                </a:solidFill>
                <a:latin typeface="Poppins"/>
              </a:rPr>
              <a:t>3 · PARLER AU MODÈLE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1325880"/>
            <a:ext cx="160020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4300" b="1">
                <a:solidFill>
                  <a:srgbClr val="111713"/>
                </a:solidFill>
                <a:latin typeface="Poppins"/>
              </a:rPr>
              <a:t>Le client masque le fournisseur, pas le comportement attendu.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2880360"/>
            <a:ext cx="5059680" cy="4526280"/>
          </a:xfrm>
          <a:prstGeom prst="roundRect">
            <a:avLst>
              <a:gd name="adj" fmla="val 8000"/>
            </a:avLst>
          </a:prstGeom>
          <a:solidFill>
            <a:srgbClr val="EF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63040" y="3154679"/>
            <a:ext cx="4419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3000" b="1">
                <a:solidFill>
                  <a:srgbClr val="008751"/>
                </a:solidFill>
                <a:latin typeface="Poppins"/>
              </a:rPr>
              <a:t>Une interface stable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206240"/>
            <a:ext cx="441960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500" b="0">
                <a:solidFill>
                  <a:srgbClr val="111713"/>
                </a:solidFill>
                <a:latin typeface="Poppins"/>
              </a:rPr>
              <a:t>Tous les clients exposent mode et complete(messages, tools).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14160" y="2880360"/>
            <a:ext cx="5059680" cy="4526280"/>
          </a:xfrm>
          <a:prstGeom prst="roundRect">
            <a:avLst>
              <a:gd name="adj" fmla="val 8000"/>
            </a:avLst>
          </a:prstGeom>
          <a:solidFill>
            <a:srgbClr val="EF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34200" y="3154679"/>
            <a:ext cx="4419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3000" b="1">
                <a:solidFill>
                  <a:srgbClr val="111713"/>
                </a:solidFill>
                <a:latin typeface="Poppins"/>
              </a:rPr>
              <a:t>Plusieurs implémentations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34200" y="4206240"/>
            <a:ext cx="441960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500" b="0">
                <a:solidFill>
                  <a:srgbClr val="111713"/>
                </a:solidFill>
                <a:latin typeface="Poppins"/>
              </a:rPr>
              <a:t>Gemini appelle une API ; MockLLM produit un scénario déterministe hors ligne.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2085320" y="2880360"/>
            <a:ext cx="5059680" cy="4526280"/>
          </a:xfrm>
          <a:prstGeom prst="roundRect">
            <a:avLst>
              <a:gd name="adj" fmla="val 8000"/>
            </a:avLst>
          </a:prstGeom>
          <a:solidFill>
            <a:srgbClr val="EF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405360" y="3154679"/>
            <a:ext cx="4419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3000" b="1">
                <a:solidFill>
                  <a:srgbClr val="BE2440"/>
                </a:solidFill>
                <a:latin typeface="Poppins"/>
              </a:rPr>
              <a:t>Une dépendance explicite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405360" y="4206240"/>
            <a:ext cx="441960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500" b="0">
                <a:solidFill>
                  <a:srgbClr val="111713"/>
                </a:solidFill>
                <a:latin typeface="Poppins"/>
              </a:rPr>
              <a:t>La fonction reçoit client en argument. Elle n’a pas besoin de savoir comment il a été créé.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7726679"/>
            <a:ext cx="160020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500" b="1">
                <a:solidFill>
                  <a:srgbClr val="008751"/>
                </a:solidFill>
                <a:latin typeface="Poppins"/>
              </a:rPr>
              <a:t>complete est une méthode appelée avec des parenthèses ; mode est un attribut lu sans parenthèses.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14" id="14"/>
          <p:cNvGrpSpPr/>
          <p:nvPr/>
        </p:nvGrpSpPr>
        <p:grpSpPr>
          <a:xfrm rot="0">
            <a:off x="1143000" y="9623298"/>
            <a:ext cx="393668" cy="457200"/>
            <a:chOff x="0" y="0"/>
            <a:chExt cx="524891" cy="609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24891" cy="609600"/>
            </a:xfrm>
            <a:custGeom>
              <a:avLst/>
              <a:gdLst/>
              <a:ahLst/>
              <a:cxnLst/>
              <a:rect r="r" b="b" t="t" l="l"/>
              <a:pathLst>
                <a:path h="609600" w="524891">
                  <a:moveTo>
                    <a:pt x="0" y="0"/>
                  </a:moveTo>
                  <a:lnTo>
                    <a:pt x="524891" y="0"/>
                  </a:lnTo>
                  <a:lnTo>
                    <a:pt x="524891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1689068" y="9699498"/>
            <a:ext cx="1577626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165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64840" y="96469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3000"/>
              </a:lnSpc>
              <a:spcAft>
                <a:spcPts val="700"/>
              </a:spcAft>
            </a:pPr>
            <a:r>
              <a:rPr sz="1700" b="0">
                <a:solidFill>
                  <a:srgbClr val="53645A"/>
                </a:solidFill>
                <a:latin typeface="Poppins"/>
              </a:rPr>
              <a:t>10 / 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713232"/>
            <a:ext cx="1600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1900" b="1">
                <a:solidFill>
                  <a:srgbClr val="008751"/>
                </a:solidFill>
                <a:latin typeface="Poppins"/>
              </a:rPr>
              <a:t>PYTHON RÉEL · L’INTERFACE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1325880"/>
            <a:ext cx="160020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4000" b="1">
                <a:solidFill>
                  <a:srgbClr val="111713"/>
                </a:solidFill>
                <a:latin typeface="Poppins"/>
              </a:rPr>
              <a:t>Définir le contrat, puis injecter le client choisi.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2743200"/>
            <a:ext cx="9966960" cy="5852160"/>
          </a:xfrm>
          <a:prstGeom prst="roundRect">
            <a:avLst>
              <a:gd name="adj" fmla="val 8000"/>
            </a:avLst>
          </a:prstGeom>
          <a:solidFill>
            <a:srgbClr val="1117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17320" y="2971800"/>
            <a:ext cx="9418320" cy="5440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DejaVu Sans Mono"/>
              </a:rPr>
              <a:t>class LLMClient(Protocol):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DejaVu Sans Mono"/>
              </a:rPr>
              <a:t>    mode: str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DejaVu Sans Mono"/>
              </a:rPr>
              <a:t/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DejaVu Sans Mono"/>
              </a:rPr>
              <a:t>    def complete(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DejaVu Sans Mono"/>
              </a:rPr>
              <a:t>        self,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DejaVu Sans Mono"/>
              </a:rPr>
              <a:t>        messages: list[dict],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DejaVu Sans Mono"/>
              </a:rPr>
              <a:t>        tools: list[dict],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DejaVu Sans Mono"/>
              </a:rPr>
              <a:t>    ) -&gt; AssistantTurn: ...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DejaVu Sans Mono"/>
              </a:rPr>
              <a:t/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DejaVu Sans Mono"/>
              </a:rPr>
              <a:t>def ask_model(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DejaVu Sans Mono"/>
              </a:rPr>
              <a:t>    state: AgentState,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DejaVu Sans Mono"/>
              </a:rPr>
              <a:t>    client: LLMClient,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DejaVu Sans Mono"/>
              </a:rPr>
              <a:t>) -&gt; AssistantTurn: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DejaVu Sans Mono"/>
              </a:rPr>
              <a:t>    return client.complete(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DejaVu Sans Mono"/>
              </a:rPr>
              <a:t>        state.messages,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DejaVu Sans Mono"/>
              </a:rPr>
              <a:t>        TOOL_SCHEMAS,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DejaVu Sans Mono"/>
              </a:rPr>
              <a:t>    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567160" y="2743200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1800" b="1">
                <a:solidFill>
                  <a:srgbClr val="008751"/>
                </a:solidFill>
                <a:latin typeface="Poppins"/>
              </a:rPr>
              <a:t>CE QUE FAIT CE CODE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567160" y="3474720"/>
            <a:ext cx="530352" cy="530352"/>
          </a:xfrm>
          <a:prstGeom prst="roundRect">
            <a:avLst>
              <a:gd name="adj" fmla="val 8000"/>
            </a:avLst>
          </a:prstGeom>
          <a:solidFill>
            <a:srgbClr val="0087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567160" y="3547872"/>
            <a:ext cx="5303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3000"/>
              </a:lnSpc>
              <a:spcAft>
                <a:spcPts val="700"/>
              </a:spcAft>
            </a:pPr>
            <a:r>
              <a:rPr sz="1900" b="1">
                <a:solidFill>
                  <a:srgbClr val="FFFFFF"/>
                </a:solidFill>
                <a:latin typeface="Poppins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0" y="3474720"/>
            <a:ext cx="4800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200" b="0">
                <a:solidFill>
                  <a:srgbClr val="111713"/>
                </a:solidFill>
                <a:latin typeface="Poppins"/>
              </a:rPr>
              <a:t>LLMClient annonce les membres disponibles.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567160" y="4526279"/>
            <a:ext cx="530352" cy="530352"/>
          </a:xfrm>
          <a:prstGeom prst="roundRect">
            <a:avLst>
              <a:gd name="adj" fmla="val 8000"/>
            </a:avLst>
          </a:prstGeom>
          <a:solidFill>
            <a:srgbClr val="0087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567160" y="4599431"/>
            <a:ext cx="5303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3000"/>
              </a:lnSpc>
              <a:spcAft>
                <a:spcPts val="700"/>
              </a:spcAft>
            </a:pPr>
            <a:r>
              <a:rPr sz="1900" b="1">
                <a:solidFill>
                  <a:srgbClr val="FFFFFF"/>
                </a:solidFill>
                <a:latin typeface="Poppins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0" y="4526279"/>
            <a:ext cx="4800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200" b="0">
                <a:solidFill>
                  <a:srgbClr val="111713"/>
                </a:solidFill>
                <a:latin typeface="Poppins"/>
              </a:rPr>
              <a:t>client est le paramètre reçu par ask_model.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567160" y="5577840"/>
            <a:ext cx="530352" cy="530352"/>
          </a:xfrm>
          <a:prstGeom prst="roundRect">
            <a:avLst>
              <a:gd name="adj" fmla="val 8000"/>
            </a:avLst>
          </a:prstGeom>
          <a:solidFill>
            <a:srgbClr val="0087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567160" y="5650992"/>
            <a:ext cx="5303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3000"/>
              </a:lnSpc>
              <a:spcAft>
                <a:spcPts val="700"/>
              </a:spcAft>
            </a:pPr>
            <a:r>
              <a:rPr sz="1900" b="1">
                <a:solidFill>
                  <a:srgbClr val="FFFFFF"/>
                </a:solidFill>
                <a:latin typeface="Poppins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0" y="5577840"/>
            <a:ext cx="4800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200" b="0">
                <a:solidFill>
                  <a:srgbClr val="111713"/>
                </a:solidFill>
                <a:latin typeface="Poppins"/>
              </a:rPr>
              <a:t>TOOL_SCHEMAS présente les cinq outils au modèle.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567160" y="7132320"/>
            <a:ext cx="5577840" cy="1417320"/>
          </a:xfrm>
          <a:prstGeom prst="roundRect">
            <a:avLst>
              <a:gd name="adj" fmla="val 8000"/>
            </a:avLst>
          </a:prstGeom>
          <a:solidFill>
            <a:srgbClr val="EF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841480" y="7296912"/>
            <a:ext cx="502920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1800" b="1">
                <a:solidFill>
                  <a:srgbClr val="008751"/>
                </a:solidFill>
                <a:latin typeface="Poppins"/>
              </a:rPr>
              <a:t>Même fonction avec Gemini ou MockLLM ; seul l’objet client change.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14" id="14"/>
          <p:cNvGrpSpPr/>
          <p:nvPr/>
        </p:nvGrpSpPr>
        <p:grpSpPr>
          <a:xfrm rot="0">
            <a:off x="1143000" y="9623298"/>
            <a:ext cx="393668" cy="457200"/>
            <a:chOff x="0" y="0"/>
            <a:chExt cx="524891" cy="609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24891" cy="609600"/>
            </a:xfrm>
            <a:custGeom>
              <a:avLst/>
              <a:gdLst/>
              <a:ahLst/>
              <a:cxnLst/>
              <a:rect r="r" b="b" t="t" l="l"/>
              <a:pathLst>
                <a:path h="609600" w="524891">
                  <a:moveTo>
                    <a:pt x="0" y="0"/>
                  </a:moveTo>
                  <a:lnTo>
                    <a:pt x="524891" y="0"/>
                  </a:lnTo>
                  <a:lnTo>
                    <a:pt x="524891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1689068" y="9699498"/>
            <a:ext cx="1577626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165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64840" y="96469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3000"/>
              </a:lnSpc>
              <a:spcAft>
                <a:spcPts val="700"/>
              </a:spcAft>
            </a:pPr>
            <a:r>
              <a:rPr sz="1700" b="0">
                <a:solidFill>
                  <a:srgbClr val="53645A"/>
                </a:solidFill>
                <a:latin typeface="Poppins"/>
              </a:rPr>
              <a:t>11 / 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713232"/>
            <a:ext cx="1600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1900" b="1">
                <a:solidFill>
                  <a:srgbClr val="008751"/>
                </a:solidFill>
                <a:latin typeface="Poppins"/>
              </a:rPr>
              <a:t>SORTIE DU MODÈLE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1325880"/>
            <a:ext cx="160020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4300" b="1">
                <a:solidFill>
                  <a:srgbClr val="111713"/>
                </a:solidFill>
                <a:latin typeface="Poppins"/>
              </a:rPr>
              <a:t>Le modèle propose l’appel ; il ne lit pas encore la clinique.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2788920"/>
            <a:ext cx="7772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500" b="1">
                <a:solidFill>
                  <a:srgbClr val="008751"/>
                </a:solidFill>
                <a:latin typeface="Poppins"/>
              </a:rPr>
              <a:t>1. AssistantTurn renvoyé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43000" y="3611880"/>
            <a:ext cx="7772400" cy="3291840"/>
          </a:xfrm>
          <a:prstGeom prst="roundRect">
            <a:avLst>
              <a:gd name="adj" fmla="val 8000"/>
            </a:avLst>
          </a:prstGeom>
          <a:solidFill>
            <a:srgbClr val="1117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17320" y="3886200"/>
            <a:ext cx="722376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2200" b="0">
                <a:solidFill>
                  <a:srgbClr val="FFFFFF"/>
                </a:solidFill>
                <a:latin typeface="DejaVu Sans Mono"/>
              </a:rPr>
              <a:t>{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2200" b="0">
                <a:solidFill>
                  <a:srgbClr val="FFFFFF"/>
                </a:solidFill>
                <a:latin typeface="DejaVu Sans Mono"/>
              </a:rPr>
              <a:t>  "name": "get_clinic_status",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2200" b="0">
                <a:solidFill>
                  <a:srgbClr val="FFFFFF"/>
                </a:solidFill>
                <a:latin typeface="DejaVu Sans Mono"/>
              </a:rPr>
              <a:t>  "arguments": {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2200" b="0">
                <a:solidFill>
                  <a:srgbClr val="FFFFFF"/>
                </a:solidFill>
                <a:latin typeface="DejaVu Sans Mono"/>
              </a:rPr>
              <a:t>    "clinic_id": "KCARE-ADJ-01"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2200" b="0">
                <a:solidFill>
                  <a:srgbClr val="FFFFFF"/>
                </a:solidFill>
                <a:latin typeface="DejaVu Sans Mono"/>
              </a:rPr>
              <a:t>  }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2200" b="0">
                <a:solidFill>
                  <a:srgbClr val="FFFFFF"/>
                </a:solidFill>
                <a:latin typeface="DejaVu Sans Mono"/>
              </a:rPr>
              <a:t>}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7269480"/>
            <a:ext cx="77724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300" b="0">
                <a:solidFill>
                  <a:srgbClr val="111713"/>
                </a:solidFill>
                <a:latin typeface="Poppins"/>
              </a:rPr>
              <a:t>Le modèle choisit un nom connu et prépare ses arguments.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2600" y="2788920"/>
            <a:ext cx="7772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500" b="1">
                <a:solidFill>
                  <a:srgbClr val="008751"/>
                </a:solidFill>
                <a:latin typeface="Poppins"/>
              </a:rPr>
              <a:t>2. Après exécution de l’outil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372600" y="3611880"/>
            <a:ext cx="7772400" cy="3291840"/>
          </a:xfrm>
          <a:prstGeom prst="roundRect">
            <a:avLst>
              <a:gd name="adj" fmla="val 8000"/>
            </a:avLst>
          </a:prstGeom>
          <a:solidFill>
            <a:srgbClr val="1117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46920" y="3886200"/>
            <a:ext cx="722376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2200" b="0">
                <a:solidFill>
                  <a:srgbClr val="FFFFFF"/>
                </a:solidFill>
                <a:latin typeface="DejaVu Sans Mono"/>
              </a:rPr>
              <a:t>{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2200" b="0">
                <a:solidFill>
                  <a:srgbClr val="FFFFFF"/>
                </a:solidFill>
                <a:latin typeface="DejaVu Sans Mono"/>
              </a:rPr>
              <a:t>  "ok": true,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2200" b="0">
                <a:solidFill>
                  <a:srgbClr val="FFFFFF"/>
                </a:solidFill>
                <a:latin typeface="DejaVu Sans Mono"/>
              </a:rPr>
              <a:t>  "data": {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2200" b="0">
                <a:solidFill>
                  <a:srgbClr val="FFFFFF"/>
                </a:solidFill>
                <a:latin typeface="DejaVu Sans Mono"/>
              </a:rPr>
              <a:t>    "temperature_c": 12.4,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2200" b="0">
                <a:solidFill>
                  <a:srgbClr val="FFFFFF"/>
                </a:solidFill>
                <a:latin typeface="DejaVu Sans Mono"/>
              </a:rPr>
              <a:t>    "excursion_minutes": 52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2200" b="0">
                <a:solidFill>
                  <a:srgbClr val="FFFFFF"/>
                </a:solidFill>
                <a:latin typeface="DejaVu Sans Mono"/>
              </a:rPr>
              <a:t>  }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2200" b="0">
                <a:solidFill>
                  <a:srgbClr val="FFFFFF"/>
                </a:solidFill>
                <a:latin typeface="DejaVu Sans Mono"/>
              </a:rPr>
              <a:t>}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600" y="7269480"/>
            <a:ext cx="77724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300" b="0">
                <a:solidFill>
                  <a:srgbClr val="111713"/>
                </a:solidFill>
                <a:latin typeface="Poppins"/>
              </a:rPr>
              <a:t>Python valide l’appel, exécute la fonction et obtient cette observation.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8961120"/>
            <a:ext cx="160020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1700" b="0">
                <a:solidFill>
                  <a:srgbClr val="53645A"/>
                </a:solidFill>
                <a:latin typeface="Poppins"/>
              </a:rPr>
              <a:t>Représentation normalisée du scénario simulé ; les valeurs viennent du jeu de données local.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14" id="14"/>
          <p:cNvGrpSpPr/>
          <p:nvPr/>
        </p:nvGrpSpPr>
        <p:grpSpPr>
          <a:xfrm rot="0">
            <a:off x="1143000" y="9623298"/>
            <a:ext cx="393668" cy="457200"/>
            <a:chOff x="0" y="0"/>
            <a:chExt cx="524891" cy="609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24891" cy="609600"/>
            </a:xfrm>
            <a:custGeom>
              <a:avLst/>
              <a:gdLst/>
              <a:ahLst/>
              <a:cxnLst/>
              <a:rect r="r" b="b" t="t" l="l"/>
              <a:pathLst>
                <a:path h="609600" w="524891">
                  <a:moveTo>
                    <a:pt x="0" y="0"/>
                  </a:moveTo>
                  <a:lnTo>
                    <a:pt x="524891" y="0"/>
                  </a:lnTo>
                  <a:lnTo>
                    <a:pt x="524891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1689068" y="9699498"/>
            <a:ext cx="1577626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165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64840" y="96469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3000"/>
              </a:lnSpc>
              <a:spcAft>
                <a:spcPts val="700"/>
              </a:spcAft>
            </a:pPr>
            <a:r>
              <a:rPr sz="1700" b="0">
                <a:solidFill>
                  <a:srgbClr val="53645A"/>
                </a:solidFill>
                <a:latin typeface="Poppins"/>
              </a:rPr>
              <a:t>12 / 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713232"/>
            <a:ext cx="1600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1900" b="1">
                <a:solidFill>
                  <a:srgbClr val="008751"/>
                </a:solidFill>
                <a:latin typeface="Poppins"/>
              </a:rPr>
              <a:t>4 · CONSERVER L’ÉTAT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1325880"/>
            <a:ext cx="160020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4300" b="1">
                <a:solidFill>
                  <a:srgbClr val="111713"/>
                </a:solidFill>
                <a:latin typeface="Poppins"/>
              </a:rPr>
              <a:t>L’agent avance grâce à deux mémoires différentes.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2880360"/>
            <a:ext cx="5059680" cy="4526280"/>
          </a:xfrm>
          <a:prstGeom prst="roundRect">
            <a:avLst>
              <a:gd name="adj" fmla="val 8000"/>
            </a:avLst>
          </a:prstGeom>
          <a:solidFill>
            <a:srgbClr val="EF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63040" y="3154679"/>
            <a:ext cx="4419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3000" b="1">
                <a:solidFill>
                  <a:srgbClr val="008751"/>
                </a:solidFill>
                <a:latin typeface="Poppins"/>
              </a:rPr>
              <a:t>Historique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206240"/>
            <a:ext cx="441960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500" b="0">
                <a:solidFill>
                  <a:srgbClr val="111713"/>
                </a:solidFill>
                <a:latin typeface="Poppins"/>
              </a:rPr>
              <a:t>Les messages transmis au modèle : demande, appels proposés et résultats des outils.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14160" y="2880360"/>
            <a:ext cx="5059680" cy="4526280"/>
          </a:xfrm>
          <a:prstGeom prst="roundRect">
            <a:avLst>
              <a:gd name="adj" fmla="val 8000"/>
            </a:avLst>
          </a:prstGeom>
          <a:solidFill>
            <a:srgbClr val="EF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34200" y="3154679"/>
            <a:ext cx="4419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3000" b="1">
                <a:solidFill>
                  <a:srgbClr val="111713"/>
                </a:solidFill>
                <a:latin typeface="Poppins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34200" y="4206240"/>
            <a:ext cx="441960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500" b="0">
                <a:solidFill>
                  <a:srgbClr val="111713"/>
                </a:solidFill>
                <a:latin typeface="Poppins"/>
              </a:rPr>
              <a:t>Le journal de contrôle : outil, arguments, statut, résultat, erreur et durée.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2085320" y="2880360"/>
            <a:ext cx="5059680" cy="4526280"/>
          </a:xfrm>
          <a:prstGeom prst="roundRect">
            <a:avLst>
              <a:gd name="adj" fmla="val 8000"/>
            </a:avLst>
          </a:prstGeom>
          <a:solidFill>
            <a:srgbClr val="EF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405360" y="3154679"/>
            <a:ext cx="4419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3000" b="1">
                <a:solidFill>
                  <a:srgbClr val="BE2440"/>
                </a:solidFill>
                <a:latin typeface="Poppins"/>
              </a:rPr>
              <a:t>Appels déjà vus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405360" y="4206240"/>
            <a:ext cx="441960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500" b="0">
                <a:solidFill>
                  <a:srgbClr val="111713"/>
                </a:solidFill>
                <a:latin typeface="Poppins"/>
              </a:rPr>
              <a:t>Une empreinte des demandes exécutées permet de bloquer une répétition exacte.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7726679"/>
            <a:ext cx="160020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500" b="1">
                <a:solidFill>
                  <a:srgbClr val="008751"/>
                </a:solidFill>
                <a:latin typeface="Poppins"/>
              </a:rPr>
              <a:t>Sans observation dans l’historique, le modèle ne sait pas ce que l’outil vient de trouver.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14" id="14"/>
          <p:cNvGrpSpPr/>
          <p:nvPr/>
        </p:nvGrpSpPr>
        <p:grpSpPr>
          <a:xfrm rot="0">
            <a:off x="1143000" y="9623298"/>
            <a:ext cx="393668" cy="457200"/>
            <a:chOff x="0" y="0"/>
            <a:chExt cx="524891" cy="609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24891" cy="609600"/>
            </a:xfrm>
            <a:custGeom>
              <a:avLst/>
              <a:gdLst/>
              <a:ahLst/>
              <a:cxnLst/>
              <a:rect r="r" b="b" t="t" l="l"/>
              <a:pathLst>
                <a:path h="609600" w="524891">
                  <a:moveTo>
                    <a:pt x="0" y="0"/>
                  </a:moveTo>
                  <a:lnTo>
                    <a:pt x="524891" y="0"/>
                  </a:lnTo>
                  <a:lnTo>
                    <a:pt x="524891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1689068" y="9699498"/>
            <a:ext cx="1577626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165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64840" y="96469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3000"/>
              </a:lnSpc>
              <a:spcAft>
                <a:spcPts val="700"/>
              </a:spcAft>
            </a:pPr>
            <a:r>
              <a:rPr sz="1700" b="0">
                <a:solidFill>
                  <a:srgbClr val="53645A"/>
                </a:solidFill>
                <a:latin typeface="Poppins"/>
              </a:rPr>
              <a:t>13 / 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713232"/>
            <a:ext cx="1600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1900" b="1">
                <a:solidFill>
                  <a:srgbClr val="008751"/>
                </a:solidFill>
                <a:latin typeface="Poppins"/>
              </a:rPr>
              <a:t>PYTHON RÉEL · L’ÉTAT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1325880"/>
            <a:ext cx="160020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4000" b="1">
                <a:solidFill>
                  <a:srgbClr val="111713"/>
                </a:solidFill>
                <a:latin typeface="Poppins"/>
              </a:rPr>
              <a:t>Regrouper ce qui permet de continuer et d’auditer.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2743200"/>
            <a:ext cx="9966960" cy="5852160"/>
          </a:xfrm>
          <a:prstGeom prst="roundRect">
            <a:avLst>
              <a:gd name="adj" fmla="val 8000"/>
            </a:avLst>
          </a:prstGeom>
          <a:solidFill>
            <a:srgbClr val="1117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17320" y="2971800"/>
            <a:ext cx="9418320" cy="5440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DejaVu Sans Mono"/>
              </a:rPr>
              <a:t>@dataclass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DejaVu Sans Mono"/>
              </a:rPr>
              <a:t>class AgentState: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DejaVu Sans Mono"/>
              </a:rPr>
              <a:t>    question: str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DejaVu Sans Mono"/>
              </a:rPr>
              <a:t>    messages: list[dict]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DejaVu Sans Mono"/>
              </a:rPr>
              <a:t>    trace: list[TraceEntry] = field(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DejaVu Sans Mono"/>
              </a:rPr>
              <a:t>        default_factory=list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DejaVu Sans Mono"/>
              </a:rPr>
              <a:t>    )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DejaVu Sans Mono"/>
              </a:rPr>
              <a:t>    seen_calls: set[str] = field(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DejaVu Sans Mono"/>
              </a:rPr>
              <a:t>        default_factory=set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DejaVu Sans Mono"/>
              </a:rPr>
              <a:t>    )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DejaVu Sans Mono"/>
              </a:rPr>
              <a:t/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DejaVu Sans Mono"/>
              </a:rPr>
              <a:t>def create_state(question: str) -&gt; AgentState: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DejaVu Sans Mono"/>
              </a:rPr>
              <a:t>    return AgentState(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DejaVu Sans Mono"/>
              </a:rPr>
              <a:t>        question=question,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DejaVu Sans Mono"/>
              </a:rPr>
              <a:t>        messages=[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DejaVu Sans Mono"/>
              </a:rPr>
              <a:t>            {"role": "system", "content": SYSTEM_PROMPT},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DejaVu Sans Mono"/>
              </a:rPr>
              <a:t>            {"role": "user", "content": question},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DejaVu Sans Mono"/>
              </a:rPr>
              <a:t>        ],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DejaVu Sans Mono"/>
              </a:rPr>
              <a:t>    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567160" y="2743200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1800" b="1">
                <a:solidFill>
                  <a:srgbClr val="008751"/>
                </a:solidFill>
                <a:latin typeface="Poppins"/>
              </a:rPr>
              <a:t>CE QUE FAIT CE CODE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567160" y="3474720"/>
            <a:ext cx="530352" cy="530352"/>
          </a:xfrm>
          <a:prstGeom prst="roundRect">
            <a:avLst>
              <a:gd name="adj" fmla="val 8000"/>
            </a:avLst>
          </a:prstGeom>
          <a:solidFill>
            <a:srgbClr val="0087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567160" y="3547872"/>
            <a:ext cx="5303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3000"/>
              </a:lnSpc>
              <a:spcAft>
                <a:spcPts val="700"/>
              </a:spcAft>
            </a:pPr>
            <a:r>
              <a:rPr sz="1900" b="1">
                <a:solidFill>
                  <a:srgbClr val="FFFFFF"/>
                </a:solidFill>
                <a:latin typeface="Poppins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0" y="3474720"/>
            <a:ext cx="4800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200" b="0">
                <a:solidFill>
                  <a:srgbClr val="111713"/>
                </a:solidFill>
                <a:latin typeface="Poppins"/>
              </a:rPr>
              <a:t>La question et les messages lancent la conversation.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567160" y="4526279"/>
            <a:ext cx="530352" cy="530352"/>
          </a:xfrm>
          <a:prstGeom prst="roundRect">
            <a:avLst>
              <a:gd name="adj" fmla="val 8000"/>
            </a:avLst>
          </a:prstGeom>
          <a:solidFill>
            <a:srgbClr val="0087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567160" y="4599431"/>
            <a:ext cx="5303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3000"/>
              </a:lnSpc>
              <a:spcAft>
                <a:spcPts val="700"/>
              </a:spcAft>
            </a:pPr>
            <a:r>
              <a:rPr sz="1900" b="1">
                <a:solidFill>
                  <a:srgbClr val="FFFFFF"/>
                </a:solidFill>
                <a:latin typeface="Poppins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0" y="4526279"/>
            <a:ext cx="4800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200" b="0">
                <a:solidFill>
                  <a:srgbClr val="111713"/>
                </a:solidFill>
                <a:latin typeface="Poppins"/>
              </a:rPr>
              <a:t>La trace est vide au départ.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567160" y="5577840"/>
            <a:ext cx="530352" cy="530352"/>
          </a:xfrm>
          <a:prstGeom prst="roundRect">
            <a:avLst>
              <a:gd name="adj" fmla="val 8000"/>
            </a:avLst>
          </a:prstGeom>
          <a:solidFill>
            <a:srgbClr val="0087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567160" y="5650992"/>
            <a:ext cx="5303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3000"/>
              </a:lnSpc>
              <a:spcAft>
                <a:spcPts val="700"/>
              </a:spcAft>
            </a:pPr>
            <a:r>
              <a:rPr sz="1900" b="1">
                <a:solidFill>
                  <a:srgbClr val="FFFFFF"/>
                </a:solidFill>
                <a:latin typeface="Poppins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0" y="5577840"/>
            <a:ext cx="4800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200" b="0">
                <a:solidFill>
                  <a:srgbClr val="111713"/>
                </a:solidFill>
                <a:latin typeface="Poppins"/>
              </a:rPr>
              <a:t>seen_calls permettra de reconnaître une répétition.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567160" y="7132320"/>
            <a:ext cx="5577840" cy="1417320"/>
          </a:xfrm>
          <a:prstGeom prst="roundRect">
            <a:avLst>
              <a:gd name="adj" fmla="val 8000"/>
            </a:avLst>
          </a:prstGeom>
          <a:solidFill>
            <a:srgbClr val="EF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841480" y="7296912"/>
            <a:ext cx="502920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1800" b="1">
                <a:solidFill>
                  <a:srgbClr val="008751"/>
                </a:solidFill>
                <a:latin typeface="Poppins"/>
              </a:rPr>
              <a:t>État initial : 2 messages · 0 outil exécuté · 0 trace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14" id="14"/>
          <p:cNvGrpSpPr/>
          <p:nvPr/>
        </p:nvGrpSpPr>
        <p:grpSpPr>
          <a:xfrm rot="0">
            <a:off x="1143000" y="9623298"/>
            <a:ext cx="393668" cy="457200"/>
            <a:chOff x="0" y="0"/>
            <a:chExt cx="524891" cy="609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24891" cy="609600"/>
            </a:xfrm>
            <a:custGeom>
              <a:avLst/>
              <a:gdLst/>
              <a:ahLst/>
              <a:cxnLst/>
              <a:rect r="r" b="b" t="t" l="l"/>
              <a:pathLst>
                <a:path h="609600" w="524891">
                  <a:moveTo>
                    <a:pt x="0" y="0"/>
                  </a:moveTo>
                  <a:lnTo>
                    <a:pt x="524891" y="0"/>
                  </a:lnTo>
                  <a:lnTo>
                    <a:pt x="524891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1689068" y="9699498"/>
            <a:ext cx="1577626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165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64840" y="96469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3000"/>
              </a:lnSpc>
              <a:spcAft>
                <a:spcPts val="700"/>
              </a:spcAft>
            </a:pPr>
            <a:r>
              <a:rPr sz="1700" b="0">
                <a:solidFill>
                  <a:srgbClr val="53645A"/>
                </a:solidFill>
                <a:latin typeface="Poppins"/>
              </a:rPr>
              <a:t>14 / 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713232"/>
            <a:ext cx="1600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1900" b="1">
                <a:solidFill>
                  <a:srgbClr val="008751"/>
                </a:solidFill>
                <a:latin typeface="Poppins"/>
              </a:rPr>
              <a:t>PYTHON RÉEL · EXÉCUTION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1325880"/>
            <a:ext cx="160020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4000" b="1">
                <a:solidFill>
                  <a:srgbClr val="111713"/>
                </a:solidFill>
                <a:latin typeface="Poppins"/>
              </a:rPr>
              <a:t>Contrôler, tracer, puis renvoyer l’observation.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2743200"/>
            <a:ext cx="9966960" cy="5852160"/>
          </a:xfrm>
          <a:prstGeom prst="roundRect">
            <a:avLst>
              <a:gd name="adj" fmla="val 8000"/>
            </a:avLst>
          </a:prstGeom>
          <a:solidFill>
            <a:srgbClr val="1117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17320" y="2971800"/>
            <a:ext cx="9418320" cy="5440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DejaVu Sans Mono"/>
              </a:rPr>
              <a:t>def execute_and_observe(state, call) -&gt; bool: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DejaVu Sans Mono"/>
              </a:rPr>
              <a:t>    signature = json.dumps({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DejaVu Sans Mono"/>
              </a:rPr>
              <a:t>        "name": call.name,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DejaVu Sans Mono"/>
              </a:rPr>
              <a:t>        "arguments": call.arguments,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DejaVu Sans Mono"/>
              </a:rPr>
              <a:t>    }, sort_keys=True)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DejaVu Sans Mono"/>
              </a:rPr>
              <a:t>    if signature in state.seen_calls: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DejaVu Sans Mono"/>
              </a:rPr>
              <a:t>        raise RuntimeError("Repeated tool call blocked")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DejaVu Sans Mono"/>
              </a:rPr>
              <a:t>    state.seen_calls.add(signature)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DejaVu Sans Mono"/>
              </a:rPr>
              <a:t/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DejaVu Sans Mono"/>
              </a:rPr>
              <a:t>    started = time.perf_counter()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DejaVu Sans Mono"/>
              </a:rPr>
              <a:t>    result = execute_checked(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DejaVu Sans Mono"/>
              </a:rPr>
              <a:t>        call, state.trace, state.question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DejaVu Sans Mono"/>
              </a:rPr>
              <a:t>    )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DejaVu Sans Mono"/>
              </a:rPr>
              <a:t>    state.trace.append(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DejaVu Sans Mono"/>
              </a:rPr>
              <a:t>        make_trace(state, call, result, started)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DejaVu Sans Mono"/>
              </a:rPr>
              <a:t>    )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DejaVu Sans Mono"/>
              </a:rPr>
              <a:t>    state.messages.append({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DejaVu Sans Mono"/>
              </a:rPr>
              <a:t>        "role": "tool",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DejaVu Sans Mono"/>
              </a:rPr>
              <a:t>        "tool_call_id": call.id,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DejaVu Sans Mono"/>
              </a:rPr>
              <a:t>        "name": call.name,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DejaVu Sans Mono"/>
              </a:rPr>
              <a:t>        "content": result.model_dump_json(),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DejaVu Sans Mono"/>
              </a:rPr>
              <a:t>    })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DejaVu Sans Mono"/>
              </a:rPr>
              <a:t>    return result.ok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567160" y="2743200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1800" b="1">
                <a:solidFill>
                  <a:srgbClr val="008751"/>
                </a:solidFill>
                <a:latin typeface="Poppins"/>
              </a:rPr>
              <a:t>CE QUE FAIT CE CODE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567160" y="3474720"/>
            <a:ext cx="530352" cy="530352"/>
          </a:xfrm>
          <a:prstGeom prst="roundRect">
            <a:avLst>
              <a:gd name="adj" fmla="val 8000"/>
            </a:avLst>
          </a:prstGeom>
          <a:solidFill>
            <a:srgbClr val="0087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567160" y="3547872"/>
            <a:ext cx="5303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3000"/>
              </a:lnSpc>
              <a:spcAft>
                <a:spcPts val="700"/>
              </a:spcAft>
            </a:pPr>
            <a:r>
              <a:rPr sz="1900" b="1">
                <a:solidFill>
                  <a:srgbClr val="FFFFFF"/>
                </a:solidFill>
                <a:latin typeface="Poppins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0" y="3474720"/>
            <a:ext cx="4800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200" b="0">
                <a:solidFill>
                  <a:srgbClr val="111713"/>
                </a:solidFill>
                <a:latin typeface="Poppins"/>
              </a:rPr>
              <a:t>L’empreinte bloque un appel identique déjà exécuté.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567160" y="4526279"/>
            <a:ext cx="530352" cy="530352"/>
          </a:xfrm>
          <a:prstGeom prst="roundRect">
            <a:avLst>
              <a:gd name="adj" fmla="val 8000"/>
            </a:avLst>
          </a:prstGeom>
          <a:solidFill>
            <a:srgbClr val="0087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567160" y="4599431"/>
            <a:ext cx="5303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3000"/>
              </a:lnSpc>
              <a:spcAft>
                <a:spcPts val="700"/>
              </a:spcAft>
            </a:pPr>
            <a:r>
              <a:rPr sz="1900" b="1">
                <a:solidFill>
                  <a:srgbClr val="FFFFFF"/>
                </a:solidFill>
                <a:latin typeface="Poppins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0" y="4526279"/>
            <a:ext cx="4800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200" b="0">
                <a:solidFill>
                  <a:srgbClr val="111713"/>
                </a:solidFill>
                <a:latin typeface="Poppins"/>
              </a:rPr>
              <a:t>execute_checked applique les validations avant l’outil.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567160" y="5577840"/>
            <a:ext cx="530352" cy="530352"/>
          </a:xfrm>
          <a:prstGeom prst="roundRect">
            <a:avLst>
              <a:gd name="adj" fmla="val 8000"/>
            </a:avLst>
          </a:prstGeom>
          <a:solidFill>
            <a:srgbClr val="0087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567160" y="5650992"/>
            <a:ext cx="5303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3000"/>
              </a:lnSpc>
              <a:spcAft>
                <a:spcPts val="700"/>
              </a:spcAft>
            </a:pPr>
            <a:r>
              <a:rPr sz="1900" b="1">
                <a:solidFill>
                  <a:srgbClr val="FFFFFF"/>
                </a:solidFill>
                <a:latin typeface="Poppins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0" y="5577840"/>
            <a:ext cx="4800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200" b="0">
                <a:solidFill>
                  <a:srgbClr val="111713"/>
                </a:solidFill>
                <a:latin typeface="Poppins"/>
              </a:rPr>
              <a:t>Le résultat va dans la trace et dans l’historique.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567160" y="7132320"/>
            <a:ext cx="5577840" cy="1417320"/>
          </a:xfrm>
          <a:prstGeom prst="roundRect">
            <a:avLst>
              <a:gd name="adj" fmla="val 8000"/>
            </a:avLst>
          </a:prstGeom>
          <a:solidFill>
            <a:srgbClr val="EF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841480" y="7296912"/>
            <a:ext cx="502920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1800" b="1">
                <a:solidFill>
                  <a:srgbClr val="008751"/>
                </a:solidFill>
                <a:latin typeface="Poppins"/>
              </a:rPr>
              <a:t>Une observation réussie devient le contexte du tour suivant.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14" id="14"/>
          <p:cNvGrpSpPr/>
          <p:nvPr/>
        </p:nvGrpSpPr>
        <p:grpSpPr>
          <a:xfrm rot="0">
            <a:off x="1143000" y="9623298"/>
            <a:ext cx="393668" cy="457200"/>
            <a:chOff x="0" y="0"/>
            <a:chExt cx="524891" cy="609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24891" cy="609600"/>
            </a:xfrm>
            <a:custGeom>
              <a:avLst/>
              <a:gdLst/>
              <a:ahLst/>
              <a:cxnLst/>
              <a:rect r="r" b="b" t="t" l="l"/>
              <a:pathLst>
                <a:path h="609600" w="524891">
                  <a:moveTo>
                    <a:pt x="0" y="0"/>
                  </a:moveTo>
                  <a:lnTo>
                    <a:pt x="524891" y="0"/>
                  </a:lnTo>
                  <a:lnTo>
                    <a:pt x="524891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1689068" y="9699498"/>
            <a:ext cx="1577626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165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64840" y="96469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3000"/>
              </a:lnSpc>
              <a:spcAft>
                <a:spcPts val="700"/>
              </a:spcAft>
            </a:pPr>
            <a:r>
              <a:rPr sz="1700" b="0">
                <a:solidFill>
                  <a:srgbClr val="53645A"/>
                </a:solidFill>
                <a:latin typeface="Poppins"/>
              </a:rPr>
              <a:t>15 / 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713232"/>
            <a:ext cx="1600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1900" b="1">
                <a:solidFill>
                  <a:srgbClr val="008751"/>
                </a:solidFill>
                <a:latin typeface="Poppins"/>
              </a:rPr>
              <a:t>LA MISSION COMPLÈTE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1325880"/>
            <a:ext cx="160020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4300" b="1">
                <a:solidFill>
                  <a:srgbClr val="111713"/>
                </a:solidFill>
                <a:latin typeface="Poppins"/>
              </a:rPr>
              <a:t>Chaque observation détermine l’information encore nécessaire.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2880360"/>
            <a:ext cx="16002000" cy="731520"/>
          </a:xfrm>
          <a:prstGeom prst="rect">
            <a:avLst/>
          </a:prstGeom>
          <a:solidFill>
            <a:srgbClr val="0087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53312" y="3026664"/>
            <a:ext cx="140817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Poppins"/>
              </a:rPr>
              <a:t>Tour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82112" y="3026664"/>
            <a:ext cx="552297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Poppins"/>
              </a:rPr>
              <a:t>Appel exécuté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25712" y="3026664"/>
            <a:ext cx="78089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Poppins"/>
              </a:rPr>
              <a:t>Observation utile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3611880"/>
            <a:ext cx="16002000" cy="960120"/>
          </a:xfrm>
          <a:prstGeom prst="rect">
            <a:avLst/>
          </a:prstGeom>
          <a:solidFill>
            <a:srgbClr val="EF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53312" y="3776472"/>
            <a:ext cx="1408176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200" b="1">
                <a:solidFill>
                  <a:srgbClr val="111713"/>
                </a:solidFill>
                <a:latin typeface="Poppin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82112" y="3776472"/>
            <a:ext cx="5522976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2200" b="0">
                <a:solidFill>
                  <a:srgbClr val="111713"/>
                </a:solidFill>
                <a:latin typeface="DejaVu Sans Mono"/>
              </a:rPr>
              <a:t>get_clinic_status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25712" y="3776472"/>
            <a:ext cx="780897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200" b="0">
                <a:solidFill>
                  <a:srgbClr val="111713"/>
                </a:solidFill>
                <a:latin typeface="Poppins"/>
              </a:rPr>
              <a:t>12,4 °C · 52 min · capteur OK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4572000"/>
            <a:ext cx="16002000" cy="960120"/>
          </a:xfrm>
          <a:prstGeom prst="rect">
            <a:avLst/>
          </a:prstGeom>
          <a:solidFill>
            <a:srgbClr val="FAF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53312" y="4736592"/>
            <a:ext cx="1408176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200" b="1">
                <a:solidFill>
                  <a:srgbClr val="111713"/>
                </a:solidFill>
                <a:latin typeface="Poppins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82112" y="4736592"/>
            <a:ext cx="5522976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2200" b="0">
                <a:solidFill>
                  <a:srgbClr val="111713"/>
                </a:solidFill>
                <a:latin typeface="DejaVu Sans Mono"/>
              </a:rPr>
              <a:t>search_cold_chain_sop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25712" y="4736592"/>
            <a:ext cx="780897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200" b="0">
                <a:solidFill>
                  <a:srgbClr val="111713"/>
                </a:solidFill>
                <a:latin typeface="Poppins"/>
              </a:rPr>
              <a:t>Seuil de 8 °C pendant 30 min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5532120"/>
            <a:ext cx="16002000" cy="960120"/>
          </a:xfrm>
          <a:prstGeom prst="rect">
            <a:avLst/>
          </a:prstGeom>
          <a:solidFill>
            <a:srgbClr val="EF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53312" y="5696712"/>
            <a:ext cx="1408176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200" b="1">
                <a:solidFill>
                  <a:srgbClr val="111713"/>
                </a:solidFill>
                <a:latin typeface="Poppins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82112" y="5696712"/>
            <a:ext cx="5522976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2200" b="0">
                <a:solidFill>
                  <a:srgbClr val="111713"/>
                </a:solidFill>
                <a:latin typeface="DejaVu Sans Mono"/>
              </a:rPr>
              <a:t>assess_excursion_risk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25712" y="5696712"/>
            <a:ext cx="780897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200" b="0">
                <a:solidFill>
                  <a:srgbClr val="111713"/>
                </a:solidFill>
                <a:latin typeface="Poppins"/>
              </a:rPr>
              <a:t>CRITICAL · revue humaine requise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43000" y="6492240"/>
            <a:ext cx="16002000" cy="960120"/>
          </a:xfrm>
          <a:prstGeom prst="rect">
            <a:avLst/>
          </a:prstGeom>
          <a:solidFill>
            <a:srgbClr val="FAF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53312" y="6656832"/>
            <a:ext cx="1408176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200" b="1">
                <a:solidFill>
                  <a:srgbClr val="111713"/>
                </a:solidFill>
                <a:latin typeface="Poppins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82112" y="6656832"/>
            <a:ext cx="5522976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2200" b="0">
                <a:solidFill>
                  <a:srgbClr val="111713"/>
                </a:solidFill>
                <a:latin typeface="DejaVu Sans Mono"/>
              </a:rPr>
              <a:t>create_incident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25712" y="6656832"/>
            <a:ext cx="780897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200" b="0">
                <a:solidFill>
                  <a:srgbClr val="111713"/>
                </a:solidFill>
                <a:latin typeface="Poppins"/>
              </a:rPr>
              <a:t>Dossier INC-001 créé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7452360"/>
            <a:ext cx="16002000" cy="960120"/>
          </a:xfrm>
          <a:prstGeom prst="rect">
            <a:avLst/>
          </a:prstGeom>
          <a:solidFill>
            <a:srgbClr val="EF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353312" y="7616952"/>
            <a:ext cx="1408176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200" b="1">
                <a:solidFill>
                  <a:srgbClr val="111713"/>
                </a:solidFill>
                <a:latin typeface="Poppins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82112" y="7616952"/>
            <a:ext cx="5522976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2200" b="0">
                <a:solidFill>
                  <a:srgbClr val="111713"/>
                </a:solidFill>
                <a:latin typeface="DejaVu Sans Mono"/>
              </a:rPr>
              <a:t>request_human_review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25712" y="7616952"/>
            <a:ext cx="780897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200" b="0">
                <a:solidFill>
                  <a:srgbClr val="111713"/>
                </a:solidFill>
                <a:latin typeface="Poppins"/>
              </a:rPr>
              <a:t>APPROVED pour l’action proposée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8458200"/>
            <a:ext cx="16002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300" b="1">
                <a:solidFill>
                  <a:srgbClr val="008751"/>
                </a:solidFill>
                <a:latin typeface="Poppins"/>
              </a:rPr>
              <a:t>Après ces cinq observations, la conclusion peut être reliée à des preuves.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14" id="14"/>
          <p:cNvGrpSpPr/>
          <p:nvPr/>
        </p:nvGrpSpPr>
        <p:grpSpPr>
          <a:xfrm rot="0">
            <a:off x="1143000" y="9623298"/>
            <a:ext cx="393668" cy="457200"/>
            <a:chOff x="0" y="0"/>
            <a:chExt cx="524891" cy="609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24891" cy="609600"/>
            </a:xfrm>
            <a:custGeom>
              <a:avLst/>
              <a:gdLst/>
              <a:ahLst/>
              <a:cxnLst/>
              <a:rect r="r" b="b" t="t" l="l"/>
              <a:pathLst>
                <a:path h="609600" w="524891">
                  <a:moveTo>
                    <a:pt x="0" y="0"/>
                  </a:moveTo>
                  <a:lnTo>
                    <a:pt x="524891" y="0"/>
                  </a:lnTo>
                  <a:lnTo>
                    <a:pt x="524891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1689068" y="9699498"/>
            <a:ext cx="1577626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165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64840" y="96469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3000"/>
              </a:lnSpc>
              <a:spcAft>
                <a:spcPts val="700"/>
              </a:spcAft>
            </a:pPr>
            <a:r>
              <a:rPr sz="1700" b="0">
                <a:solidFill>
                  <a:srgbClr val="53645A"/>
                </a:solidFill>
                <a:latin typeface="Poppins"/>
              </a:rPr>
              <a:t>16 / 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713232"/>
            <a:ext cx="1600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1900" b="1">
                <a:solidFill>
                  <a:srgbClr val="008751"/>
                </a:solidFill>
                <a:latin typeface="Poppins"/>
              </a:rPr>
              <a:t>5 · ORCHESTRER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1325880"/>
            <a:ext cx="160020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4300" b="1">
                <a:solidFill>
                  <a:srgbClr val="111713"/>
                </a:solidFill>
                <a:latin typeface="Poppins"/>
              </a:rPr>
              <a:t>La boucle décide quand appeler un outil et quand s’arrêter.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2880360"/>
            <a:ext cx="5059680" cy="4526280"/>
          </a:xfrm>
          <a:prstGeom prst="roundRect">
            <a:avLst>
              <a:gd name="adj" fmla="val 8000"/>
            </a:avLst>
          </a:prstGeom>
          <a:solidFill>
            <a:srgbClr val="EF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63040" y="3154679"/>
            <a:ext cx="4419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3000" b="1">
                <a:solidFill>
                  <a:srgbClr val="008751"/>
                </a:solidFill>
                <a:latin typeface="Poppins"/>
              </a:rPr>
              <a:t>Si un appel est proposé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206240"/>
            <a:ext cx="441960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500" b="0">
                <a:solidFill>
                  <a:srgbClr val="111713"/>
                </a:solidFill>
                <a:latin typeface="Poppins"/>
              </a:rPr>
              <a:t>Le programme ajoute la proposition, exécute chaque appel autorisé et renvoie son résultat.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14160" y="2880360"/>
            <a:ext cx="5059680" cy="4526280"/>
          </a:xfrm>
          <a:prstGeom prst="roundRect">
            <a:avLst>
              <a:gd name="adj" fmla="val 8000"/>
            </a:avLst>
          </a:prstGeom>
          <a:solidFill>
            <a:srgbClr val="EF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34200" y="3154679"/>
            <a:ext cx="4419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3000" b="1">
                <a:solidFill>
                  <a:srgbClr val="111713"/>
                </a:solidFill>
                <a:latin typeface="Poppins"/>
              </a:rPr>
              <a:t>Si une réponse est proposée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34200" y="4206240"/>
            <a:ext cx="441960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500" b="0">
                <a:solidFill>
                  <a:srgbClr val="111713"/>
                </a:solidFill>
                <a:latin typeface="Poppins"/>
              </a:rPr>
              <a:t>Le programme examine les preuves avant de la rendre.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2085320" y="2880360"/>
            <a:ext cx="5059680" cy="4526280"/>
          </a:xfrm>
          <a:prstGeom prst="roundRect">
            <a:avLst>
              <a:gd name="adj" fmla="val 8000"/>
            </a:avLst>
          </a:prstGeom>
          <a:solidFill>
            <a:srgbClr val="EF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405360" y="3154679"/>
            <a:ext cx="4419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3000" b="1">
                <a:solidFill>
                  <a:srgbClr val="BE2440"/>
                </a:solidFill>
                <a:latin typeface="Poppins"/>
              </a:rPr>
              <a:t>Si rien n’aboutit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405360" y="4206240"/>
            <a:ext cx="441960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500" b="0">
                <a:solidFill>
                  <a:srgbClr val="111713"/>
                </a:solidFill>
                <a:latin typeface="Poppins"/>
              </a:rPr>
              <a:t>Une limite de tours produit un arrêt explicite au lieu d’une boucle infinie.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7726679"/>
            <a:ext cx="160020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500" b="1">
                <a:solidFill>
                  <a:srgbClr val="008751"/>
                </a:solidFill>
                <a:latin typeface="Poppins"/>
              </a:rPr>
              <a:t>L’agent n’est pas une fonction magique : c’est cette boucle autour du modèle et des outils.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14" id="14"/>
          <p:cNvGrpSpPr/>
          <p:nvPr/>
        </p:nvGrpSpPr>
        <p:grpSpPr>
          <a:xfrm rot="0">
            <a:off x="1143000" y="9623298"/>
            <a:ext cx="393668" cy="457200"/>
            <a:chOff x="0" y="0"/>
            <a:chExt cx="524891" cy="609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24891" cy="609600"/>
            </a:xfrm>
            <a:custGeom>
              <a:avLst/>
              <a:gdLst/>
              <a:ahLst/>
              <a:cxnLst/>
              <a:rect r="r" b="b" t="t" l="l"/>
              <a:pathLst>
                <a:path h="609600" w="524891">
                  <a:moveTo>
                    <a:pt x="0" y="0"/>
                  </a:moveTo>
                  <a:lnTo>
                    <a:pt x="524891" y="0"/>
                  </a:lnTo>
                  <a:lnTo>
                    <a:pt x="524891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1689068" y="9699498"/>
            <a:ext cx="1577626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165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64840" y="96469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3000"/>
              </a:lnSpc>
              <a:spcAft>
                <a:spcPts val="700"/>
              </a:spcAft>
            </a:pPr>
            <a:r>
              <a:rPr sz="1700" b="0">
                <a:solidFill>
                  <a:srgbClr val="53645A"/>
                </a:solidFill>
                <a:latin typeface="Poppins"/>
              </a:rPr>
              <a:t>17 / 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713232"/>
            <a:ext cx="1600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1900" b="1">
                <a:solidFill>
                  <a:srgbClr val="008751"/>
                </a:solidFill>
                <a:latin typeface="Poppins"/>
              </a:rPr>
              <a:t>PYTHON RÉEL · LA BOUCLE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1325880"/>
            <a:ext cx="160020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4000" b="1">
                <a:solidFill>
                  <a:srgbClr val="111713"/>
                </a:solidFill>
                <a:latin typeface="Poppins"/>
              </a:rPr>
              <a:t>Assembler les abstractions sans masquer le mécanisme.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2743200"/>
            <a:ext cx="9966960" cy="5852160"/>
          </a:xfrm>
          <a:prstGeom prst="roundRect">
            <a:avLst>
              <a:gd name="adj" fmla="val 8000"/>
            </a:avLst>
          </a:prstGeom>
          <a:solidFill>
            <a:srgbClr val="1117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17320" y="2971800"/>
            <a:ext cx="9418320" cy="5440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DejaVu Sans Mono"/>
              </a:rPr>
              <a:t>def run_agent(question, client, max_turns=8):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DejaVu Sans Mono"/>
              </a:rPr>
              <a:t>    state = create_state(question)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DejaVu Sans Mono"/>
              </a:rPr>
              <a:t>    for _ in range(max_turns):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DejaVu Sans Mono"/>
              </a:rPr>
              <a:t>        turn = ask_model(state, client)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DejaVu Sans Mono"/>
              </a:rPr>
              <a:t>        if not turn.tool_calls: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DejaVu Sans Mono"/>
              </a:rPr>
              <a:t>            return finish(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DejaVu Sans Mono"/>
              </a:rPr>
              <a:t>                state, turn.content or "No answer"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DejaVu Sans Mono"/>
              </a:rPr>
              <a:t>            )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DejaVu Sans Mono"/>
              </a:rPr>
              <a:t/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DejaVu Sans Mono"/>
              </a:rPr>
              <a:t>        state.messages.append({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DejaVu Sans Mono"/>
              </a:rPr>
              <a:t>            "role": "assistant",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DejaVu Sans Mono"/>
              </a:rPr>
              <a:t>            "content": turn.content,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DejaVu Sans Mono"/>
              </a:rPr>
              <a:t>            "tool_calls": [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DejaVu Sans Mono"/>
              </a:rPr>
              <a:t>                call.model_dump()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DejaVu Sans Mono"/>
              </a:rPr>
              <a:t>                for call in turn.tool_calls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DejaVu Sans Mono"/>
              </a:rPr>
              <a:t>            ],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DejaVu Sans Mono"/>
              </a:rPr>
              <a:t>        })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DejaVu Sans Mono"/>
              </a:rPr>
              <a:t>        for call in turn.tool_calls: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DejaVu Sans Mono"/>
              </a:rPr>
              <a:t>            if not execute_and_observe(state, call):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DejaVu Sans Mono"/>
              </a:rPr>
              <a:t>                return {"status": "blocked"}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DejaVu Sans Mono"/>
              </a:rPr>
              <a:t/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DejaVu Sans Mono"/>
              </a:rPr>
              <a:t>    return {"status": "blocked",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DejaVu Sans Mono"/>
              </a:rPr>
              <a:t>            "reason": "turn_limit"}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567160" y="2743200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1800" b="1">
                <a:solidFill>
                  <a:srgbClr val="008751"/>
                </a:solidFill>
                <a:latin typeface="Poppins"/>
              </a:rPr>
              <a:t>CE QUE FAIT CE CODE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567160" y="3474720"/>
            <a:ext cx="530352" cy="530352"/>
          </a:xfrm>
          <a:prstGeom prst="roundRect">
            <a:avLst>
              <a:gd name="adj" fmla="val 8000"/>
            </a:avLst>
          </a:prstGeom>
          <a:solidFill>
            <a:srgbClr val="0087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567160" y="3547872"/>
            <a:ext cx="5303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3000"/>
              </a:lnSpc>
              <a:spcAft>
                <a:spcPts val="700"/>
              </a:spcAft>
            </a:pPr>
            <a:r>
              <a:rPr sz="1900" b="1">
                <a:solidFill>
                  <a:srgbClr val="FFFFFF"/>
                </a:solidFill>
                <a:latin typeface="Poppins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0" y="3474720"/>
            <a:ext cx="4800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200" b="0">
                <a:solidFill>
                  <a:srgbClr val="111713"/>
                </a:solidFill>
                <a:latin typeface="Poppins"/>
              </a:rPr>
              <a:t>create_state prépare le contexte.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567160" y="4526279"/>
            <a:ext cx="530352" cy="530352"/>
          </a:xfrm>
          <a:prstGeom prst="roundRect">
            <a:avLst>
              <a:gd name="adj" fmla="val 8000"/>
            </a:avLst>
          </a:prstGeom>
          <a:solidFill>
            <a:srgbClr val="0087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567160" y="4599431"/>
            <a:ext cx="5303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3000"/>
              </a:lnSpc>
              <a:spcAft>
                <a:spcPts val="700"/>
              </a:spcAft>
            </a:pPr>
            <a:r>
              <a:rPr sz="1900" b="1">
                <a:solidFill>
                  <a:srgbClr val="FFFFFF"/>
                </a:solidFill>
                <a:latin typeface="Poppins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0" y="4526279"/>
            <a:ext cx="4800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200" b="0">
                <a:solidFill>
                  <a:srgbClr val="111713"/>
                </a:solidFill>
                <a:latin typeface="Poppins"/>
              </a:rPr>
              <a:t>ask_model produit chaque nouvelle proposition.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567160" y="5577840"/>
            <a:ext cx="530352" cy="530352"/>
          </a:xfrm>
          <a:prstGeom prst="roundRect">
            <a:avLst>
              <a:gd name="adj" fmla="val 8000"/>
            </a:avLst>
          </a:prstGeom>
          <a:solidFill>
            <a:srgbClr val="0087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567160" y="5650992"/>
            <a:ext cx="5303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3000"/>
              </a:lnSpc>
              <a:spcAft>
                <a:spcPts val="700"/>
              </a:spcAft>
            </a:pPr>
            <a:r>
              <a:rPr sz="1900" b="1">
                <a:solidFill>
                  <a:srgbClr val="FFFFFF"/>
                </a:solidFill>
                <a:latin typeface="Poppins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0" y="5577840"/>
            <a:ext cx="4800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200" b="0">
                <a:solidFill>
                  <a:srgbClr val="111713"/>
                </a:solidFill>
                <a:latin typeface="Poppins"/>
              </a:rPr>
              <a:t>execute_and_observe relie outil et observation.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567160" y="6629400"/>
            <a:ext cx="530352" cy="530352"/>
          </a:xfrm>
          <a:prstGeom prst="roundRect">
            <a:avLst>
              <a:gd name="adj" fmla="val 8000"/>
            </a:avLst>
          </a:prstGeom>
          <a:solidFill>
            <a:srgbClr val="0087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567160" y="6702552"/>
            <a:ext cx="5303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3000"/>
              </a:lnSpc>
              <a:spcAft>
                <a:spcPts val="700"/>
              </a:spcAft>
            </a:pPr>
            <a:r>
              <a:rPr sz="1900" b="1">
                <a:solidFill>
                  <a:srgbClr val="FFFFFF"/>
                </a:solidFill>
                <a:latin typeface="Poppins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344400" y="6629400"/>
            <a:ext cx="4800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200" b="0">
                <a:solidFill>
                  <a:srgbClr val="111713"/>
                </a:solidFill>
                <a:latin typeface="Poppins"/>
              </a:rPr>
              <a:t>finish contrôle la réponse finale.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567160" y="7132320"/>
            <a:ext cx="5577840" cy="1417320"/>
          </a:xfrm>
          <a:prstGeom prst="roundRect">
            <a:avLst>
              <a:gd name="adj" fmla="val 8000"/>
            </a:avLst>
          </a:prstGeom>
          <a:solidFill>
            <a:srgbClr val="EF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841480" y="7296912"/>
            <a:ext cx="502920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1800" b="1">
                <a:solidFill>
                  <a:srgbClr val="008751"/>
                </a:solidFill>
                <a:latin typeface="Poppins"/>
              </a:rPr>
              <a:t>La démo exécutable suit cinq appels puis retourne status = approved.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14" id="14"/>
          <p:cNvGrpSpPr/>
          <p:nvPr/>
        </p:nvGrpSpPr>
        <p:grpSpPr>
          <a:xfrm rot="0">
            <a:off x="1143000" y="9623298"/>
            <a:ext cx="393668" cy="457200"/>
            <a:chOff x="0" y="0"/>
            <a:chExt cx="524891" cy="609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24891" cy="609600"/>
            </a:xfrm>
            <a:custGeom>
              <a:avLst/>
              <a:gdLst/>
              <a:ahLst/>
              <a:cxnLst/>
              <a:rect r="r" b="b" t="t" l="l"/>
              <a:pathLst>
                <a:path h="609600" w="524891">
                  <a:moveTo>
                    <a:pt x="0" y="0"/>
                  </a:moveTo>
                  <a:lnTo>
                    <a:pt x="524891" y="0"/>
                  </a:lnTo>
                  <a:lnTo>
                    <a:pt x="524891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1689068" y="9699498"/>
            <a:ext cx="1577626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165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64840" y="96469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3000"/>
              </a:lnSpc>
              <a:spcAft>
                <a:spcPts val="700"/>
              </a:spcAft>
            </a:pPr>
            <a:r>
              <a:rPr sz="1700" b="0">
                <a:solidFill>
                  <a:srgbClr val="53645A"/>
                </a:solidFill>
                <a:latin typeface="Poppins"/>
              </a:rPr>
              <a:t>18 / 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713232"/>
            <a:ext cx="1600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1900" b="1">
                <a:solidFill>
                  <a:srgbClr val="008751"/>
                </a:solidFill>
                <a:latin typeface="Poppins"/>
              </a:rPr>
              <a:t>6 · FIABILISER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1325880"/>
            <a:ext cx="160020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4300" b="1">
                <a:solidFill>
                  <a:srgbClr val="111713"/>
                </a:solidFill>
                <a:latin typeface="Poppins"/>
              </a:rPr>
              <a:t>Une sortie structurée peut encore être fausse.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2880360"/>
            <a:ext cx="5059680" cy="4526280"/>
          </a:xfrm>
          <a:prstGeom prst="roundRect">
            <a:avLst>
              <a:gd name="adj" fmla="val 8000"/>
            </a:avLst>
          </a:prstGeom>
          <a:solidFill>
            <a:srgbClr val="EF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63040" y="3154679"/>
            <a:ext cx="4419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3000" b="1">
                <a:solidFill>
                  <a:srgbClr val="008751"/>
                </a:solidFill>
                <a:latin typeface="Poppins"/>
              </a:rPr>
              <a:t>Validation de forme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206240"/>
            <a:ext cx="441960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500" b="0">
                <a:solidFill>
                  <a:srgbClr val="111713"/>
                </a:solidFill>
                <a:latin typeface="Poppins"/>
              </a:rPr>
              <a:t>L’outil existe, les champs sont présents et les types sont acceptables.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14160" y="2880360"/>
            <a:ext cx="5059680" cy="4526280"/>
          </a:xfrm>
          <a:prstGeom prst="roundRect">
            <a:avLst>
              <a:gd name="adj" fmla="val 8000"/>
            </a:avLst>
          </a:prstGeom>
          <a:solidFill>
            <a:srgbClr val="EF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34200" y="3154679"/>
            <a:ext cx="4419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3000" b="1">
                <a:solidFill>
                  <a:srgbClr val="111713"/>
                </a:solidFill>
                <a:latin typeface="Poppins"/>
              </a:rPr>
              <a:t>Cohérence des preuves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34200" y="4206240"/>
            <a:ext cx="441960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500" b="0">
                <a:solidFill>
                  <a:srgbClr val="111713"/>
                </a:solidFill>
                <a:latin typeface="Poppins"/>
              </a:rPr>
              <a:t>Les valeurs proposées correspondent aux observations réellement obtenues.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2085320" y="2880360"/>
            <a:ext cx="5059680" cy="4526280"/>
          </a:xfrm>
          <a:prstGeom prst="roundRect">
            <a:avLst>
              <a:gd name="adj" fmla="val 8000"/>
            </a:avLst>
          </a:prstGeom>
          <a:solidFill>
            <a:srgbClr val="EF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405360" y="3154679"/>
            <a:ext cx="4419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3000" b="1">
                <a:solidFill>
                  <a:srgbClr val="BE2440"/>
                </a:solidFill>
                <a:latin typeface="Poppins"/>
              </a:rPr>
              <a:t>Autorisation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405360" y="4206240"/>
            <a:ext cx="441960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500" b="0">
                <a:solidFill>
                  <a:srgbClr val="111713"/>
                </a:solidFill>
                <a:latin typeface="Poppins"/>
              </a:rPr>
              <a:t>Les actions sensibles exigent la décision prévue pour le bon incident.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7726679"/>
            <a:ext cx="160020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500" b="1">
                <a:solidFill>
                  <a:srgbClr val="008751"/>
                </a:solidFill>
                <a:latin typeface="Poppins"/>
              </a:rPr>
              <a:t>La sûreté ne tient pas dans le prompt : elle s’appuie aussi sur des contrôles déterministes.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14" id="14"/>
          <p:cNvGrpSpPr/>
          <p:nvPr/>
        </p:nvGrpSpPr>
        <p:grpSpPr>
          <a:xfrm rot="0">
            <a:off x="1143000" y="9623298"/>
            <a:ext cx="393668" cy="457200"/>
            <a:chOff x="0" y="0"/>
            <a:chExt cx="524891" cy="609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24891" cy="609600"/>
            </a:xfrm>
            <a:custGeom>
              <a:avLst/>
              <a:gdLst/>
              <a:ahLst/>
              <a:cxnLst/>
              <a:rect r="r" b="b" t="t" l="l"/>
              <a:pathLst>
                <a:path h="609600" w="524891">
                  <a:moveTo>
                    <a:pt x="0" y="0"/>
                  </a:moveTo>
                  <a:lnTo>
                    <a:pt x="524891" y="0"/>
                  </a:lnTo>
                  <a:lnTo>
                    <a:pt x="524891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1689068" y="9699498"/>
            <a:ext cx="1577626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165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64840" y="96469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3000"/>
              </a:lnSpc>
              <a:spcAft>
                <a:spcPts val="700"/>
              </a:spcAft>
            </a:pPr>
            <a:r>
              <a:rPr sz="1700" b="0">
                <a:solidFill>
                  <a:srgbClr val="53645A"/>
                </a:solidFill>
                <a:latin typeface="Poppins"/>
              </a:rPr>
              <a:t>19 / 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713232"/>
            <a:ext cx="1600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1900" b="1">
                <a:solidFill>
                  <a:srgbClr val="008751"/>
                </a:solidFill>
                <a:latin typeface="Poppins"/>
              </a:rPr>
              <a:t>PYTHON RÉEL · PREUVE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1325880"/>
            <a:ext cx="160020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4000" b="1">
                <a:solidFill>
                  <a:srgbClr val="111713"/>
                </a:solidFill>
                <a:latin typeface="Poppins"/>
              </a:rPr>
              <a:t>Refuser une mesure qui ne vient pas de l’observation.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2743200"/>
            <a:ext cx="9966960" cy="5852160"/>
          </a:xfrm>
          <a:prstGeom prst="roundRect">
            <a:avLst>
              <a:gd name="adj" fmla="val 8000"/>
            </a:avLst>
          </a:prstGeom>
          <a:solidFill>
            <a:srgbClr val="1117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17320" y="2971800"/>
            <a:ext cx="9418320" cy="5440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DejaVu Sans Mono"/>
              </a:rPr>
              <a:t>if call.name == "assess_excursion_risk":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DejaVu Sans Mono"/>
              </a:rPr>
              <a:t>    status = latest(trace, "get_clinic_status")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DejaVu Sans Mono"/>
              </a:rPr>
              <a:t>    sop = latest(trace, "search_cold_chain_sop")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DejaVu Sans Mono"/>
              </a:rPr>
              <a:t>    if not status or not sop: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DejaVu Sans Mono"/>
              </a:rPr>
              <a:t>        return "Telemetry and SOP required"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DejaVu Sans Mono"/>
              </a:rPr>
              <a:t/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DejaVu Sans Mono"/>
              </a:rPr>
              <a:t>    expected = {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DejaVu Sans Mono"/>
              </a:rPr>
              <a:t>        "clinic_id": status["clinic_id"],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DejaVu Sans Mono"/>
              </a:rPr>
              <a:t>        "temperature_c": status["temperature_c"],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DejaVu Sans Mono"/>
              </a:rPr>
              <a:t>        "duration_minutes": status[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DejaVu Sans Mono"/>
              </a:rPr>
              <a:t>            "excursion_minutes"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DejaVu Sans Mono"/>
              </a:rPr>
              <a:t>        ],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DejaVu Sans Mono"/>
              </a:rPr>
              <a:t>        "sensor_status": status["sensor_status"],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DejaVu Sans Mono"/>
              </a:rPr>
              <a:t>    }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DejaVu Sans Mono"/>
              </a:rPr>
              <a:t>    if any(call.arguments.get(key) != value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DejaVu Sans Mono"/>
              </a:rPr>
              <a:t>           for key, value in expected.items()):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DejaVu Sans Mono"/>
              </a:rPr>
              <a:t>        return "Arguments differ from telemetry"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567160" y="2743200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1800" b="1">
                <a:solidFill>
                  <a:srgbClr val="008751"/>
                </a:solidFill>
                <a:latin typeface="Poppins"/>
              </a:rPr>
              <a:t>CE QUE FAIT CE CODE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567160" y="3474720"/>
            <a:ext cx="530352" cy="530352"/>
          </a:xfrm>
          <a:prstGeom prst="roundRect">
            <a:avLst>
              <a:gd name="adj" fmla="val 8000"/>
            </a:avLst>
          </a:prstGeom>
          <a:solidFill>
            <a:srgbClr val="0087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567160" y="3547872"/>
            <a:ext cx="5303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3000"/>
              </a:lnSpc>
              <a:spcAft>
                <a:spcPts val="700"/>
              </a:spcAft>
            </a:pPr>
            <a:r>
              <a:rPr sz="1900" b="1">
                <a:solidFill>
                  <a:srgbClr val="FFFFFF"/>
                </a:solidFill>
                <a:latin typeface="Poppins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0" y="3474720"/>
            <a:ext cx="4800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200" b="0">
                <a:solidFill>
                  <a:srgbClr val="111713"/>
                </a:solidFill>
                <a:latin typeface="Poppins"/>
              </a:rPr>
              <a:t>Le calcul exige d’abord mesure et procédure.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567160" y="4526279"/>
            <a:ext cx="530352" cy="530352"/>
          </a:xfrm>
          <a:prstGeom prst="roundRect">
            <a:avLst>
              <a:gd name="adj" fmla="val 8000"/>
            </a:avLst>
          </a:prstGeom>
          <a:solidFill>
            <a:srgbClr val="0087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567160" y="4599431"/>
            <a:ext cx="5303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3000"/>
              </a:lnSpc>
              <a:spcAft>
                <a:spcPts val="700"/>
              </a:spcAft>
            </a:pPr>
            <a:r>
              <a:rPr sz="1900" b="1">
                <a:solidFill>
                  <a:srgbClr val="FFFFFF"/>
                </a:solidFill>
                <a:latin typeface="Poppins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0" y="4526279"/>
            <a:ext cx="4800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200" b="0">
                <a:solidFill>
                  <a:srgbClr val="111713"/>
                </a:solidFill>
                <a:latin typeface="Poppins"/>
              </a:rPr>
              <a:t>expected est construit depuis la trace.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567160" y="5577840"/>
            <a:ext cx="530352" cy="530352"/>
          </a:xfrm>
          <a:prstGeom prst="roundRect">
            <a:avLst>
              <a:gd name="adj" fmla="val 8000"/>
            </a:avLst>
          </a:prstGeom>
          <a:solidFill>
            <a:srgbClr val="0087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567160" y="5650992"/>
            <a:ext cx="5303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3000"/>
              </a:lnSpc>
              <a:spcAft>
                <a:spcPts val="700"/>
              </a:spcAft>
            </a:pPr>
            <a:r>
              <a:rPr sz="1900" b="1">
                <a:solidFill>
                  <a:srgbClr val="FFFFFF"/>
                </a:solidFill>
                <a:latin typeface="Poppins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0" y="5577840"/>
            <a:ext cx="4800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200" b="0">
                <a:solidFill>
                  <a:srgbClr val="111713"/>
                </a:solidFill>
                <a:latin typeface="Poppins"/>
              </a:rPr>
              <a:t>Chaque argument proposé doit correspondre à cette preuve.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567160" y="7132320"/>
            <a:ext cx="5577840" cy="1417320"/>
          </a:xfrm>
          <a:prstGeom prst="roundRect">
            <a:avLst>
              <a:gd name="adj" fmla="val 8000"/>
            </a:avLst>
          </a:prstGeom>
          <a:solidFill>
            <a:srgbClr val="EF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841480" y="7296912"/>
            <a:ext cx="502920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1800" b="1">
                <a:solidFill>
                  <a:srgbClr val="008751"/>
                </a:solidFill>
                <a:latin typeface="Poppins"/>
              </a:rPr>
              <a:t>Proposition temperature_c = 5,0 → appel refusé ; mesure observée = 12,4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14" id="14"/>
          <p:cNvGrpSpPr/>
          <p:nvPr/>
        </p:nvGrpSpPr>
        <p:grpSpPr>
          <a:xfrm rot="0">
            <a:off x="1143000" y="9623298"/>
            <a:ext cx="393668" cy="457200"/>
            <a:chOff x="0" y="0"/>
            <a:chExt cx="524891" cy="609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24891" cy="609600"/>
            </a:xfrm>
            <a:custGeom>
              <a:avLst/>
              <a:gdLst/>
              <a:ahLst/>
              <a:cxnLst/>
              <a:rect r="r" b="b" t="t" l="l"/>
              <a:pathLst>
                <a:path h="609600" w="524891">
                  <a:moveTo>
                    <a:pt x="0" y="0"/>
                  </a:moveTo>
                  <a:lnTo>
                    <a:pt x="524891" y="0"/>
                  </a:lnTo>
                  <a:lnTo>
                    <a:pt x="524891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1689068" y="9699498"/>
            <a:ext cx="1577626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165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64840" y="96469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3000"/>
              </a:lnSpc>
              <a:spcAft>
                <a:spcPts val="700"/>
              </a:spcAft>
            </a:pPr>
            <a:r>
              <a:rPr sz="1700" b="0">
                <a:solidFill>
                  <a:srgbClr val="53645A"/>
                </a:solidFill>
                <a:latin typeface="Poppins"/>
              </a:rPr>
              <a:t>20 / 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713232"/>
            <a:ext cx="1600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1900" b="1">
                <a:solidFill>
                  <a:srgbClr val="008751"/>
                </a:solidFill>
                <a:latin typeface="Poppins"/>
              </a:rPr>
              <a:t>LE CONTRE-EXEMPLE · MISSING_APPROVAL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1325880"/>
            <a:ext cx="160020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4300" b="1">
                <a:solidFill>
                  <a:srgbClr val="111713"/>
                </a:solidFill>
                <a:latin typeface="Poppins"/>
              </a:rPr>
              <a:t>Le modèle dit « résolu ». Peut-on accepter sa réponse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2834640"/>
            <a:ext cx="7726679" cy="4114800"/>
          </a:xfrm>
          <a:prstGeom prst="roundRect">
            <a:avLst>
              <a:gd name="adj" fmla="val 8000"/>
            </a:avLst>
          </a:prstGeom>
          <a:solidFill>
            <a:srgbClr val="EF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63040" y="3108960"/>
            <a:ext cx="708659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3000" b="1">
                <a:solidFill>
                  <a:srgbClr val="BE2440"/>
                </a:solidFill>
                <a:latin typeface="Poppins"/>
              </a:rPr>
              <a:t>La réponse proposée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160520"/>
            <a:ext cx="7086599" cy="2606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700" b="0">
                <a:solidFill>
                  <a:srgbClr val="111713"/>
                </a:solidFill>
                <a:latin typeface="Poppins"/>
              </a:rPr>
              <a:t>« Tout est sûr ; l’incident est résolu. »</a:t>
            </a:r>
          </a:p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700" b="0">
                <a:solidFill>
                  <a:srgbClr val="111713"/>
                </a:solidFill>
                <a:latin typeface="Poppins"/>
              </a:rPr>
              <a:t/>
            </a:r>
          </a:p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700" b="0">
                <a:solidFill>
                  <a:srgbClr val="111713"/>
                </a:solidFill>
                <a:latin typeface="Poppins"/>
              </a:rPr>
              <a:t>Le modèle vient de lire la mesure, la procédure et le niveau de risque.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72600" y="2834640"/>
            <a:ext cx="7772400" cy="4114800"/>
          </a:xfrm>
          <a:prstGeom prst="roundRect">
            <a:avLst>
              <a:gd name="adj" fmla="val 8000"/>
            </a:avLst>
          </a:prstGeom>
          <a:solidFill>
            <a:srgbClr val="EF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92640" y="3108960"/>
            <a:ext cx="71323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3000" b="1">
                <a:solidFill>
                  <a:srgbClr val="008751"/>
                </a:solidFill>
                <a:latin typeface="Poppins"/>
              </a:rPr>
              <a:t>Ce que montre la 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0" y="4160520"/>
            <a:ext cx="7132320" cy="2606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700" b="0">
                <a:solidFill>
                  <a:srgbClr val="111713"/>
                </a:solidFill>
                <a:latin typeface="Poppins"/>
              </a:rPr>
              <a:t>Le risque exige une revue.</a:t>
            </a:r>
          </a:p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700" b="0">
                <a:solidFill>
                  <a:srgbClr val="111713"/>
                </a:solidFill>
                <a:latin typeface="Poppins"/>
              </a:rPr>
              <a:t/>
            </a:r>
          </a:p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700" b="0">
                <a:solidFill>
                  <a:srgbClr val="111713"/>
                </a:solidFill>
                <a:latin typeface="Poppins"/>
              </a:rPr>
              <a:t>Aucun dossier créé.</a:t>
            </a:r>
          </a:p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700" b="0">
                <a:solidFill>
                  <a:srgbClr val="111713"/>
                </a:solidFill>
                <a:latin typeface="Poppins"/>
              </a:rPr>
              <a:t>Aucune approbation enregistrée.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7360920"/>
            <a:ext cx="16002000" cy="1234440"/>
          </a:xfrm>
          <a:prstGeom prst="roundRect">
            <a:avLst>
              <a:gd name="adj" fmla="val 8000"/>
            </a:avLst>
          </a:prstGeom>
          <a:solidFill>
            <a:srgbClr val="0087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508760" y="7607808"/>
            <a:ext cx="152704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600" b="1">
                <a:solidFill>
                  <a:srgbClr val="FFFFFF"/>
                </a:solidFill>
                <a:latin typeface="Poppins"/>
              </a:rPr>
              <a:t>Python bloque la conclusion : stopped / review_required. Il manque l’accord requis.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8961120"/>
            <a:ext cx="160020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1700" b="0">
                <a:solidFill>
                  <a:srgbClr val="53645A"/>
                </a:solidFill>
                <a:latin typeface="Poppins"/>
              </a:rPr>
              <a:t>Réponse volontairement fautive du simulateur : « Everything is safe; incident resolved. »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14" id="14"/>
          <p:cNvGrpSpPr/>
          <p:nvPr/>
        </p:nvGrpSpPr>
        <p:grpSpPr>
          <a:xfrm rot="0">
            <a:off x="1143000" y="9623298"/>
            <a:ext cx="393668" cy="457200"/>
            <a:chOff x="0" y="0"/>
            <a:chExt cx="524891" cy="609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24891" cy="609600"/>
            </a:xfrm>
            <a:custGeom>
              <a:avLst/>
              <a:gdLst/>
              <a:ahLst/>
              <a:cxnLst/>
              <a:rect r="r" b="b" t="t" l="l"/>
              <a:pathLst>
                <a:path h="609600" w="524891">
                  <a:moveTo>
                    <a:pt x="0" y="0"/>
                  </a:moveTo>
                  <a:lnTo>
                    <a:pt x="524891" y="0"/>
                  </a:lnTo>
                  <a:lnTo>
                    <a:pt x="524891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1689068" y="9699498"/>
            <a:ext cx="1577626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165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64840" y="96469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3000"/>
              </a:lnSpc>
              <a:spcAft>
                <a:spcPts val="700"/>
              </a:spcAft>
            </a:pPr>
            <a:r>
              <a:rPr sz="1700" b="0">
                <a:solidFill>
                  <a:srgbClr val="53645A"/>
                </a:solidFill>
                <a:latin typeface="Poppins"/>
              </a:rPr>
              <a:t>21 / 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713232"/>
            <a:ext cx="1600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1900" b="1">
                <a:solidFill>
                  <a:srgbClr val="008751"/>
                </a:solidFill>
                <a:latin typeface="Poppins"/>
              </a:rPr>
              <a:t>PYTHON RÉEL · HUMAN-IN-THE-LOOP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1325880"/>
            <a:ext cx="160020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4000" b="1">
                <a:solidFill>
                  <a:srgbClr val="111713"/>
                </a:solidFill>
                <a:latin typeface="Poppins"/>
              </a:rPr>
              <a:t>Lier l’accord au bon incident et à la bonne action.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2743200"/>
            <a:ext cx="9966960" cy="5852160"/>
          </a:xfrm>
          <a:prstGeom prst="roundRect">
            <a:avLst>
              <a:gd name="adj" fmla="val 8000"/>
            </a:avLst>
          </a:prstGeom>
          <a:solidFill>
            <a:srgbClr val="1117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17320" y="2971800"/>
            <a:ext cx="9418320" cy="5440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700" b="0">
                <a:solidFill>
                  <a:srgbClr val="FFFFFF"/>
                </a:solidFill>
                <a:latin typeface="DejaVu Sans Mono"/>
              </a:rPr>
              <a:t>approved = bool(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700" b="0">
                <a:solidFill>
                  <a:srgbClr val="FFFFFF"/>
                </a:solidFill>
                <a:latin typeface="DejaVu Sans Mono"/>
              </a:rPr>
              <a:t>    risk["human_review_required"]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700" b="0">
                <a:solidFill>
                  <a:srgbClr val="FFFFFF"/>
                </a:solidFill>
                <a:latin typeface="DejaVu Sans Mono"/>
              </a:rPr>
              <a:t>    and incident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700" b="0">
                <a:solidFill>
                  <a:srgbClr val="FFFFFF"/>
                </a:solidFill>
                <a:latin typeface="DejaVu Sans Mono"/>
              </a:rPr>
              <a:t>    and review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700" b="0">
                <a:solidFill>
                  <a:srgbClr val="FFFFFF"/>
                </a:solidFill>
                <a:latin typeface="DejaVu Sans Mono"/>
              </a:rPr>
              <a:t>    and review["incident_id"]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700" b="0">
                <a:solidFill>
                  <a:srgbClr val="FFFFFF"/>
                </a:solidFill>
                <a:latin typeface="DejaVu Sans Mono"/>
              </a:rPr>
              <a:t>        == incident["incident_id"]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700" b="0">
                <a:solidFill>
                  <a:srgbClr val="FFFFFF"/>
                </a:solidFill>
                <a:latin typeface="DejaVu Sans Mono"/>
              </a:rPr>
              <a:t>    and review["decision"] == "APPROVED"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700" b="0">
                <a:solidFill>
                  <a:srgbClr val="FFFFFF"/>
                </a:solidFill>
                <a:latin typeface="DejaVu Sans Mono"/>
              </a:rPr>
              <a:t>    and review["approved_action"]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700" b="0">
                <a:solidFill>
                  <a:srgbClr val="FFFFFF"/>
                </a:solidFill>
                <a:latin typeface="DejaVu Sans Mono"/>
              </a:rPr>
              <a:t>        == risk["recommended_action"]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700" b="0">
                <a:solidFill>
                  <a:srgbClr val="FFFFFF"/>
                </a:solidFill>
                <a:latin typeface="DejaVu Sans Mono"/>
              </a:rPr>
              <a:t>)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700" b="0">
                <a:solidFill>
                  <a:srgbClr val="FFFFFF"/>
                </a:solidFill>
                <a:latin typeface="DejaVu Sans Mono"/>
              </a:rPr>
              <a:t/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700" b="0">
                <a:solidFill>
                  <a:srgbClr val="FFFFFF"/>
                </a:solidFill>
                <a:latin typeface="DejaVu Sans Mono"/>
              </a:rPr>
              <a:t>if risk["human_review_required"] and not approved:</a:t>
            </a:r>
          </a:p>
          <a:p>
            <a:pPr>
              <a:lnSpc>
                <a:spcPct val="113000"/>
              </a:lnSpc>
              <a:spcAft>
                <a:spcPts val="300"/>
              </a:spcAft>
            </a:pPr>
            <a:r>
              <a:rPr sz="1700" b="0">
                <a:solidFill>
                  <a:srgbClr val="FFFFFF"/>
                </a:solidFill>
                <a:latin typeface="DejaVu Sans Mono"/>
              </a:rPr>
              <a:t>    return {"status": "review_required"}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567160" y="2743200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1800" b="1">
                <a:solidFill>
                  <a:srgbClr val="008751"/>
                </a:solidFill>
                <a:latin typeface="Poppins"/>
              </a:rPr>
              <a:t>CE QUE FAIT CE CODE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567160" y="3474720"/>
            <a:ext cx="530352" cy="530352"/>
          </a:xfrm>
          <a:prstGeom prst="roundRect">
            <a:avLst>
              <a:gd name="adj" fmla="val 8000"/>
            </a:avLst>
          </a:prstGeom>
          <a:solidFill>
            <a:srgbClr val="0087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567160" y="3547872"/>
            <a:ext cx="5303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3000"/>
              </a:lnSpc>
              <a:spcAft>
                <a:spcPts val="700"/>
              </a:spcAft>
            </a:pPr>
            <a:r>
              <a:rPr sz="1900" b="1">
                <a:solidFill>
                  <a:srgbClr val="FFFFFF"/>
                </a:solidFill>
                <a:latin typeface="Poppins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0" y="3474720"/>
            <a:ext cx="4800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200" b="0">
                <a:solidFill>
                  <a:srgbClr val="111713"/>
                </a:solidFill>
                <a:latin typeface="Poppins"/>
              </a:rPr>
              <a:t>L’accord doit exister et être explicite.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567160" y="4526279"/>
            <a:ext cx="530352" cy="530352"/>
          </a:xfrm>
          <a:prstGeom prst="roundRect">
            <a:avLst>
              <a:gd name="adj" fmla="val 8000"/>
            </a:avLst>
          </a:prstGeom>
          <a:solidFill>
            <a:srgbClr val="0087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567160" y="4599431"/>
            <a:ext cx="5303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3000"/>
              </a:lnSpc>
              <a:spcAft>
                <a:spcPts val="700"/>
              </a:spcAft>
            </a:pPr>
            <a:r>
              <a:rPr sz="1900" b="1">
                <a:solidFill>
                  <a:srgbClr val="FFFFFF"/>
                </a:solidFill>
                <a:latin typeface="Poppins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0" y="4526279"/>
            <a:ext cx="4800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200" b="0">
                <a:solidFill>
                  <a:srgbClr val="111713"/>
                </a:solidFill>
                <a:latin typeface="Poppins"/>
              </a:rPr>
              <a:t>Il doit viser le dossier de cette exécution.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567160" y="5577840"/>
            <a:ext cx="530352" cy="530352"/>
          </a:xfrm>
          <a:prstGeom prst="roundRect">
            <a:avLst>
              <a:gd name="adj" fmla="val 8000"/>
            </a:avLst>
          </a:prstGeom>
          <a:solidFill>
            <a:srgbClr val="0087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567160" y="5650992"/>
            <a:ext cx="5303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3000"/>
              </a:lnSpc>
              <a:spcAft>
                <a:spcPts val="700"/>
              </a:spcAft>
            </a:pPr>
            <a:r>
              <a:rPr sz="1900" b="1">
                <a:solidFill>
                  <a:srgbClr val="FFFFFF"/>
                </a:solidFill>
                <a:latin typeface="Poppins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0" y="5577840"/>
            <a:ext cx="4800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200" b="0">
                <a:solidFill>
                  <a:srgbClr val="111713"/>
                </a:solidFill>
                <a:latin typeface="Poppins"/>
              </a:rPr>
              <a:t>L’action approuvée doit être celle recommandée.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567160" y="7132320"/>
            <a:ext cx="5577840" cy="1417320"/>
          </a:xfrm>
          <a:prstGeom prst="roundRect">
            <a:avLst>
              <a:gd name="adj" fmla="val 8000"/>
            </a:avLst>
          </a:prstGeom>
          <a:solidFill>
            <a:srgbClr val="EF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841480" y="7296912"/>
            <a:ext cx="502920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1800" b="1">
                <a:solidFill>
                  <a:srgbClr val="008751"/>
                </a:solidFill>
                <a:latin typeface="Poppins"/>
              </a:rPr>
              <a:t>APPROVED pour un autre incident ou une autre action → conclusion bloquée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14" id="14"/>
          <p:cNvGrpSpPr/>
          <p:nvPr/>
        </p:nvGrpSpPr>
        <p:grpSpPr>
          <a:xfrm rot="0">
            <a:off x="1143000" y="9623298"/>
            <a:ext cx="393668" cy="457200"/>
            <a:chOff x="0" y="0"/>
            <a:chExt cx="524891" cy="609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24891" cy="609600"/>
            </a:xfrm>
            <a:custGeom>
              <a:avLst/>
              <a:gdLst/>
              <a:ahLst/>
              <a:cxnLst/>
              <a:rect r="r" b="b" t="t" l="l"/>
              <a:pathLst>
                <a:path h="609600" w="524891">
                  <a:moveTo>
                    <a:pt x="0" y="0"/>
                  </a:moveTo>
                  <a:lnTo>
                    <a:pt x="524891" y="0"/>
                  </a:lnTo>
                  <a:lnTo>
                    <a:pt x="524891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1689068" y="9699498"/>
            <a:ext cx="1577626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165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64840" y="96469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3000"/>
              </a:lnSpc>
              <a:spcAft>
                <a:spcPts val="700"/>
              </a:spcAft>
            </a:pPr>
            <a:r>
              <a:rPr sz="1700" b="0">
                <a:solidFill>
                  <a:srgbClr val="53645A"/>
                </a:solidFill>
                <a:latin typeface="Poppins"/>
              </a:rPr>
              <a:t>22 / 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713232"/>
            <a:ext cx="1600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1900" b="1">
                <a:solidFill>
                  <a:srgbClr val="008751"/>
                </a:solidFill>
                <a:latin typeface="Poppins"/>
              </a:rPr>
              <a:t>7 · ÉVALUER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1325880"/>
            <a:ext cx="160020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4300" b="1">
                <a:solidFill>
                  <a:srgbClr val="111713"/>
                </a:solidFill>
                <a:latin typeface="Poppins"/>
              </a:rPr>
              <a:t>Un test utile vérifie le chemin, les preuves et l’arrêt.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2880360"/>
            <a:ext cx="5059680" cy="4526280"/>
          </a:xfrm>
          <a:prstGeom prst="roundRect">
            <a:avLst>
              <a:gd name="adj" fmla="val 8000"/>
            </a:avLst>
          </a:prstGeom>
          <a:solidFill>
            <a:srgbClr val="EF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63040" y="3154679"/>
            <a:ext cx="4419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3000" b="1">
                <a:solidFill>
                  <a:srgbClr val="008751"/>
                </a:solidFill>
                <a:latin typeface="Poppins"/>
              </a:rPr>
              <a:t>Chemin normal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206240"/>
            <a:ext cx="441960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500" b="0">
                <a:solidFill>
                  <a:srgbClr val="111713"/>
                </a:solidFill>
                <a:latin typeface="Poppins"/>
              </a:rPr>
              <a:t>Les cinq outils sont appelés dans l’ordre et l’accord conforme permet la conclusion.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14160" y="2880360"/>
            <a:ext cx="5059680" cy="4526280"/>
          </a:xfrm>
          <a:prstGeom prst="roundRect">
            <a:avLst>
              <a:gd name="adj" fmla="val 8000"/>
            </a:avLst>
          </a:prstGeom>
          <a:solidFill>
            <a:srgbClr val="EF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34200" y="3154679"/>
            <a:ext cx="4419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3000" b="1">
                <a:solidFill>
                  <a:srgbClr val="111713"/>
                </a:solidFill>
                <a:latin typeface="Poppins"/>
              </a:rPr>
              <a:t>Décision fautive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34200" y="4206240"/>
            <a:ext cx="441960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500" b="0">
                <a:solidFill>
                  <a:srgbClr val="111713"/>
                </a:solidFill>
                <a:latin typeface="Poppins"/>
              </a:rPr>
              <a:t>Mesure altérée, incident incohérent ou approbation absente doivent être refusés.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2085320" y="2880360"/>
            <a:ext cx="5059680" cy="4526280"/>
          </a:xfrm>
          <a:prstGeom prst="roundRect">
            <a:avLst>
              <a:gd name="adj" fmla="val 8000"/>
            </a:avLst>
          </a:prstGeom>
          <a:solidFill>
            <a:srgbClr val="EF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405360" y="3154679"/>
            <a:ext cx="4419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3000" b="1">
                <a:solidFill>
                  <a:srgbClr val="BE2440"/>
                </a:solidFill>
                <a:latin typeface="Poppins"/>
              </a:rPr>
              <a:t>Résultat attendu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405360" y="4206240"/>
            <a:ext cx="441960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500" b="0">
                <a:solidFill>
                  <a:srgbClr val="111713"/>
                </a:solidFill>
                <a:latin typeface="Poppins"/>
              </a:rPr>
              <a:t>Un scénario d’erreur passe lorsque le système produit précisément l’arrêt attendu.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7726679"/>
            <a:ext cx="160020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500" b="1">
                <a:solidFill>
                  <a:srgbClr val="008751"/>
                </a:solidFill>
                <a:latin typeface="Poppins"/>
              </a:rPr>
              <a:t>10/10 signifie que dix comportements décrits passent ; ce n’est pas une garantie universelle.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14" id="14"/>
          <p:cNvGrpSpPr/>
          <p:nvPr/>
        </p:nvGrpSpPr>
        <p:grpSpPr>
          <a:xfrm rot="0">
            <a:off x="1143000" y="9623298"/>
            <a:ext cx="393668" cy="457200"/>
            <a:chOff x="0" y="0"/>
            <a:chExt cx="524891" cy="609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24891" cy="609600"/>
            </a:xfrm>
            <a:custGeom>
              <a:avLst/>
              <a:gdLst/>
              <a:ahLst/>
              <a:cxnLst/>
              <a:rect r="r" b="b" t="t" l="l"/>
              <a:pathLst>
                <a:path h="609600" w="524891">
                  <a:moveTo>
                    <a:pt x="0" y="0"/>
                  </a:moveTo>
                  <a:lnTo>
                    <a:pt x="524891" y="0"/>
                  </a:lnTo>
                  <a:lnTo>
                    <a:pt x="524891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1689068" y="9699498"/>
            <a:ext cx="1577626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165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64840" y="96469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3000"/>
              </a:lnSpc>
              <a:spcAft>
                <a:spcPts val="700"/>
              </a:spcAft>
            </a:pPr>
            <a:r>
              <a:rPr sz="1700" b="0">
                <a:solidFill>
                  <a:srgbClr val="53645A"/>
                </a:solidFill>
                <a:latin typeface="Poppins"/>
              </a:rPr>
              <a:t>23 / 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713232"/>
            <a:ext cx="1600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1900" b="1">
                <a:solidFill>
                  <a:srgbClr val="008751"/>
                </a:solidFill>
                <a:latin typeface="Poppins"/>
              </a:rPr>
              <a:t>LIRE UNE ÉVALUATION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1325880"/>
            <a:ext cx="160020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4300" b="1">
                <a:solidFill>
                  <a:srgbClr val="111713"/>
                </a:solidFill>
                <a:latin typeface="Poppins"/>
              </a:rPr>
              <a:t>Un test passe quand le comportement attendu est respecté.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2880360"/>
            <a:ext cx="16002000" cy="731520"/>
          </a:xfrm>
          <a:prstGeom prst="rect">
            <a:avLst/>
          </a:prstGeom>
          <a:solidFill>
            <a:srgbClr val="0087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53312" y="3026664"/>
            <a:ext cx="451713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Poppins"/>
              </a:rPr>
              <a:t>Scénario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1072" y="3026664"/>
            <a:ext cx="437997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Poppins"/>
              </a:rPr>
              <a:t>Résultat attendu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91672" y="3026664"/>
            <a:ext cx="437997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Poppins"/>
              </a:rPr>
              <a:t>Solution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892272" y="3026664"/>
            <a:ext cx="104241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Poppins"/>
              </a:rPr>
              <a:t>Test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3611880"/>
            <a:ext cx="16002000" cy="1005840"/>
          </a:xfrm>
          <a:prstGeom prst="rect">
            <a:avLst/>
          </a:prstGeom>
          <a:solidFill>
            <a:srgbClr val="EF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53312" y="3776472"/>
            <a:ext cx="4517136" cy="786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300" b="1">
                <a:solidFill>
                  <a:srgbClr val="111713"/>
                </a:solidFill>
                <a:latin typeface="Poppins"/>
              </a:rPr>
              <a:t>Alerte critique complète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91072" y="3776472"/>
            <a:ext cx="4379976" cy="786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300" b="0">
                <a:solidFill>
                  <a:srgbClr val="111713"/>
                </a:solidFill>
                <a:latin typeface="Poppins"/>
              </a:rPr>
              <a:t>human_approved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91672" y="3776472"/>
            <a:ext cx="4379976" cy="786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300" b="0">
                <a:solidFill>
                  <a:srgbClr val="111713"/>
                </a:solidFill>
                <a:latin typeface="Poppins"/>
              </a:rPr>
              <a:t>human_approved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892272" y="3776472"/>
            <a:ext cx="1042416" cy="786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300" b="1">
                <a:solidFill>
                  <a:srgbClr val="008751"/>
                </a:solidFill>
                <a:latin typeface="Poppins"/>
              </a:rPr>
              <a:t>PASS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4617720"/>
            <a:ext cx="16002000" cy="1005840"/>
          </a:xfrm>
          <a:prstGeom prst="rect">
            <a:avLst/>
          </a:prstGeom>
          <a:solidFill>
            <a:srgbClr val="FAF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53312" y="4782312"/>
            <a:ext cx="4517136" cy="786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300" b="1">
                <a:solidFill>
                  <a:srgbClr val="111713"/>
                </a:solidFill>
                <a:latin typeface="Poppins"/>
              </a:rPr>
              <a:t>Aucune investigation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91072" y="4782312"/>
            <a:ext cx="4379976" cy="786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300" b="0">
                <a:solidFill>
                  <a:srgbClr val="111713"/>
                </a:solidFill>
                <a:latin typeface="Poppins"/>
              </a:rPr>
              <a:t>blocked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91672" y="4782312"/>
            <a:ext cx="4379976" cy="786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300" b="0">
                <a:solidFill>
                  <a:srgbClr val="111713"/>
                </a:solidFill>
                <a:latin typeface="Poppins"/>
              </a:rPr>
              <a:t>blocked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892272" y="4782312"/>
            <a:ext cx="1042416" cy="786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300" b="1">
                <a:solidFill>
                  <a:srgbClr val="008751"/>
                </a:solidFill>
                <a:latin typeface="Poppins"/>
              </a:rPr>
              <a:t>PASS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43000" y="5623560"/>
            <a:ext cx="16002000" cy="1005840"/>
          </a:xfrm>
          <a:prstGeom prst="rect">
            <a:avLst/>
          </a:prstGeom>
          <a:solidFill>
            <a:srgbClr val="EF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353312" y="5788152"/>
            <a:ext cx="4517136" cy="786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300" b="1">
                <a:solidFill>
                  <a:srgbClr val="111713"/>
                </a:solidFill>
                <a:latin typeface="Poppins"/>
              </a:rPr>
              <a:t>Approbation absente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91072" y="5788152"/>
            <a:ext cx="4379976" cy="786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300" b="0">
                <a:solidFill>
                  <a:srgbClr val="111713"/>
                </a:solidFill>
                <a:latin typeface="Poppins"/>
              </a:rPr>
              <a:t>review_required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91672" y="5788152"/>
            <a:ext cx="4379976" cy="786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300" b="0">
                <a:solidFill>
                  <a:srgbClr val="111713"/>
                </a:solidFill>
                <a:latin typeface="Poppins"/>
              </a:rPr>
              <a:t>review_required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892272" y="5788152"/>
            <a:ext cx="1042416" cy="786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300" b="1">
                <a:solidFill>
                  <a:srgbClr val="008751"/>
                </a:solidFill>
                <a:latin typeface="Poppins"/>
              </a:rPr>
              <a:t>PASS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6629400"/>
            <a:ext cx="16002000" cy="1005840"/>
          </a:xfrm>
          <a:prstGeom prst="rect">
            <a:avLst/>
          </a:prstGeom>
          <a:solidFill>
            <a:srgbClr val="FAF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353312" y="6793992"/>
            <a:ext cx="4517136" cy="786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300" b="1">
                <a:solidFill>
                  <a:srgbClr val="111713"/>
                </a:solidFill>
                <a:latin typeface="Poppins"/>
              </a:rPr>
              <a:t>Appel identique répété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91072" y="6793992"/>
            <a:ext cx="4379976" cy="786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300" b="0">
                <a:solidFill>
                  <a:srgbClr val="111713"/>
                </a:solidFill>
                <a:latin typeface="Poppins"/>
              </a:rPr>
              <a:t>blocked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091672" y="6793992"/>
            <a:ext cx="4379976" cy="786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300" b="0">
                <a:solidFill>
                  <a:srgbClr val="111713"/>
                </a:solidFill>
                <a:latin typeface="Poppins"/>
              </a:rPr>
              <a:t>blocked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892272" y="6793992"/>
            <a:ext cx="1042416" cy="786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300" b="1">
                <a:solidFill>
                  <a:srgbClr val="008751"/>
                </a:solidFill>
                <a:latin typeface="Poppins"/>
              </a:rPr>
              <a:t>PASS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3000" y="8458200"/>
            <a:ext cx="16002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300" b="1">
                <a:solidFill>
                  <a:srgbClr val="008751"/>
                </a:solidFill>
                <a:latin typeface="Poppins"/>
              </a:rPr>
              <a:t>L’arrêt peut être le résultat correct : les tests vérifient aussi les refus attendus.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3000" y="8961120"/>
            <a:ext cx="160020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1700" b="0">
                <a:solidFill>
                  <a:srgbClr val="53645A"/>
                </a:solidFill>
                <a:latin typeface="Poppins"/>
              </a:rPr>
              <a:t>Extraits de la solution : dix scénarios déterministes, dont sept erreurs volontaires. Aucun appel API.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14" id="14"/>
          <p:cNvGrpSpPr/>
          <p:nvPr/>
        </p:nvGrpSpPr>
        <p:grpSpPr>
          <a:xfrm rot="0">
            <a:off x="1143000" y="9623298"/>
            <a:ext cx="393668" cy="457200"/>
            <a:chOff x="0" y="0"/>
            <a:chExt cx="524891" cy="609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24891" cy="609600"/>
            </a:xfrm>
            <a:custGeom>
              <a:avLst/>
              <a:gdLst/>
              <a:ahLst/>
              <a:cxnLst/>
              <a:rect r="r" b="b" t="t" l="l"/>
              <a:pathLst>
                <a:path h="609600" w="524891">
                  <a:moveTo>
                    <a:pt x="0" y="0"/>
                  </a:moveTo>
                  <a:lnTo>
                    <a:pt x="524891" y="0"/>
                  </a:lnTo>
                  <a:lnTo>
                    <a:pt x="524891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1689068" y="9699498"/>
            <a:ext cx="1577626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165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64840" y="96469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3000"/>
              </a:lnSpc>
              <a:spcAft>
                <a:spcPts val="700"/>
              </a:spcAft>
            </a:pPr>
            <a:r>
              <a:rPr sz="1700" b="0">
                <a:solidFill>
                  <a:srgbClr val="53645A"/>
                </a:solidFill>
                <a:latin typeface="Poppins"/>
              </a:rPr>
              <a:t>24 / 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713232"/>
            <a:ext cx="1600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1900" b="1">
                <a:solidFill>
                  <a:srgbClr val="008751"/>
                </a:solidFill>
                <a:latin typeface="Poppins"/>
              </a:rPr>
              <a:t>CE QUE VOUS SAVEZ RECONSTRUIRE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1325880"/>
            <a:ext cx="160020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4300" b="1">
                <a:solidFill>
                  <a:srgbClr val="111713"/>
                </a:solidFill>
                <a:latin typeface="Poppins"/>
              </a:rPr>
              <a:t>Une architecture en cinq responsabilités.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2880360"/>
            <a:ext cx="2871215" cy="4526280"/>
          </a:xfrm>
          <a:prstGeom prst="roundRect">
            <a:avLst>
              <a:gd name="adj" fmla="val 8000"/>
            </a:avLst>
          </a:prstGeom>
          <a:solidFill>
            <a:srgbClr val="EF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63040" y="3154679"/>
            <a:ext cx="223113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3000" b="1">
                <a:solidFill>
                  <a:srgbClr val="008751"/>
                </a:solidFill>
                <a:latin typeface="Poppins"/>
              </a:rPr>
              <a:t>1. Décrire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206240"/>
            <a:ext cx="2231135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500" b="0">
                <a:solidFill>
                  <a:srgbClr val="111713"/>
                </a:solidFill>
                <a:latin typeface="Poppins"/>
              </a:rPr>
              <a:t>Présenter au modèle des outils avec un contrat clair.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25696" y="2880360"/>
            <a:ext cx="2871215" cy="4526280"/>
          </a:xfrm>
          <a:prstGeom prst="roundRect">
            <a:avLst>
              <a:gd name="adj" fmla="val 8000"/>
            </a:avLst>
          </a:prstGeom>
          <a:solidFill>
            <a:srgbClr val="EF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45736" y="3154679"/>
            <a:ext cx="223113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3000" b="1">
                <a:solidFill>
                  <a:srgbClr val="111713"/>
                </a:solidFill>
                <a:latin typeface="Poppins"/>
              </a:rPr>
              <a:t>2. Orchestrer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45736" y="4206240"/>
            <a:ext cx="2231135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500" b="0">
                <a:solidFill>
                  <a:srgbClr val="111713"/>
                </a:solidFill>
                <a:latin typeface="Poppins"/>
              </a:rPr>
              <a:t>Alterner propositions, contrôles, exécutions et observations.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08392" y="2880360"/>
            <a:ext cx="2871215" cy="4526280"/>
          </a:xfrm>
          <a:prstGeom prst="roundRect">
            <a:avLst>
              <a:gd name="adj" fmla="val 8000"/>
            </a:avLst>
          </a:prstGeom>
          <a:solidFill>
            <a:srgbClr val="EF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28431" y="3154679"/>
            <a:ext cx="223113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3000" b="1">
                <a:solidFill>
                  <a:srgbClr val="BE2440"/>
                </a:solidFill>
                <a:latin typeface="Poppins"/>
              </a:rPr>
              <a:t>3. Prouver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28431" y="4206240"/>
            <a:ext cx="2231135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500" b="0">
                <a:solidFill>
                  <a:srgbClr val="111713"/>
                </a:solidFill>
                <a:latin typeface="Poppins"/>
              </a:rPr>
              <a:t>Conserver une trace et vérifier la provenance des arguments.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991088" y="2880360"/>
            <a:ext cx="2871215" cy="4526280"/>
          </a:xfrm>
          <a:prstGeom prst="roundRect">
            <a:avLst>
              <a:gd name="adj" fmla="val 8000"/>
            </a:avLst>
          </a:prstGeom>
          <a:solidFill>
            <a:srgbClr val="EF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311128" y="3154679"/>
            <a:ext cx="223113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3000" b="1">
                <a:solidFill>
                  <a:srgbClr val="008751"/>
                </a:solidFill>
                <a:latin typeface="Poppins"/>
              </a:rPr>
              <a:t>4. Autoriser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311128" y="4206240"/>
            <a:ext cx="2231135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500" b="0">
                <a:solidFill>
                  <a:srgbClr val="111713"/>
                </a:solidFill>
                <a:latin typeface="Poppins"/>
              </a:rPr>
              <a:t>Exiger une décision humaine liée à l’action sensible.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4273784" y="2880360"/>
            <a:ext cx="2871215" cy="4526280"/>
          </a:xfrm>
          <a:prstGeom prst="roundRect">
            <a:avLst>
              <a:gd name="adj" fmla="val 8000"/>
            </a:avLst>
          </a:prstGeom>
          <a:solidFill>
            <a:srgbClr val="EF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4593824" y="3154679"/>
            <a:ext cx="223113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3000" b="1">
                <a:solidFill>
                  <a:srgbClr val="111713"/>
                </a:solidFill>
                <a:latin typeface="Poppins"/>
              </a:rPr>
              <a:t>5. Évaluer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593824" y="4206240"/>
            <a:ext cx="2231135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500" b="0">
                <a:solidFill>
                  <a:srgbClr val="111713"/>
                </a:solidFill>
                <a:latin typeface="Poppins"/>
              </a:rPr>
              <a:t>Tester les réussites, les erreurs et les refus attendus.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3000" y="7726679"/>
            <a:ext cx="160020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500" b="1">
                <a:solidFill>
                  <a:srgbClr val="008751"/>
                </a:solidFill>
                <a:latin typeface="Poppins"/>
              </a:rPr>
              <a:t>Le code de démonstration reprend ces cinq responsabilités dans des fonctions séparées.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14" id="14"/>
          <p:cNvGrpSpPr/>
          <p:nvPr/>
        </p:nvGrpSpPr>
        <p:grpSpPr>
          <a:xfrm rot="0">
            <a:off x="1143000" y="9623298"/>
            <a:ext cx="393668" cy="457200"/>
            <a:chOff x="0" y="0"/>
            <a:chExt cx="524891" cy="609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24891" cy="609600"/>
            </a:xfrm>
            <a:custGeom>
              <a:avLst/>
              <a:gdLst/>
              <a:ahLst/>
              <a:cxnLst/>
              <a:rect r="r" b="b" t="t" l="l"/>
              <a:pathLst>
                <a:path h="609600" w="524891">
                  <a:moveTo>
                    <a:pt x="0" y="0"/>
                  </a:moveTo>
                  <a:lnTo>
                    <a:pt x="524891" y="0"/>
                  </a:lnTo>
                  <a:lnTo>
                    <a:pt x="524891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1689068" y="9699498"/>
            <a:ext cx="1577626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165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64840" y="96469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3000"/>
              </a:lnSpc>
              <a:spcAft>
                <a:spcPts val="700"/>
              </a:spcAft>
            </a:pPr>
            <a:r>
              <a:rPr sz="1700" b="0">
                <a:solidFill>
                  <a:srgbClr val="53645A"/>
                </a:solidFill>
                <a:latin typeface="Poppins"/>
              </a:rPr>
              <a:t>25 / 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713232"/>
            <a:ext cx="1600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1900" b="1">
                <a:solidFill>
                  <a:srgbClr val="008751"/>
                </a:solidFill>
                <a:latin typeface="Poppins"/>
              </a:rPr>
              <a:t>RESSOURCES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1325880"/>
            <a:ext cx="160020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4300" b="1">
                <a:solidFill>
                  <a:srgbClr val="111713"/>
                </a:solidFill>
                <a:latin typeface="Poppins"/>
              </a:rPr>
              <a:t>Rejouer la démo, puis explorer l’implémentation complète.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2834640"/>
            <a:ext cx="16002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900" b="1">
                <a:solidFill>
                  <a:srgbClr val="008751"/>
                </a:solidFill>
                <a:latin typeface="Poppins"/>
                <a:hlinkClick r:id="rId3"/>
              </a:rPr>
              <a:t>Démonstration Python guidée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3474720"/>
            <a:ext cx="16002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400" b="0">
                <a:solidFill>
                  <a:srgbClr val="111713"/>
                </a:solidFill>
                <a:latin typeface="Poppins"/>
              </a:rPr>
              <a:t>Le code court et exécutable utilisé dans cette présentation.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4572000"/>
            <a:ext cx="16002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900" b="1">
                <a:solidFill>
                  <a:srgbClr val="008751"/>
                </a:solidFill>
                <a:latin typeface="Poppins"/>
                <a:hlinkClick r:id="rId4"/>
              </a:rPr>
              <a:t>Notebook solution français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5212080"/>
            <a:ext cx="16002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400" b="0">
                <a:solidFill>
                  <a:srgbClr val="111713"/>
                </a:solidFill>
                <a:latin typeface="Poppins"/>
              </a:rPr>
              <a:t>La mission complète, déjà assemblée, dans Google Colab.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6309360"/>
            <a:ext cx="16002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900" b="1">
                <a:solidFill>
                  <a:srgbClr val="008751"/>
                </a:solidFill>
                <a:latin typeface="Poppins"/>
                <a:hlinkClick r:id="rId5"/>
              </a:rPr>
              <a:t>Notebook participant français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6949440"/>
            <a:ext cx="16002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400" b="0">
                <a:solidFill>
                  <a:srgbClr val="111713"/>
                </a:solidFill>
                <a:latin typeface="Poppins"/>
              </a:rPr>
              <a:t>Les quatre décisions à compléter pour pratiquer après la session.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14" id="14"/>
          <p:cNvGrpSpPr/>
          <p:nvPr/>
        </p:nvGrpSpPr>
        <p:grpSpPr>
          <a:xfrm rot="0">
            <a:off x="1143000" y="9623298"/>
            <a:ext cx="393668" cy="457200"/>
            <a:chOff x="0" y="0"/>
            <a:chExt cx="524891" cy="609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24891" cy="609600"/>
            </a:xfrm>
            <a:custGeom>
              <a:avLst/>
              <a:gdLst/>
              <a:ahLst/>
              <a:cxnLst/>
              <a:rect r="r" b="b" t="t" l="l"/>
              <a:pathLst>
                <a:path h="609600" w="524891">
                  <a:moveTo>
                    <a:pt x="0" y="0"/>
                  </a:moveTo>
                  <a:lnTo>
                    <a:pt x="524891" y="0"/>
                  </a:lnTo>
                  <a:lnTo>
                    <a:pt x="524891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1689068" y="9699498"/>
            <a:ext cx="1577626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165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64840" y="96469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3000"/>
              </a:lnSpc>
              <a:spcAft>
                <a:spcPts val="700"/>
              </a:spcAft>
            </a:pPr>
            <a:r>
              <a:rPr sz="1700" b="0">
                <a:solidFill>
                  <a:srgbClr val="53645A"/>
                </a:solidFill>
                <a:latin typeface="Poppins"/>
              </a:rPr>
              <a:t>26 / 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713232"/>
            <a:ext cx="1600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1900" b="1">
                <a:solidFill>
                  <a:srgbClr val="008751"/>
                </a:solidFill>
                <a:latin typeface="Poppins"/>
              </a:rPr>
              <a:t>MERCI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1325880"/>
            <a:ext cx="160020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4300" b="1">
                <a:solidFill>
                  <a:srgbClr val="111713"/>
                </a:solidFill>
                <a:latin typeface="Poppins"/>
              </a:rPr>
              <a:t>Une bonne réponse n’est pas une preuve d’exécution.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2971800"/>
            <a:ext cx="10789920" cy="2057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3500" b="1">
                <a:solidFill>
                  <a:srgbClr val="008751"/>
                </a:solidFill>
                <a:latin typeface="Poppins"/>
              </a:rPr>
              <a:t>Quel outil, quelle preuve et quelle autorisation votre prochain agent devra-t-il posséder 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5532120"/>
            <a:ext cx="107899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600" b="0">
                <a:solidFill>
                  <a:srgbClr val="111713"/>
                </a:solidFill>
                <a:latin typeface="Poppins"/>
              </a:rPr>
              <a:t>Commencez petit : un outil déterministe, une trace lisible et un cas qui doit être refusé.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7726679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100" b="0">
                <a:solidFill>
                  <a:srgbClr val="53645A"/>
                </a:solidFill>
                <a:latin typeface="Poppins"/>
              </a:rPr>
              <a:t>BOSSA Chabel · Ingénieur logiciel · ENSGMM</a:t>
            </a:r>
          </a:p>
          <a:p>
            <a:pPr>
              <a:lnSpc>
                <a:spcPct val="113000"/>
              </a:lnSpc>
              <a:spcAft>
                <a:spcPts val="700"/>
              </a:spcAft>
            </a:pPr>
            <a:r>
              <a:rPr sz="2100" b="0">
                <a:solidFill>
                  <a:srgbClr val="53645A"/>
                </a:solidFill>
                <a:latin typeface="Poppins"/>
              </a:rPr>
              <a:t>github.com/chabelbossa · linkedin.com/in/chabel-holdo-bossa</a:t>
            </a:r>
          </a:p>
        </p:txBody>
      </p:sp>
      <p:pic>
        <p:nvPicPr>
          <p:cNvPr id="23" name="Picture 22" descr="repository-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95960" y="3063240"/>
            <a:ext cx="3200400" cy="32004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2618720" y="6537960"/>
            <a:ext cx="45720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3000"/>
              </a:lnSpc>
              <a:spcAft>
                <a:spcPts val="700"/>
              </a:spcAft>
            </a:pPr>
            <a:r>
              <a:rPr sz="2300" b="1">
                <a:solidFill>
                  <a:srgbClr val="008751"/>
                </a:solidFill>
                <a:latin typeface="Poppins"/>
                <a:hlinkClick r:id="rId4"/>
              </a:rPr>
              <a:t>Code et notebooks</a:t>
            </a:r>
          </a:p>
          <a:p>
            <a:pPr algn="ctr">
              <a:lnSpc>
                <a:spcPct val="113000"/>
              </a:lnSpc>
              <a:spcAft>
                <a:spcPts val="700"/>
              </a:spcAft>
            </a:pPr>
            <a:r>
              <a:rPr sz="2300" b="1">
                <a:solidFill>
                  <a:srgbClr val="008751"/>
                </a:solidFill>
                <a:latin typeface="Poppins"/>
                <a:hlinkClick r:id="rId4"/>
              </a:rPr>
              <a:t>Scannez pour ouvrir le dépôt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DAHSZyL3yQI</dc:identifier>
  <dcterms:modified xsi:type="dcterms:W3CDTF">2011-08-01T06:04:30Z</dcterms:modified>
  <cp:revision>1</cp:revision>
  <dc:title>IndabaX Bénin — Speaker Deck Template</dc:title>
</cp:coreProperties>
</file>