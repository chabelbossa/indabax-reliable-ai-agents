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Medium" charset="1" panose="00000600000000000000"/>
      <p:regular r:id="rId23"/>
    </p:embeddedFont>
    <p:embeddedFont>
      <p:font typeface="Poppins Semi-Bold" charset="1" panose="00000700000000000000"/>
      <p:regular r:id="rId24"/>
    </p:embeddedFont>
    <p:embeddedFont>
      <p:font typeface="Arimo" charset="1" panose="020B0604020202020204"/>
      <p:regular r:id="rId26"/>
    </p:embeddedFont>
    <p:embeddedFont>
      <p:font typeface="Arimo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2.xml"/><Relationship Id="rId20" Type="http://schemas.openxmlformats.org/officeDocument/2006/relationships/notesSlide" Target="notesSlides/notesSlide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Slide" Target="notesSlides/notesSlide2.xml"/><Relationship Id="rId26" Type="http://schemas.openxmlformats.org/officeDocument/2006/relationships/font" Target="fonts/font26.fntdata"/><Relationship Id="rId27" Type="http://schemas.openxmlformats.org/officeDocument/2006/relationships/notesSlide" Target="notesSlides/notesSlide3.xml"/><Relationship Id="rId28" Type="http://schemas.openxmlformats.org/officeDocument/2006/relationships/notesSlide" Target="notesSlides/notesSlide4.xml"/><Relationship Id="rId29" Type="http://schemas.openxmlformats.org/officeDocument/2006/relationships/notesSlide" Target="notesSlides/notesSlide5.xml"/><Relationship Id="rId30" Type="http://schemas.openxmlformats.org/officeDocument/2006/relationships/notesSlide" Target="notesSlides/notesSlide6.xml"/><Relationship Id="rId31" Type="http://schemas.openxmlformats.org/officeDocument/2006/relationships/notesSlide" Target="notesSlides/notesSlide7.xml"/><Relationship Id="rId32" Type="http://schemas.openxmlformats.org/officeDocument/2006/relationships/font" Target="fonts/font32.fntdata"/><Relationship Id="rId33" Type="http://schemas.openxmlformats.org/officeDocument/2006/relationships/notesSlide" Target="notesSlides/notesSlide8.xml"/><Relationship Id="rId34" Type="http://schemas.openxmlformats.org/officeDocument/2006/relationships/notesSlide" Target="notesSlides/notesSlide9.xml"/><Relationship Id="rId35" Type="http://schemas.openxmlformats.org/officeDocument/2006/relationships/notesSlide" Target="notesSlides/notesSlide10.xml"/><Relationship Id="rId36" Type="http://schemas.openxmlformats.org/officeDocument/2006/relationships/notesSlide" Target="notesSlides/notesSlide11.xml"/><Relationship Id="rId37" Type="http://schemas.openxmlformats.org/officeDocument/2006/relationships/notesSlide" Target="notesSlides/notes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00–01 min</a:t>
            </a:r>
          </a:p>
          <a:p>
            <a:r>
              <a:t>À dire : Aujourd’hui, on va raisonner ensemble comme les concepteurs d’un agent. Vous n’avez pas besoin de taper du code pour participer.</a:t>
            </a:r>
          </a:p>
          <a:p>
            <a:r>
              <a:t>Question : Que faudrait-il vérifier avant de faire confiance à une réponse ?</a:t>
            </a:r>
          </a:p>
          <a:p>
            <a:r>
              <a:t>Réponse attendue : Les données et les actions réellement exécutées.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01–02 min</a:t>
            </a:r>
          </a:p>
          <a:p>
            <a:r>
              <a:t>À dire : On lit quelques lignes, vous prédisez la suite, puis on regarde le résultat. Le notebook sert à montrer le même mécanisme en Python.</a:t>
            </a:r>
          </a:p>
          <a:p>
            <a:r>
              <a:t>Question : Faut-il installer Python pour suivre ?</a:t>
            </a:r>
          </a:p>
          <a:p>
            <a:r>
              <a:t>Réponse attendue : Non. Slides et votes suffisent ; Colab est facultatif.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02–04 min</a:t>
            </a:r>
          </a:p>
          <a:p>
            <a:r>
              <a:t>À dire : Nous jouons l’équipe de garde de KoraCare. Une alerte arrive. Nous devons enquêter avant de conclure.</a:t>
            </a:r>
          </a:p>
          <a:p>
            <a:r>
              <a:t>Question : 12,4 °C est-il un seuil ou une mesure ?</a:t>
            </a:r>
          </a:p>
          <a:p>
            <a:r>
              <a:t>Réponse attendue : Une mesure du capteur dans notre jeu de données fictif.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04–06 min</a:t>
            </a:r>
          </a:p>
          <a:p>
            <a:r>
              <a:t>À dire : La valeur 12,4 est comparée à une plage, pas à une moyenne. On doit aussi regarder la durée.</a:t>
            </a:r>
          </a:p>
          <a:p>
            <a:r>
              <a:t>Question : Pourquoi la température seule ne suffit-elle pas ?</a:t>
            </a:r>
          </a:p>
          <a:p>
            <a:r>
              <a:t>Réponse attendue : La règle dépend aussi de la durée et de la fiabilité du capteur.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06–07 min</a:t>
            </a:r>
          </a:p>
          <a:p>
            <a:r>
              <a:t>À dire : Gardez ces trois rôles. Quand quelque chose se passe, nous allons demander qui en est responsable.</a:t>
            </a:r>
          </a:p>
          <a:p>
            <a:r>
              <a:t>Question : Qui lit réellement la mesure ?</a:t>
            </a:r>
          </a:p>
          <a:p>
            <a:r>
              <a:t>Réponse attendue : La fonction exécutée par Python, sur nos données locales.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07–09 min</a:t>
            </a:r>
          </a:p>
          <a:p>
            <a:r>
              <a:t>À dire : On commence comme un chatbot. Nous lui avons donné une question, mais aucun moyen de consulter nos données.</a:t>
            </a:r>
          </a:p>
          <a:p>
            <a:r>
              <a:t>Question : L’IA peut-elle vérifier le capteur ici ?</a:t>
            </a:r>
          </a:p>
          <a:p>
            <a:r>
              <a:t>Réponse attendue : Non. Elle peut répondre, mais aucun outil ne lui donne accès au capteur.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09–11 min</a:t>
            </a:r>
          </a:p>
          <a:p>
            <a:r>
              <a:t>À dire : Une cellule de définition prépare le travail. Une autre cellule doit appeler la fonction pour que quelque chose se passe.</a:t>
            </a:r>
          </a:p>
          <a:p>
            <a:r>
              <a:t>Question : À quelle ligne le travail se fait-il ?</a:t>
            </a:r>
          </a:p>
          <a:p>
            <a:r>
              <a:t>Réponse attendue : À mesure ← lire_clinique(...). La définition seule ne lit rien.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11–13 min</a:t>
            </a:r>
          </a:p>
          <a:p>
            <a:r>
              <a:t>À dire : Nous devons présenter les outils au modèle, comme je dois vous présenter les fonctions avant de vous demander de les utiliser.</a:t>
            </a:r>
          </a:p>
          <a:p>
            <a:r>
              <a:t>Question : Le modèle devine-t-il nos fonctions cachées ?</a:t>
            </a:r>
          </a:p>
          <a:p>
            <a:r>
              <a:t>Réponse attendue : Non. L’application lui transmet explicitement leurs descriptions.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13–15 min</a:t>
            </a:r>
          </a:p>
          <a:p>
            <a:r>
              <a:t>À dire : La nouveauté, c’est cette demande structurée. Elle sera interprétée et contrôlée par notre programme.</a:t>
            </a:r>
          </a:p>
          <a:p>
            <a:r>
              <a:t>Question : Avons-nous déjà lu la température ?</a:t>
            </a:r>
          </a:p>
          <a:p>
            <a:r>
              <a:t>Réponse attendue : Non : nous avons seulement une demande structurée.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15–17 min</a:t>
            </a:r>
          </a:p>
          <a:p>
            <a:r>
              <a:t>À dire : On retrouve la fonction autorisée. On ne transforme pas librement le texte du modèle en code exécutable.</a:t>
            </a:r>
          </a:p>
          <a:p>
            <a:r>
              <a:t>Question : Un appel bien écrit est-il toujours cohérent ?</a:t>
            </a:r>
          </a:p>
          <a:p>
            <a:r>
              <a:t>Réponse attendue : Non. Il faut aussi vérifier la clinique visée et la provenance des valeurs.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17–19 min</a:t>
            </a:r>
          </a:p>
          <a:p>
            <a:r>
              <a:t>À dire : Voici le lien essentiel. Exécuter un outil ne suffit pas : le résultat doit revenir dans la conversation.</a:t>
            </a:r>
          </a:p>
          <a:p>
            <a:r>
              <a:t>Question : Que perd-on si le résultat n’est pas ajouté ?</a:t>
            </a:r>
          </a:p>
          <a:p>
            <a:r>
              <a:t>Réponse attendue : Le modèle n’a pas l’observation ; il ne peut pas fonder la suite sur cette mesure.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19–21 min</a:t>
            </a:r>
          </a:p>
          <a:p>
            <a:r>
              <a:t>À dire : Laissez trente secondes au binôme, puis prenez deux justifications.</a:t>
            </a:r>
          </a:p>
          <a:p>
            <a:r>
              <a:t>Question : A, B ou C ? Pourquoi ?</a:t>
            </a:r>
          </a:p>
          <a:p>
            <a:r>
              <a:t>Réponse attendue : B. Il manque la procédure. La mesure seule ne permet pas de conclure.</a:t>
            </a:r>
          </a:p>
          <a:p>
            <a:r>
              <a:t>Action : Rester sur la présentation.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21–23 min</a:t>
            </a:r>
          </a:p>
          <a:p>
            <a:r>
              <a:t>À dire : On ne code pas cinq étapes aveugles. Le modèle reçoit les observations, puis propose la suite dans les limites fixées.</a:t>
            </a:r>
          </a:p>
          <a:p>
            <a:r>
              <a:t>Question : Qu’est-ce qui décide de la prochaine étape ?</a:t>
            </a:r>
          </a:p>
          <a:p>
            <a:r>
              <a:t>Réponse attendue : Le modèle propose à partir de l’historique ; le programme autorise ou bloque.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23–25 min</a:t>
            </a:r>
          </a:p>
          <a:p>
            <a:r>
              <a:t>À dire : Personne n’est censé deviner cela. Notre code définit ce contrat. Le pseudo-code interroger_IA correspond à complete dans le notebook.</a:t>
            </a:r>
          </a:p>
          <a:p>
            <a:r>
              <a:t>Question : mode et complete sont-ils tous les deux des méthodes ?</a:t>
            </a:r>
          </a:p>
          <a:p>
            <a:r>
              <a:t>Réponse attendue : Non : mode est un attribut, complete est une méthode. Les parenthèses indiquent l’appel.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25–27 min</a:t>
            </a:r>
          </a:p>
          <a:p>
            <a:r>
              <a:t>À dire : Voici le seul petit pont de syntaxe dont nous avons besoin. Lisez le sens. Vous n’avez pas à le recopier.</a:t>
            </a:r>
          </a:p>
          <a:p>
            <a:r>
              <a:t>Question : D’où vient selected_client dans cette fonction ?</a:t>
            </a:r>
          </a:p>
          <a:p>
            <a:r>
              <a:t>Réponse attendue : De l’argument transmis quand on appelle propose_tool ; ce nom est local à la fonction.</a:t>
            </a:r>
          </a:p>
          <a:p>
            <a:r>
              <a:t>Action : Démo facultative de 2 minutes à la place de l’explication : notebook solution, contrat client puis premier appel. Si le setup ne fonctionne pas, rester sur la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27–30 min</a:t>
            </a:r>
          </a:p>
          <a:p>
            <a:r>
              <a:t>À dire : Une personne joue le modèle, une autre Python. Après chaque résultat, le groupe propose l’outil suivant.</a:t>
            </a:r>
          </a:p>
          <a:p>
            <a:r>
              <a:t>Question : Après la qualification critique, quelle suite faut-il justifier ?</a:t>
            </a:r>
          </a:p>
          <a:p>
            <a:r>
              <a:t>Réponse attendue : Créer le dossier puis demander la revue pour cet incident et cette action.</a:t>
            </a:r>
          </a:p>
          <a:p>
            <a:r>
              <a:t>Action : Annoncer les résultats : mesure ; procédure ; CRITICAL ; identifiant d’incident ; décision simulée. Aucun ordinateur requis.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30–32 min</a:t>
            </a:r>
          </a:p>
          <a:p>
            <a:r>
              <a:t>À dire : Nous séparons l’interprétation de la demande et l’application des règles. Le seuil est fixé par le scénario.</a:t>
            </a:r>
          </a:p>
          <a:p>
            <a:r>
              <a:t>Question : Qui calcule ici le niveau de risque ?</a:t>
            </a:r>
          </a:p>
          <a:p>
            <a:r>
              <a:t>Réponse attendue : L’outil Python. Le modèle lui transmet les mesures déjà vérifiées.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32–34 min</a:t>
            </a:r>
          </a:p>
          <a:p>
            <a:r>
              <a:t>À dire : Faites voter : accepter ou refuser ? Puis demandez quelle preuve permet de trancher.</a:t>
            </a:r>
          </a:p>
          <a:p>
            <a:r>
              <a:t>Question : Pourquoi une simple validation de type ne suffit-elle pas ?</a:t>
            </a:r>
          </a:p>
          <a:p>
            <a:r>
              <a:t>Réponse attendue : Elle accepterait 5. Le contrôle de cohérence doit comparer avec les données réellement observées.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34–36 min</a:t>
            </a:r>
          </a:p>
          <a:p>
            <a:r>
              <a:t>À dire : Lisez la phrase du modèle. Laissez le groupe voter avant de commenter les preuves manquantes.</a:t>
            </a:r>
          </a:p>
          <a:p>
            <a:r>
              <a:t>Question : Peut-on accepter « résolu » ?</a:t>
            </a:r>
          </a:p>
          <a:p>
            <a:r>
              <a:t>Réponse attendue : Non. Le cas exige une revue, mais aucun accord correspondant n’a été enregistré.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36–38 min</a:t>
            </a:r>
          </a:p>
          <a:p>
            <a:r>
              <a:t>À dire : Le dernier message n’est pas la preuve. C’est l’historique des opérations réussies qui permet d’autoriser la conclusion.</a:t>
            </a:r>
          </a:p>
          <a:p>
            <a:r>
              <a:t>Question : Un accord pour un autre incident suffit-il ?</a:t>
            </a:r>
          </a:p>
          <a:p>
            <a:r>
              <a:t>Réponse attendue : Non. La décision doit correspondre au dossier de cette exécution et à l’action proposée.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38–40 min</a:t>
            </a:r>
          </a:p>
          <a:p>
            <a:r>
              <a:t>À dire : Ce choix est volontairement simple. Un autre produit pourrait prévoir des reprises, avec des limites explicites.</a:t>
            </a:r>
          </a:p>
          <a:p>
            <a:r>
              <a:t>Question : Pourquoi garder une limite même avec l’anti-répétition ?</a:t>
            </a:r>
          </a:p>
          <a:p>
            <a:r>
              <a:t>Réponse attendue : Le modèle pourrait varier les arguments et continuer indéfiniment.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40–41 min</a:t>
            </a:r>
          </a:p>
          <a:p>
            <a:r>
              <a:t>À dire : La trace est notre journal de preuve. Choisissez une ligne et expliquez à quoi elle sert.</a:t>
            </a:r>
          </a:p>
          <a:p>
            <a:r>
              <a:t>Question : Trace et historique sont-ils identiques ?</a:t>
            </a:r>
          </a:p>
          <a:p>
            <a:r>
              <a:t>Réponse attendue : L’historique est transmis au modèle ; la trace sert à contrôler et examiner l’exécution.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41–43 min</a:t>
            </a:r>
          </a:p>
          <a:p>
            <a:r>
              <a:t>À dire : Un arrêt attendu peut faire passer un test. Faisons la différence entre réussite de la mission et réussite du test.</a:t>
            </a:r>
          </a:p>
          <a:p>
            <a:r>
              <a:t>Question : Pourquoi missing_approval peut-il être PASS ?</a:t>
            </a:r>
          </a:p>
          <a:p>
            <a:r>
              <a:t>Réponse attendue : Parce que le comportement attendu est de refuser la conclusion sans approbation.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43–45 min</a:t>
            </a:r>
          </a:p>
          <a:p>
            <a:r>
              <a:t>À dire : Faites proposer un nouveau cas : par exemple une approbation donnée pour le mauvais incident.</a:t>
            </a:r>
          </a:p>
          <a:p>
            <a:r>
              <a:t>Question : Que devrait-il arriver si on retire une protection ?</a:t>
            </a:r>
          </a:p>
          <a:p>
            <a:r>
              <a:t>Réponse attendue : Le test qui dépend de cette protection doit échouer. Sinon, il ne la vérifie pas assez bien.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45–46 min</a:t>
            </a:r>
          </a:p>
          <a:p>
            <a:r>
              <a:t>À dire : Le mode doit être annoncé. Une simulation est utile, mais nous ne la présentons pas comme une réponse live.</a:t>
            </a:r>
          </a:p>
          <a:p>
            <a:r>
              <a:t>Question : Qu’évaluons-nous encore en mock ?</a:t>
            </a:r>
          </a:p>
          <a:p>
            <a:r>
              <a:t>Réponse attendue : L’orchestration, les preuves, les validations et les conditions d’arrêt.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46–48 min</a:t>
            </a:r>
          </a:p>
          <a:p>
            <a:r>
              <a:t>À dire : Pour refaire la démonstration, prenez la solution. Pour écrire les quatre décisions vous-mêmes, prenez le notebook participant.</a:t>
            </a:r>
          </a:p>
          <a:p>
            <a:r>
              <a:t>Question : Que lancer après une cellule qui définit une fonction ?</a:t>
            </a:r>
          </a:p>
          <a:p>
            <a:r>
              <a:t>Réponse attendue : La cellule qui appelle cette fonction ; une définition seule ne produit pas le résultat.</a:t>
            </a:r>
          </a:p>
          <a:p>
            <a:r>
              <a:t>Action : Afficher les liens cliquables. Colab facultatif : navigateur, connexion et compte Google ; pas d’installation Python sur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48–50 min</a:t>
            </a:r>
          </a:p>
          <a:p>
            <a:r>
              <a:t>À dire : Prenez une minute à deux. Puis recueillez deux exemples.</a:t>
            </a:r>
          </a:p>
          <a:p>
            <a:r>
              <a:t>Question : Dans votre métier, quel appel doit exiger un accord ?</a:t>
            </a:r>
          </a:p>
          <a:p>
            <a:r>
              <a:t>Réponse attendue : Une action concrète, un accord identifiable et un test qui bloque son absence.</a:t>
            </a:r>
          </a:p>
          <a:p>
            <a:r>
              <a:t>Action : Rester sur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chabelbossa/indabax-reliable-ai-agents/tree/main/slides" TargetMode="External"/><Relationship Id="rId4" Type="http://schemas.openxmlformats.org/officeDocument/2006/relationships/hyperlink" Target="https://colab.research.google.com/github/chabelbossa/indabax-reliable-ai-agents/blob/main/notebooks/workshop-solution-fr.ipynb" TargetMode="External"/><Relationship Id="rId5" Type="http://schemas.openxmlformats.org/officeDocument/2006/relationships/hyperlink" Target="https://colab.research.google.com/github/chabelbossa/indabax-reliable-ai-agents/blob/main/notebooks/workshop-fr.ipynb" TargetMode="Externa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github.com/chabelbossa/indabax-reliable-ai-agents" TargetMode="External"/><Relationship Id="rId5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047750"/>
            <a:ext cx="738188" cy="857250"/>
            <a:chOff x="0" y="0"/>
            <a:chExt cx="984250" cy="114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42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984250">
                  <a:moveTo>
                    <a:pt x="0" y="0"/>
                  </a:moveTo>
                  <a:lnTo>
                    <a:pt x="984250" y="0"/>
                  </a:lnTo>
                  <a:lnTo>
                    <a:pt x="98425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4457510"/>
            <a:ext cx="16002000" cy="261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2"/>
              </a:lnSpc>
            </a:pPr>
            <a:r>
              <a:rPr lang="en-US" b="true" sz="9600" spc="-288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Construire des agents IA fiables</a:t>
            </a:r>
          </a:p>
          <a:p>
            <a:pPr algn="l">
              <a:lnSpc>
                <a:spcPts val="979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4105668" y="619908"/>
            <a:ext cx="3039332" cy="455634"/>
            <a:chOff x="0" y="0"/>
            <a:chExt cx="800483" cy="120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0483" cy="120002"/>
            </a:xfrm>
            <a:custGeom>
              <a:avLst/>
              <a:gdLst/>
              <a:ahLst/>
              <a:cxnLst/>
              <a:rect r="r" b="b" t="t" l="l"/>
              <a:pathLst>
                <a:path h="120002" w="800483">
                  <a:moveTo>
                    <a:pt x="60001" y="0"/>
                  </a:moveTo>
                  <a:lnTo>
                    <a:pt x="740481" y="0"/>
                  </a:lnTo>
                  <a:cubicBezTo>
                    <a:pt x="756395" y="0"/>
                    <a:pt x="771656" y="6322"/>
                    <a:pt x="782909" y="17574"/>
                  </a:cubicBezTo>
                  <a:cubicBezTo>
                    <a:pt x="794161" y="28826"/>
                    <a:pt x="800483" y="44088"/>
                    <a:pt x="800483" y="60001"/>
                  </a:cubicBezTo>
                  <a:lnTo>
                    <a:pt x="800483" y="60001"/>
                  </a:lnTo>
                  <a:cubicBezTo>
                    <a:pt x="800483" y="75915"/>
                    <a:pt x="794161" y="91176"/>
                    <a:pt x="782909" y="102428"/>
                  </a:cubicBezTo>
                  <a:cubicBezTo>
                    <a:pt x="771656" y="113681"/>
                    <a:pt x="756395" y="120002"/>
                    <a:pt x="740481" y="120002"/>
                  </a:cubicBezTo>
                  <a:lnTo>
                    <a:pt x="60001" y="120002"/>
                  </a:lnTo>
                  <a:cubicBezTo>
                    <a:pt x="44088" y="120002"/>
                    <a:pt x="28826" y="113681"/>
                    <a:pt x="17574" y="102428"/>
                  </a:cubicBezTo>
                  <a:cubicBezTo>
                    <a:pt x="6322" y="91176"/>
                    <a:pt x="0" y="75915"/>
                    <a:pt x="0" y="60001"/>
                  </a:cubicBezTo>
                  <a:lnTo>
                    <a:pt x="0" y="60001"/>
                  </a:lnTo>
                  <a:cubicBezTo>
                    <a:pt x="0" y="44088"/>
                    <a:pt x="6322" y="28826"/>
                    <a:pt x="17574" y="17574"/>
                  </a:cubicBezTo>
                  <a:cubicBezTo>
                    <a:pt x="28826" y="6322"/>
                    <a:pt x="44088" y="0"/>
                    <a:pt x="60001" y="0"/>
                  </a:cubicBezTo>
                  <a:close/>
                </a:path>
              </a:pathLst>
            </a:custGeom>
            <a:solidFill>
              <a:srgbClr val="FBC41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00483" cy="17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78628" y="1156178"/>
            <a:ext cx="3265499" cy="54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3014" spc="-3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3014" spc="-3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3014" spc="-3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7425976"/>
            <a:ext cx="160020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Comprendre la boucle avec du pseudo-code, puis vérifier ses décisions.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8953500"/>
            <a:ext cx="73152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B5B5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BOSSA Chabel · Ingénieur logiciel · ENSGMM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8186" y="8953500"/>
            <a:ext cx="3466814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B5B5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IndabaX Bénin 2026 · Cotonou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8467" y="630238"/>
            <a:ext cx="18537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100">
                <a:solidFill>
                  <a:srgbClr val="2B2B2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ATELIER · V2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02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NOTRE PARCOURS · 50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Vous prenez les décisions. Nous suivons leurs effets.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8036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100" b="1">
                <a:solidFill>
                  <a:srgbClr val="008751"/>
                </a:solidFill>
                <a:latin typeface="Poppin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88036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111713"/>
                </a:solidFill>
                <a:latin typeface="Poppins"/>
              </a:rPr>
              <a:t>Partir de l’alerte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4290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000" b="0">
                <a:solidFill>
                  <a:srgbClr val="53645A"/>
                </a:solidFill>
                <a:latin typeface="Poppins"/>
              </a:rPr>
              <a:t>Comprendre les faits et répartir les rôles.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0" y="301752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008751"/>
                </a:solidFill>
                <a:latin typeface="Poppins"/>
              </a:rPr>
              <a:t>7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78808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100" b="1">
                <a:solidFill>
                  <a:srgbClr val="008751"/>
                </a:solidFill>
                <a:latin typeface="Poppin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178808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111713"/>
                </a:solidFill>
                <a:latin typeface="Poppins"/>
              </a:rPr>
              <a:t>Faire un aller-retour avec l’IA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72744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000" b="0">
                <a:solidFill>
                  <a:srgbClr val="53645A"/>
                </a:solidFill>
                <a:latin typeface="Poppins"/>
              </a:rPr>
              <a:t>Lire un appel, exécuter un outil, renvoyer le résultat.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0" y="4315968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008751"/>
                </a:solidFill>
                <a:latin typeface="Poppins"/>
              </a:rPr>
              <a:t>20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77256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100" b="1">
                <a:solidFill>
                  <a:srgbClr val="008751"/>
                </a:solidFill>
                <a:latin typeface="Poppin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477256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111713"/>
                </a:solidFill>
                <a:latin typeface="Poppins"/>
              </a:rPr>
              <a:t>Construire et protéger la boucle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6025896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000" b="0">
                <a:solidFill>
                  <a:srgbClr val="53645A"/>
                </a:solidFill>
                <a:latin typeface="Poppins"/>
              </a:rPr>
              <a:t>Jouer la mission, puis provoquer deux erreurs.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0" y="5614416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008751"/>
                </a:solidFill>
                <a:latin typeface="Poppins"/>
              </a:rPr>
              <a:t>14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6775704"/>
            <a:ext cx="914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100" b="1">
                <a:solidFill>
                  <a:srgbClr val="008751"/>
                </a:solidFill>
                <a:latin typeface="Poppin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6775704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111713"/>
                </a:solidFill>
                <a:latin typeface="Poppins"/>
              </a:rPr>
              <a:t>Vérifier et réutiliser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7324344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000" b="0">
                <a:solidFill>
                  <a:srgbClr val="53645A"/>
                </a:solidFill>
                <a:latin typeface="Poppins"/>
              </a:rPr>
              <a:t>Lire des tests et expliquer une règle pour son métier.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79040" y="6912864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008751"/>
                </a:solidFill>
                <a:latin typeface="Poppins"/>
              </a:rPr>
              <a:t>9 min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 xmlns:r="http://schemas.openxmlformats.org/officeDocument/2006/relationships"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03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VOTRE MISSION · KORACARE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09:42 : une clinique signale une hausse de température.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80360"/>
            <a:ext cx="5486400" cy="5166360"/>
          </a:xfrm>
          <a:prstGeom prst="roundRect">
            <a:avLst>
              <a:gd name="adj" fmla="val 8000"/>
            </a:avLst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79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Alerte CC-204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Poppins"/>
              </a:rPr>
              <a:t>Clinique KCARE-ADJ-01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Poppins"/>
              </a:rPr>
              <a:t>12,4 °C depuis 52 min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FFFFFF"/>
                </a:solidFill>
                <a:latin typeface="Poppins"/>
              </a:rPr>
              <a:t>Vaccins · lot VX-204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80360"/>
            <a:ext cx="9784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0">
                <a:solidFill>
                  <a:srgbClr val="111713"/>
                </a:solidFill>
                <a:latin typeface="Poppins"/>
              </a:rPr>
              <a:t>Le réfrigérateur de la clinique a déclenché une alerte. Votre équipe doit vérifier les mesures et retrouver la procédure à suivre.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39496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1">
                <a:solidFill>
                  <a:srgbClr val="008751"/>
                </a:solidFill>
                <a:latin typeface="Poppins"/>
              </a:rPr>
              <a:t>Vous êtes l’équipe de garde.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172200"/>
            <a:ext cx="9784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111713"/>
                </a:solidFill>
                <a:latin typeface="Poppins"/>
              </a:rPr>
              <a:t>Préparez un dossier justifié par des faits et une décision d’opérateur simulé.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8961120"/>
            <a:ext cx="1600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Exercice fictif : données, procédures et opérateur simulés. Aucun acte médical ni aucune action physique.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04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ATELIER GUIDÉ ·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12,4 °C : une mesure, pas une moyenne.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008751"/>
                </a:solidFill>
                <a:latin typeface="Poppins"/>
              </a:rPr>
              <a:t>Ce que l’on 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Le capteur indique 12,4 °C. L’excursion dure 52 minutes. Son état est OK.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416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420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111713"/>
                </a:solidFill>
                <a:latin typeface="Poppins"/>
              </a:rPr>
              <a:t>La règle de cet exercice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La plage de référence est 2–8 °C. Au-dessus de 8 °C pendant au moins 30 minutes, le cas est critique.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8532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0536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BE2440"/>
                </a:solidFill>
                <a:latin typeface="Poppins"/>
              </a:rPr>
              <a:t>Ce que l’on doit 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0536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Consulter la procédure, qualifier le risque et obtenir la revue requise. La proposition de transfert reste simulée.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726679"/>
            <a:ext cx="1600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1">
                <a:solidFill>
                  <a:srgbClr val="008751"/>
                </a:solidFill>
                <a:latin typeface="Poppins"/>
              </a:rPr>
              <a:t>Données et règles fictives du lab : aucune intervention physique ni décision médicale réelle.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05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ATELIER GUIDÉ ·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Trois rôles à garder en tête.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008751"/>
                </a:solidFill>
                <a:latin typeface="Poppins"/>
              </a:rPr>
              <a:t>Le modèle propose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Il reçoit une demande et un contexte. Il propose une réponse ou un appel d’outil.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416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420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111713"/>
                </a:solidFill>
                <a:latin typeface="Poppins"/>
              </a:rPr>
              <a:t>Python contrôle et exécute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Notre programme vérifie la demande, appelle la fonction et conserve son résultat.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8532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0536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BE2440"/>
                </a:solidFill>
                <a:latin typeface="Poppins"/>
              </a:rPr>
              <a:t>L’opérateur décide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0536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Pour ce cas critique, un opérateur doit approuver l’action proposée. Son rôle est simulé dans le lab.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726679"/>
            <a:ext cx="1600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1">
                <a:solidFill>
                  <a:srgbClr val="008751"/>
                </a:solidFill>
                <a:latin typeface="Poppins"/>
              </a:rPr>
              <a:t>Un appel proposé par le modèle ne constitue pas une action déjà exécutée.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 xmlns:r="http://schemas.openxmlformats.org/officeDocument/2006/relationships"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06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Commencer par une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demande ← « Examine l’alerte KCARE-ADJ-01 »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historique ← [consigne, demande]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réponse ← interroger_IA(historique, outils = [])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afficher(réponse.texte)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← signifie « conserver la valeur ».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L’historique contient les messages.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Une liste vide [] signifie : aucun outil disponible.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interroger_IA est un nom pédagogique.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Exemple illustratif : « Il me faut une mesure et la procédure. » La formulation réelle peut varier.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L’IA peut-elle vérifier le capteur ici 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 xmlns:r="http://schemas.openxmlformats.org/officeDocument/2006/relationships"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07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Définir une fonction ne la lance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DÉFINIR lire_clinique(identifiant)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RENVOYER données_locales[identifiant]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mesure ← lire_clinique("KCARE-ADJ-01")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afficher(mesure)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DÉFINIR prépare une recette.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L’appel avec un identifiant l’exécute.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La valeur renvoyée est stockée dans mesure. Ici, les données sont locales et fictives.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Après l’appel : température = 12,4 °C ; durée = 52 min ; capteur = 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À quelle ligne le travail se fait-il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 xmlns:r="http://schemas.openxmlformats.org/officeDocument/2006/relationships"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08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Expliquer au modèle l’outil disponible.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outil ← {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nom : "get_clinic_status",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description : "Lire l’état d’une clinique",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argument : clinic_id, texte obligatoire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}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outils ← [outil]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 schéma décrit le nom, le rôle et les arguments attendus.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clinic_id veut dire « identifiant de clinique ».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 développeur écrit la fonction et cette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Le modèle voit une description de l’outil. Python conserve la fonction à exécuter.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Le modèle devine-t-il nos fonctions cachées 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 xmlns:r="http://schemas.openxmlformats.org/officeDocument/2006/relationships"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09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Avec l’outil, la réponse peut devenir une demande.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réponse ← interroger_IA(historique, outils)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appel proposé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nom = "get_clinic_status"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arguments = {clinic_id: "KCARE-ADJ-01"}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 appel contient le nom de l’outil et les valeurs à lui transmettre.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Les accolades regroupent des champs nommés.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 modèle propose. Rien n’est encore exécuté.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Proposition illustrative du premier tour. La mesure sera connue après exécution.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Avons-nous déjà lu la température 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10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Python retrouve la fonction et vérifie l’appel.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outil inconnu OU arguments invalides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arrêter avec une erreur explicite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SINON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fonction ← registre[appel.nom]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résultat ← fonction(appel.arguments)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conserver le résultat dans la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 registre relie un nom à une fonction Python déjà écrite.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La validation contrôle les champs obligatoires et leurs types.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Cette écriture simplifie le passage des arguments.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get_clinic_status reçoit clinic_id et renvoie 12,4 °C, 52 min, capteur 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Un appel bien écrit est-il toujours cohérent 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11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Renvoyer le résultat au modèle.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ajouter(historique, proposition_du_modèle)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ajouter(historique, résultat_de_l’outil)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suite ← interroger_IA(historique, outils)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 modèle ne voit pas spontanément ce qui s’est passé dans Python.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Nous ajoutons sa demande puis la réponse de l’outil, liées au même appel.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C’est un nouvel appel à l’IA.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Le nouveau contexte contient la mesure réellement lue. Le modèle peut demander la procédure.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Que perd-on si le résultat n’est pas ajouté 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12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ATELIER GUIDÉ ·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Prédisez le prochain outil.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80360"/>
            <a:ext cx="779526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79"/>
            <a:ext cx="71551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008751"/>
                </a:solidFill>
                <a:latin typeface="Poppins"/>
              </a:rPr>
              <a:t>Ce que nous savons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71551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Clinique KCARE-ADJ-01 ; température 12,4 °C ; durée 52 min ; capteur OK.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49740" y="2880360"/>
            <a:ext cx="779526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9780" y="3154679"/>
            <a:ext cx="71551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111713"/>
                </a:solidFill>
                <a:latin typeface="Poppins"/>
              </a:rPr>
              <a:t>Trois propositions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9780" y="4206240"/>
            <a:ext cx="71551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A. Déclarer le stock sûr.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B. Chercher la procédure.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C. Inventer une température normale.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726679"/>
            <a:ext cx="1600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1">
                <a:solidFill>
                  <a:srgbClr val="008751"/>
                </a:solidFill>
                <a:latin typeface="Poppins"/>
              </a:rPr>
              <a:t>Votez, puis justifiez votre choix avec une information qui manque encore.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13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Construire la boucle : le modèle choisit la suite.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RÉPÉTER au maximum 8 tours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réponse ← interroger_IA(historique, outils)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SI réponse contient un appel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    exécuter avec contrôles et tracer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    ajouter appel et résultat à l’historique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SINON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    vérifier les preuves puis conclure ou bloquer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    TERMINER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ARRÊTER si la limite est atteinte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 tour = une nouvelle proposition du modèle.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Une observation prépare le tour suivant.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Les contrôles et l’arrêt restent sous la responsabilité du programme.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Vue simplifiée : un appel à la fois. Les erreurs et répétitions seront détaillées ensuite.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Qu’est-ce qui décide de la prochaine étape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14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Dans le notebook, qui est client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client ← créer_client(mode_choisi)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client.mode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client.complete(messages, outils)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client est une variable qui garde un objet.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.mode est un attribut : une valeur que l’on lit.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.complete(...) est une méthode : une fonction que l’on appelle sur cet objet.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Le contrat fourni annonce mode et complete avant leur utilisation. selected_client désigne le client reçu en paramètre.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mode et complete sont-ils tous les deux des méthodes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15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Faire le lien avec les vraies lignes Python.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PYTHON RÉEL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# Python réel : noms définis dans le notebook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def propose_tool(messages, selected_client):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turn = selected_client.complete(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    messages, TOOL_SCHEMAS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calls = turn.tool_calls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call = calls[0] if calls else None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return turn,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messages : l’historique reçu.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selected_client : le client reçu.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TOOL_SCHEMAS : les descriptions fournies.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turn : la réponse.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tool_calls : la liste d’appels proposés.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[0] : le premier ; None : aucun.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Cette cellule définit la fonction. Une cellule suivante l’appelle avec l’historique et le client choisi.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D’où vient selected_client dans cette fonction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16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LA BOÎTE À OUTILS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Jouons la mission complète.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880360"/>
            <a:ext cx="16002000" cy="731520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026664"/>
            <a:ext cx="4471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026664"/>
            <a:ext cx="59801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Outil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46152" y="3026664"/>
            <a:ext cx="42885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Résultat attendu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611880"/>
            <a:ext cx="16002000" cy="91440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3776472"/>
            <a:ext cx="44714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111713"/>
                </a:solidFill>
                <a:latin typeface="Poppins"/>
              </a:rPr>
              <a:t>Que mesure le capteur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776472"/>
            <a:ext cx="59801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111713"/>
                </a:solidFill>
                <a:latin typeface="DejaVu Sans Mono"/>
              </a:rPr>
              <a:t>get_clinic_status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46152" y="3776472"/>
            <a:ext cx="428853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0">
                <a:solidFill>
                  <a:srgbClr val="111713"/>
                </a:solidFill>
                <a:latin typeface="Poppins"/>
              </a:rPr>
              <a:t>La télémétrie de la clinique.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526280"/>
            <a:ext cx="16002000" cy="91440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4690872"/>
            <a:ext cx="44714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111713"/>
                </a:solidFill>
                <a:latin typeface="Poppins"/>
              </a:rPr>
              <a:t>Quelle procédure appliquer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4690872"/>
            <a:ext cx="59801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111713"/>
                </a:solidFill>
                <a:latin typeface="DejaVu Sans Mono"/>
              </a:rPr>
              <a:t>search_cold_chain_sop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46152" y="4690872"/>
            <a:ext cx="428853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0">
                <a:solidFill>
                  <a:srgbClr val="111713"/>
                </a:solidFill>
                <a:latin typeface="Poppins"/>
              </a:rPr>
              <a:t>La procédure locale retrouvée.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5440680"/>
            <a:ext cx="16002000" cy="91440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5605272"/>
            <a:ext cx="44714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111713"/>
                </a:solidFill>
                <a:latin typeface="Poppins"/>
              </a:rPr>
              <a:t>Que disent les règles du lab 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5605272"/>
            <a:ext cx="59801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111713"/>
                </a:solidFill>
                <a:latin typeface="DejaVu Sans Mono"/>
              </a:rPr>
              <a:t>assess_excursion_risk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46152" y="5605272"/>
            <a:ext cx="428853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0">
                <a:solidFill>
                  <a:srgbClr val="111713"/>
                </a:solidFill>
                <a:latin typeface="Poppins"/>
              </a:rPr>
              <a:t>La gravité et l’action proposée.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6355080"/>
            <a:ext cx="16002000" cy="91440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3312" y="6519672"/>
            <a:ext cx="44714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111713"/>
                </a:solidFill>
                <a:latin typeface="Poppins"/>
              </a:rPr>
              <a:t>Comment documenter l’alerte 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6519672"/>
            <a:ext cx="59801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111713"/>
                </a:solidFill>
                <a:latin typeface="DejaVu Sans Mono"/>
              </a:rPr>
              <a:t>create_incident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46152" y="6519672"/>
            <a:ext cx="428853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0">
                <a:solidFill>
                  <a:srgbClr val="111713"/>
                </a:solidFill>
                <a:latin typeface="Poppins"/>
              </a:rPr>
              <a:t>Un identifiant de dossier.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7269480"/>
            <a:ext cx="16002000" cy="91440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" y="7434072"/>
            <a:ext cx="44714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111713"/>
                </a:solidFill>
                <a:latin typeface="Poppins"/>
              </a:rPr>
              <a:t>L’opérateur approuve-t-il 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7434072"/>
            <a:ext cx="59801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111713"/>
                </a:solidFill>
                <a:latin typeface="DejaVu Sans Mono"/>
              </a:rPr>
              <a:t>request_human_review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46152" y="7434072"/>
            <a:ext cx="428853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0">
                <a:solidFill>
                  <a:srgbClr val="111713"/>
                </a:solidFill>
                <a:latin typeface="Poppins"/>
              </a:rPr>
              <a:t>Une décision liée à cet incident.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84582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Le chemin dépend de la demande. Les règles d’autorisation restent dans le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17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Appliquer une règle connue, sans la réinventer.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capteur indisponible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risque ← INCONNU ; demander une inspection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SINON SI température &gt; 8 ET durée ≥ 30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risque ← CRITIQUE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proposition ← QUARANTINE_AND_TRANSFER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revue_humaine_requise ← vrai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Extrait des règles du lab, pas toute la fonction.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assess_excursion_risk applique ces règles déterministes.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 modèle choisit de l’appeler ; il ne fixe pas le seuil.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12,4 &gt; 8 et 52 ≥ 30 : le cas est CRITICAL et exige une revue. Aucun transfert réel.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Qui calcule ici le niveau de risque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18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Première panne : la mesure a changé en route.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mesure_observée ← 12,4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valeur_proposée ← 5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valeur_proposée ≠ mesure_observée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refuser l’appel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tracer « mesure altérée »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arrêter proprement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5 est bien un nombre : le type est valide.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Mais cette valeur ne correspond pas au résultat du capteur.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Il faut vérifier la provenance, pas seulement le format.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Le calcul du risque est refusé. Un argument numérique valide peut être factuellement faux.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Pourquoi une simple validation de type ne suffit-elle pas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19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LE CONTRE-EXEMPLE · MISSING_APPROVAL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Le modèle dit « résolu ». Peut-on accepter sa réponse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34640"/>
            <a:ext cx="7726679" cy="41148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08960"/>
            <a:ext cx="70865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BE2440"/>
                </a:solidFill>
                <a:latin typeface="Poppins"/>
              </a:rPr>
              <a:t>La réponse proposée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0520"/>
            <a:ext cx="708659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>« Tout est sûr ; l’incident est résolu. »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>Le modèle vient de lire la mesure, la procédure et le niveau de risque.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834640"/>
            <a:ext cx="7772400" cy="41148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10896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008751"/>
                </a:solidFill>
                <a:latin typeface="Poppins"/>
              </a:rPr>
              <a:t>Ce que montre la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160520"/>
            <a:ext cx="713232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>Le risque exige une revue.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>Aucun dossier créé.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700" b="0">
                <a:solidFill>
                  <a:srgbClr val="111713"/>
                </a:solidFill>
                <a:latin typeface="Poppins"/>
              </a:rPr>
              <a:t>Aucune approbation enregistrée.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7360920"/>
            <a:ext cx="16002000" cy="1234440"/>
          </a:xfrm>
          <a:prstGeom prst="roundRect">
            <a:avLst>
              <a:gd name="adj" fmla="val 8000"/>
            </a:avLst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7607808"/>
            <a:ext cx="1527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1">
                <a:solidFill>
                  <a:srgbClr val="FFFFFF"/>
                </a:solidFill>
                <a:latin typeface="Poppins"/>
              </a:rPr>
              <a:t>Python bloque la conclusion : stopped / review_required. Il manque l’accord requis.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8961120"/>
            <a:ext cx="1600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Réponse volontairement fautive du simulateur : « Everything is safe; incident resolved. 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20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Autoriser la conclusion à partir des preuves.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preuves insuffisantes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bloquer la conclusion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SINON SI revue requise ET accord non conforme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arrêter : revue requise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SINON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rendre le compte rendu avec ses preuves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Accord conforme = APPROVED, pour le bon incident et la bonne action.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Les mesures et la gravité doivent aussi être cohérentes.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Une demande d’accord ne vaut pas approbation.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Cas critique approuvé : dossier escaladé avec décision enregistrée. Cela ne prouve pas un transfert physique.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Un accord pour un autre incident suffit-il 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21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Éviter une boucle sans fin.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même outil ET mêmes arguments déjà exécutés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arrêter : appel répété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outil en erreur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tracer l’erreur puis arrêter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SI 8 tours atteints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arrêter : limite atteinte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Une répétition est ici un appel strictement identique.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La limite de tours borne aussi les autres boucles.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Ces arrêts sont des protections du programme.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Dans ce lab, les erreurs d’outils provoquent un arrêt contrôlé ; elles ne déclenchent pas une réparation automatique.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Pourquoi garder une limite même avec l’anti-répétition 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22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LA 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Retrouver la preuve derrière chaque étape.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880360"/>
            <a:ext cx="16002000" cy="731520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026664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Étape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026664"/>
            <a:ext cx="6071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Information conservée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68912" y="3026664"/>
            <a:ext cx="50657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Ce que l’on vérifie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611880"/>
            <a:ext cx="16002000" cy="109728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3776472"/>
            <a:ext cx="360273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Mesure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3776472"/>
            <a:ext cx="607161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12,4 °C ; 52 min ; capteur 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68912" y="3776472"/>
            <a:ext cx="506577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Les faits viennent de l’outil.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709160"/>
            <a:ext cx="16002000" cy="109728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4873752"/>
            <a:ext cx="360273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Risque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4873752"/>
            <a:ext cx="607161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CRITICAL ; revue requise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68912" y="4873752"/>
            <a:ext cx="506577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Les arguments reprennent les faits.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5806440"/>
            <a:ext cx="16002000" cy="109728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5971031"/>
            <a:ext cx="360273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Incident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971031"/>
            <a:ext cx="607161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Identifiant du dossier créé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68912" y="5971031"/>
            <a:ext cx="506577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Le dossier correspond à la clinique.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6903720"/>
            <a:ext cx="16002000" cy="109728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3312" y="7068312"/>
            <a:ext cx="360273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Revue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672" y="7068312"/>
            <a:ext cx="607161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Décision et action approuvée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68912" y="7068312"/>
            <a:ext cx="506577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L’accord vise ce même incident.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84582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Exemple de parcours simulé. La trace réelle garde aussi arguments, erreurs et durée.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23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UNE ÉVALUATION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Un test passe quand le comportement attendu est respecté.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880360"/>
            <a:ext cx="16002000" cy="731520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026664"/>
            <a:ext cx="4517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Scénario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026664"/>
            <a:ext cx="4379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Résultat attendu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3026664"/>
            <a:ext cx="4379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92272" y="3026664"/>
            <a:ext cx="1042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3611880"/>
            <a:ext cx="16002000" cy="100584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3312" y="3776472"/>
            <a:ext cx="45171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Alerte critique complète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77647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human_approved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377647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human_approved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92272" y="3776472"/>
            <a:ext cx="10424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4617720"/>
            <a:ext cx="16002000" cy="100584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3312" y="4782312"/>
            <a:ext cx="45171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Aucune investigation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78231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478231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92272" y="4782312"/>
            <a:ext cx="10424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623560"/>
            <a:ext cx="16002000" cy="100584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53312" y="5788152"/>
            <a:ext cx="45171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Approbation absente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578815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review_required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578815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review_required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92272" y="5788152"/>
            <a:ext cx="10424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6629400"/>
            <a:ext cx="16002000" cy="100584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" y="6793992"/>
            <a:ext cx="45171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111713"/>
                </a:solidFill>
                <a:latin typeface="Poppins"/>
              </a:rPr>
              <a:t>Appel identique répété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679399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blocked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793992"/>
            <a:ext cx="43799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0">
                <a:solidFill>
                  <a:srgbClr val="111713"/>
                </a:solidFill>
                <a:latin typeface="Poppins"/>
              </a:rPr>
              <a:t>blocked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892272" y="6793992"/>
            <a:ext cx="10424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8458200"/>
            <a:ext cx="1600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</a:rPr>
              <a:t>L’arrêt peut être le résultat correct : les tests vérifient aussi les refus attendus.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8961120"/>
            <a:ext cx="1600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Extraits de la solution : dix scénarios déterministes, dont sept erreurs volontaires. Aucun appel API.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24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LIRE → PRÉDIRE → EXPLIQUER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000" b="1">
                <a:solidFill>
                  <a:srgbClr val="111713"/>
                </a:solidFill>
                <a:latin typeface="Poppins"/>
              </a:rPr>
              <a:t>Un test compare le comportement à une attente.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53645A"/>
                </a:solidFill>
                <a:latin typeface="Poppins"/>
              </a:rPr>
              <a:t>PSEUDO-CODE · À LIRE, PAS À COPIER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154680"/>
            <a:ext cx="9784080" cy="4023360"/>
          </a:xfrm>
          <a:prstGeom prst="roundRect">
            <a:avLst>
              <a:gd name="adj" fmla="val 8000"/>
            </a:avLst>
          </a:prstGeom>
          <a:solidFill>
            <a:srgbClr val="11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429000"/>
            <a:ext cx="92354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POUR chaque scénario préparé :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résultat ← lancer_agent(scénario)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vérifier outils, arguments et preuves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vérifier arrêt ou conclusion attendue</a:t>
            </a:r>
          </a:p>
          <a:p>
            <a:pPr>
              <a:lnSpc>
                <a:spcPct val="113000"/>
              </a:lnSpc>
              <a:spcAft>
                <a:spcPts val="300"/>
              </a:spcAft>
            </a:pPr>
            <a:r>
              <a:rPr sz="2200" b="0">
                <a:solidFill>
                  <a:srgbClr val="FFFFFF"/>
                </a:solidFill>
                <a:latin typeface="DejaVu Sans Mono"/>
              </a:rPr>
              <a:t>    PASS ← toutes les vérifications sont vraies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6060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700" b="1">
                <a:solidFill>
                  <a:srgbClr val="008751"/>
                </a:solidFill>
                <a:latin typeface="Poppins"/>
              </a:rPr>
              <a:t>COMMENT LE LIRE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320040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Une évaluation décrit à l’avance ce qui doit arriver.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Les dix scénarios du lab utilisent un simulateur déterministe.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/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Ils testent les protections, pas la qualité générale de Gemini.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7360920"/>
            <a:ext cx="16002000" cy="91440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7525512"/>
            <a:ext cx="154533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200" b="1">
                <a:solidFill>
                  <a:srgbClr val="008751"/>
                </a:solidFill>
                <a:latin typeface="Poppins"/>
              </a:rPr>
              <a:t>10/10 signifie que ces dix cas passent. Cela ne garantit ni tous les futurs cas ni les choix du modèle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59536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1">
                <a:solidFill>
                  <a:srgbClr val="111713"/>
                </a:solidFill>
                <a:latin typeface="Poppins"/>
              </a:rPr>
              <a:t>À VOUS · Que devrait-il arriver si on retire une protection 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25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ATELIER GUIDÉ ·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Si Gemini ne répond pas, on garde le fil.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008751"/>
                </a:solidFill>
                <a:latin typeface="Poppins"/>
              </a:rPr>
              <a:t>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L’IA produit de nouvelles propositions. La connexion, la clé et le service doivent fonctionner.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416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420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111713"/>
                </a:solidFill>
                <a:latin typeface="Poppins"/>
              </a:rPr>
              <a:t>Mock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Un simulateur suit des réponses préparées. Il permet d’observer les mêmes contrôles ; ce n’est pas une IA en direct.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85320" y="2880360"/>
            <a:ext cx="5059680" cy="4526280"/>
          </a:xfrm>
          <a:prstGeom prst="roundRect">
            <a:avLst>
              <a:gd name="adj" fmla="val 8000"/>
            </a:avLst>
          </a:prstGeom>
          <a:solidFill>
            <a:srgbClr val="EF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05360" y="3154679"/>
            <a:ext cx="441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000" b="1">
                <a:solidFill>
                  <a:srgbClr val="BE2440"/>
                </a:solidFill>
                <a:latin typeface="Poppins"/>
              </a:rPr>
              <a:t>Sans notebook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05360" y="4206240"/>
            <a:ext cx="4419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0">
                <a:solidFill>
                  <a:srgbClr val="111713"/>
                </a:solidFill>
                <a:latin typeface="Poppins"/>
              </a:rPr>
              <a:t>On joue les rôles avec ces slides : proposition, contrôle, résultat, suite. Tout le raisonnement reste visible.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726679"/>
            <a:ext cx="1600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500" b="1">
                <a:solidFill>
                  <a:srgbClr val="008751"/>
                </a:solidFill>
                <a:latin typeface="Poppins"/>
              </a:rPr>
              <a:t>Si l’API bloque : annoncer le changement, choisir mock dans le setup, puis relancer les cellules dans l’ordre.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26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REPARTIR AVEC LES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Le notebook prolonge ce que vous venez d’expliquer.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3464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008751"/>
                </a:solidFill>
                <a:latin typeface="Poppins"/>
                <a:hlinkClick r:id="rId3"/>
              </a:rPr>
              <a:t>La V2 et son guide d’animation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7472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Reprendre les pseudo-codes et les questions du groupe.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7200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008751"/>
                </a:solidFill>
                <a:latin typeface="Poppins"/>
                <a:hlinkClick r:id="rId4"/>
              </a:rPr>
              <a:t>Notebook solution français · ouvrir dans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1208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Observer les cellules déjà complétées ; exécuter dans l’ordre.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30936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900" b="1">
                <a:solidFill>
                  <a:srgbClr val="008751"/>
                </a:solidFill>
                <a:latin typeface="Poppins"/>
                <a:hlinkClick r:id="rId5"/>
              </a:rPr>
              <a:t>Notebook participant français · pour s’exercer ensuite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94944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400" b="0">
                <a:solidFill>
                  <a:srgbClr val="111713"/>
                </a:solidFill>
                <a:latin typeface="Poppins"/>
              </a:rPr>
              <a:t>Compléter les quatre décisions d’orchestration à votre rythme.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4" id="14"/>
          <p:cNvGrpSpPr/>
          <p:nvPr/>
        </p:nvGrpSpPr>
        <p:grpSpPr>
          <a:xfrm rot="0">
            <a:off x="1143000" y="9623298"/>
            <a:ext cx="393668" cy="457200"/>
            <a:chOff x="0" y="0"/>
            <a:chExt cx="524891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891" cy="609600"/>
            </a:xfrm>
            <a:custGeom>
              <a:avLst/>
              <a:gdLst/>
              <a:ahLst/>
              <a:cxnLst/>
              <a:rect r="r" b="b" t="t" l="l"/>
              <a:pathLst>
                <a:path h="6096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89068" y="9699498"/>
            <a:ext cx="157762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Indaba</a:t>
            </a:r>
            <a:r>
              <a:rPr lang="en-US" b="true" sz="1650">
                <a:solidFill>
                  <a:srgbClr val="008751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r>
              <a:rPr lang="en-US" b="true" sz="1650">
                <a:solidFill>
                  <a:srgbClr val="0A0A0A"/>
                </a:solidFill>
                <a:latin typeface="Poppins Bold"/>
                <a:ea typeface="Poppins Bold"/>
                <a:cs typeface="Poppins Bold"/>
                <a:sym typeface="Poppins Bold"/>
              </a:rPr>
              <a:t> Bénin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64840" y="9646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700"/>
              </a:spcAft>
            </a:pPr>
            <a:r>
              <a:rPr sz="1700" b="0">
                <a:solidFill>
                  <a:srgbClr val="53645A"/>
                </a:solidFill>
                <a:latin typeface="Poppins"/>
              </a:rPr>
              <a:t>27 /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13232"/>
            <a:ext cx="1600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1900" b="1">
                <a:solidFill>
                  <a:srgbClr val="008751"/>
                </a:solidFill>
                <a:latin typeface="Poppins"/>
              </a:rPr>
              <a:t>MERCI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325880"/>
            <a:ext cx="1600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4300" b="1">
                <a:solidFill>
                  <a:srgbClr val="111713"/>
                </a:solidFill>
                <a:latin typeface="Poppins"/>
              </a:rPr>
              <a:t>Pouvez-vous expliquer un agent avec vos mots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71800"/>
            <a:ext cx="107899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3500" b="1">
                <a:solidFill>
                  <a:srgbClr val="008751"/>
                </a:solidFill>
                <a:latin typeface="Poppins"/>
              </a:rPr>
              <a:t>Nommez un outil, son résultat et une raison de bloquer la suite.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3212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600" b="0">
                <a:solidFill>
                  <a:srgbClr val="111713"/>
                </a:solidFill>
                <a:latin typeface="Poppins"/>
              </a:rPr>
              <a:t>En binôme : une personne raconte la boucle ; l’autre demande « quelle preuve ? 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7726679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100" b="0">
                <a:solidFill>
                  <a:srgbClr val="53645A"/>
                </a:solidFill>
                <a:latin typeface="Poppins"/>
              </a:rPr>
              <a:t>BOSSA Chabel · Ingénieur logiciel · ENSGMM</a:t>
            </a:r>
          </a:p>
          <a:p>
            <a:pPr>
              <a:lnSpc>
                <a:spcPct val="113000"/>
              </a:lnSpc>
              <a:spcAft>
                <a:spcPts val="700"/>
              </a:spcAft>
            </a:pPr>
            <a:r>
              <a:rPr sz="2100" b="0">
                <a:solidFill>
                  <a:srgbClr val="53645A"/>
                </a:solidFill>
                <a:latin typeface="Poppins"/>
              </a:rPr>
              <a:t>github.com/chabelbossa · linkedin.com/in/chabel-holdo-bossa</a:t>
            </a:r>
          </a:p>
        </p:txBody>
      </p:sp>
      <p:pic>
        <p:nvPicPr>
          <p:cNvPr id="23" name="Picture 22" descr="repository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0" y="3063240"/>
            <a:ext cx="3200400" cy="3200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18720" y="6537960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  <a:hlinkClick r:id="rId4"/>
              </a:rPr>
              <a:t>Code et notebooks</a:t>
            </a:r>
          </a:p>
          <a:p>
            <a:pPr algn="ctr">
              <a:lnSpc>
                <a:spcPct val="113000"/>
              </a:lnSpc>
              <a:spcAft>
                <a:spcPts val="700"/>
              </a:spcAft>
            </a:pPr>
            <a:r>
              <a:rPr sz="2300" b="1">
                <a:solidFill>
                  <a:srgbClr val="008751"/>
                </a:solidFill>
                <a:latin typeface="Poppins"/>
                <a:hlinkClick r:id="rId4"/>
              </a:rPr>
              <a:t>Scannez pour ouvrir le dépôt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DAHSZyL3yQI</dc:identifier>
  <dcterms:modified xsi:type="dcterms:W3CDTF">2011-08-01T06:04:30Z</dcterms:modified>
  <cp:revision>1</cp:revision>
  <dc:title>IndabaX Bénin — Speaker Deck Template</dc:title>
</cp:coreProperties>
</file>