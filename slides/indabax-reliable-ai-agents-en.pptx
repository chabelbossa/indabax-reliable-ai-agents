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38"/>
    <p:sldId id="269" r:id="rId39"/>
    <p:sldId id="270" r:id="rId40"/>
    <p:sldId id="271" r:id="rId41"/>
    <p:sldId id="272" r:id="rId42"/>
    <p:sldId id="273" r:id="rId43"/>
    <p:sldId id="274" r:id="rId44"/>
    <p:sldId id="275" r:id="rId45"/>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
      <p:font typeface="Poppins Medium" charset="1" panose="00000600000000000000"/>
      <p:regular r:id="rId23"/>
    </p:embeddedFont>
    <p:embeddedFont>
      <p:font typeface="Poppins Semi-Bold" charset="1" panose="00000700000000000000"/>
      <p:regular r:id="rId24"/>
    </p:embeddedFont>
    <p:embeddedFont>
      <p:font typeface="Arimo" charset="1" panose="020B0604020202020204"/>
      <p:regular r:id="rId26"/>
    </p:embeddedFont>
    <p:embeddedFont>
      <p:font typeface="Arimo Bold" charset="1" panose="020B0704020202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theme" Target="theme/theme2.xml"/><Relationship Id="rId20" Type="http://schemas.openxmlformats.org/officeDocument/2006/relationships/notesSlide" Target="notesSlides/notesSlide1.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notesSlide" Target="notesSlides/notesSlide2.xml"/><Relationship Id="rId26" Type="http://schemas.openxmlformats.org/officeDocument/2006/relationships/font" Target="fonts/font26.fntdata"/><Relationship Id="rId27" Type="http://schemas.openxmlformats.org/officeDocument/2006/relationships/notesSlide" Target="notesSlides/notesSlide3.xml"/><Relationship Id="rId28" Type="http://schemas.openxmlformats.org/officeDocument/2006/relationships/notesSlide" Target="notesSlides/notesSlide4.xml"/><Relationship Id="rId29" Type="http://schemas.openxmlformats.org/officeDocument/2006/relationships/notesSlide" Target="notesSlides/notesSlide5.xml"/><Relationship Id="rId30" Type="http://schemas.openxmlformats.org/officeDocument/2006/relationships/notesSlide" Target="notesSlides/notesSlide6.xml"/><Relationship Id="rId31" Type="http://schemas.openxmlformats.org/officeDocument/2006/relationships/notesSlide" Target="notesSlides/notesSlide7.xml"/><Relationship Id="rId32" Type="http://schemas.openxmlformats.org/officeDocument/2006/relationships/font" Target="fonts/font32.fntdata"/><Relationship Id="rId33" Type="http://schemas.openxmlformats.org/officeDocument/2006/relationships/notesSlide" Target="notesSlides/notesSlide8.xml"/><Relationship Id="rId34" Type="http://schemas.openxmlformats.org/officeDocument/2006/relationships/notesSlide" Target="notesSlides/notesSlide9.xml"/><Relationship Id="rId35" Type="http://schemas.openxmlformats.org/officeDocument/2006/relationships/notesSlide" Target="notesSlides/notesSlide10.xml"/><Relationship Id="rId36" Type="http://schemas.openxmlformats.org/officeDocument/2006/relationships/notesSlide" Target="notesSlides/notesSlide11.xml"/><Relationship Id="rId37" Type="http://schemas.openxmlformats.org/officeDocument/2006/relationships/notesSlide" Target="notesSlides/not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0:00. State the promise: investigate an alert with an agent, observe a failure and test the correction. French is the primary workshop language. Briefly introduce your software engineering and mathematical modeling background.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0:00–0:01. The slides accompany the notebook. The 31-minute block includes four minutes of setup and checkpoints 1–3. Preserve time for evaluation and discussion.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0:01–0:03. Ask who used ChatGPT in 2022 and who uses it today, with a show of hands. Take two twenty-second examples. These dates compare personal experience, not a product feature timeline. Ask which tasks need outside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0:03–0:04. KoraCare is fictional. Read the alert. Participants are the team on duty. Ask what they would check first. The goal is a dossier reviewed by a simulated operator, not a physical intervention.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0:04–0:05. An LLM is a language model trained to generate text, code or structured calls. ChatGPT is an application. An agent is also an application: the model chooses some steps based on observations. These are not three separate products.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0:05–0:06. Point to the function name and clinic_id argument. This is a simplified representation of the Python ToolCall, not Gemini’s raw wire format. The function is provided. Ask which panel is a request and which contains a result. Tools can also return errors.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0:06–0:07. Follow the arrows. An observation is a tool result returned to the model. History keeps both the proposed call and its result. Code can reject a call at each turn. When the model proposes a final answer, code checks the evidence before returning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0:07–0:08. Deterministic example from the solution. First turn: get_clinic_status. The result enters history. On the next turn, search_cold_chain_sop retrieves the procedure. Ask why a conclusion based on the reading alone would be premature.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0:08–0:09. Link each tool to a question. The definitions are provided; participants build the orchestration. The critical mission follows all five steps. A status-only request can use just the first tool. The operator is simulated.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0:09–0:10. The notebook starts with the client contract and a chat without tools. Introduce the failures before their implementation. Each becomes observable in the notebook. From 10 to 14 minutes, open the notebook and run setup. Form pairs and predict the first call before checkpoint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0:14–0:22. Setup is complete. Model role: predict the tool and arguments. Orchestrator role: explain why this function can answer the question. Read the client contract, observe chat without tools, then request a tool using the selected client. The mode is displayed. At minute 22, provide this checkpoint’s solution if needed.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0:22–0:31. Execution and tracing are provided: run them and inspect the result. TODO 2: keep the assistant proposal and tool result. Read one trace entry. Ask what the next turn would be missing without this observation.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0:31–0:41. Swap roles. Use slide 14 for the missing-approval example, then return here. Observe the fault, complete the TODO 3 condition, replay the same fault, then run the mission. Choose another fault: altered measurement, rejected approval or repetition. Rerun a corrected mission before evaluating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checkpoint 3, then briefly recall at 0:41. Ask for a vote before reading the right column. The adverse client concludes after assess_excursion_risk. It has neither created an incident nor requested review. The solution returns outcome=stopped and safety_status=review_required. The quoted sentence is the actual test client output.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0:41–0:42. Excerpts from the solution’s actual cases; deterministic evaluation without API calls. Read missing_approval and repeat. This slide shows safety statuses. Tests also check sequence, review evidence, trace and answer. PASS means all of a case’s checks passed.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0:42–0:46. This checkpoint shares the five-minute 41–46 block with slides 15 and 17. TODO 4 must require all conditions with all(row['checks'].values()). Read and justify one PASS. All ten scenarios run without API calls. After a correction, rerun mission_run and then the evaluations if the dossier remains locked.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checkpoint 4. Based on the notebook’s mutation tests. If time permits, temporarily comment out the repetition guard, rerun the definition and evaluations, then restore it and rerun. Removing only that guard makes the repeat scenario fail. Keep the other loop limits.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0:46–0:48. Readable representation of a mock solution dossier excerpt, not a screenshot of a Gemini call. JSON fields come from incident_dossier. Open the actual session output and find these fields. Download the file and explain the selected failure.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0:48–0:49. Resource titles are clickable in both PDF and PowerPoint. The repository contains participant and solution notebooks in French and English. Reading is optional. Avoid opening pages during the closing minutes if it slows down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0:49–0:50. Take two brief answers. Each pair should name a rule and a case that triggers it. Leave the QR visible. The goal is transfer to their own projects, not a claim that the system is production-ready.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jpe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chabelbossa/indabax-reliable-ai-agents" TargetMode="External"/><Relationship Id="rId4" Type="http://schemas.openxmlformats.org/officeDocument/2006/relationships/hyperlink" Target="https://www.anthropic.com/engineering/building-effective-agents" TargetMode="External"/><Relationship Id="rId5" Type="http://schemas.openxmlformats.org/officeDocument/2006/relationships/hyperlink" Target="https://ai.google.dev/gemini-api/docs/rate-limits" TargetMode="Externa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hyperlink" Target="https://github.com/chabelbossa/indabax-reliable-ai-agents" TargetMode="External"/><Relationship Id="rId5" Type="http://schemas.openxmlformats.org/officeDocument/2006/relationships/notesSlide" Target="../notesSlides/notesSlide20.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000" y="1047750"/>
            <a:ext cx="738188" cy="857250"/>
            <a:chOff x="0" y="0"/>
            <a:chExt cx="984250" cy="1143000"/>
          </a:xfrm>
        </p:grpSpPr>
        <p:sp>
          <p:nvSpPr>
            <p:cNvPr name="Freeform 3" id="3"/>
            <p:cNvSpPr/>
            <p:nvPr/>
          </p:nvSpPr>
          <p:spPr>
            <a:xfrm flipH="false" flipV="false" rot="0">
              <a:off x="0" y="0"/>
              <a:ext cx="984250" cy="1143000"/>
            </a:xfrm>
            <a:custGeom>
              <a:avLst/>
              <a:gdLst/>
              <a:ahLst/>
              <a:cxnLst/>
              <a:rect r="r" b="b" t="t" l="l"/>
              <a:pathLst>
                <a:path h="1143000" w="984250">
                  <a:moveTo>
                    <a:pt x="0" y="0"/>
                  </a:moveTo>
                  <a:lnTo>
                    <a:pt x="984250" y="0"/>
                  </a:lnTo>
                  <a:lnTo>
                    <a:pt x="984250" y="1143000"/>
                  </a:lnTo>
                  <a:lnTo>
                    <a:pt x="0" y="1143000"/>
                  </a:lnTo>
                  <a:lnTo>
                    <a:pt x="0" y="0"/>
                  </a:lnTo>
                  <a:close/>
                </a:path>
              </a:pathLst>
            </a:custGeom>
            <a:blipFill>
              <a:blip r:embed="rId3"/>
              <a:stretch>
                <a:fillRect l="0" t="0" r="0" b="0"/>
              </a:stretch>
            </a:blipFill>
          </p:spPr>
          <p:txBody>
            <a:bodyPr/>
            <a:p/>
          </p:txBody>
        </p:sp>
      </p:grpSp>
      <p:sp>
        <p:nvSpPr>
          <p:cNvPr name="TextBox 4" id="4"/>
          <p:cNvSpPr txBox="true"/>
          <p:nvPr/>
        </p:nvSpPr>
        <p:spPr>
          <a:xfrm rot="0">
            <a:off x="1143000" y="4457510"/>
            <a:ext cx="16002000" cy="2619756"/>
          </a:xfrm>
          <a:prstGeom prst="rect">
            <a:avLst/>
          </a:prstGeom>
        </p:spPr>
        <p:txBody>
          <a:bodyPr anchor="t" rtlCol="false" tIns="0" lIns="0" bIns="0" rIns="0">
            <a:spAutoFit/>
          </a:bodyPr>
          <a:lstStyle/>
          <a:p>
            <a:pPr algn="l">
              <a:lnSpc>
                <a:spcPts val="9792"/>
              </a:lnSpc>
            </a:pPr>
            <a:r>
              <a:rPr lang="en-US" b="true" sz="9600" spc="-288">
                <a:solidFill>
                  <a:srgbClr val="0A0A0A"/>
                </a:solidFill>
                <a:latin typeface="Poppins Bold"/>
                <a:ea typeface="Poppins Bold"/>
                <a:cs typeface="Poppins Bold"/>
                <a:sym typeface="Poppins Bold"/>
              </a:rPr>
              <a:t>Building Reliable AI Agents</a:t>
            </a:r>
          </a:p>
          <a:p>
            <a:pPr algn="l">
              <a:lnSpc>
                <a:spcPts val="9792"/>
              </a:lnSpc>
            </a:pPr>
          </a:p>
        </p:txBody>
      </p:sp>
      <p:grpSp>
        <p:nvGrpSpPr>
          <p:cNvPr name="Group 5" id="5"/>
          <p:cNvGrpSpPr/>
          <p:nvPr/>
        </p:nvGrpSpPr>
        <p:grpSpPr>
          <a:xfrm rot="0">
            <a:off x="14105668" y="619908"/>
            <a:ext cx="3039332" cy="455634"/>
            <a:chOff x="0" y="0"/>
            <a:chExt cx="800483" cy="120002"/>
          </a:xfrm>
        </p:grpSpPr>
        <p:sp>
          <p:nvSpPr>
            <p:cNvPr name="Freeform 6" id="6"/>
            <p:cNvSpPr/>
            <p:nvPr/>
          </p:nvSpPr>
          <p:spPr>
            <a:xfrm flipH="false" flipV="false" rot="0">
              <a:off x="0" y="0"/>
              <a:ext cx="800483" cy="120002"/>
            </a:xfrm>
            <a:custGeom>
              <a:avLst/>
              <a:gdLst/>
              <a:ahLst/>
              <a:cxnLst/>
              <a:rect r="r" b="b" t="t" l="l"/>
              <a:pathLst>
                <a:path h="120002" w="800483">
                  <a:moveTo>
                    <a:pt x="60001" y="0"/>
                  </a:moveTo>
                  <a:lnTo>
                    <a:pt x="740481" y="0"/>
                  </a:lnTo>
                  <a:cubicBezTo>
                    <a:pt x="756395" y="0"/>
                    <a:pt x="771656" y="6322"/>
                    <a:pt x="782909" y="17574"/>
                  </a:cubicBezTo>
                  <a:cubicBezTo>
                    <a:pt x="794161" y="28826"/>
                    <a:pt x="800483" y="44088"/>
                    <a:pt x="800483" y="60001"/>
                  </a:cubicBezTo>
                  <a:lnTo>
                    <a:pt x="800483" y="60001"/>
                  </a:lnTo>
                  <a:cubicBezTo>
                    <a:pt x="800483" y="75915"/>
                    <a:pt x="794161" y="91176"/>
                    <a:pt x="782909" y="102428"/>
                  </a:cubicBezTo>
                  <a:cubicBezTo>
                    <a:pt x="771656" y="113681"/>
                    <a:pt x="756395" y="120002"/>
                    <a:pt x="740481" y="120002"/>
                  </a:cubicBezTo>
                  <a:lnTo>
                    <a:pt x="60001" y="120002"/>
                  </a:lnTo>
                  <a:cubicBezTo>
                    <a:pt x="44088" y="120002"/>
                    <a:pt x="28826" y="113681"/>
                    <a:pt x="17574" y="102428"/>
                  </a:cubicBezTo>
                  <a:cubicBezTo>
                    <a:pt x="6322" y="91176"/>
                    <a:pt x="0" y="75915"/>
                    <a:pt x="0" y="60001"/>
                  </a:cubicBezTo>
                  <a:lnTo>
                    <a:pt x="0" y="60001"/>
                  </a:lnTo>
                  <a:cubicBezTo>
                    <a:pt x="0" y="44088"/>
                    <a:pt x="6322" y="28826"/>
                    <a:pt x="17574" y="17574"/>
                  </a:cubicBezTo>
                  <a:cubicBezTo>
                    <a:pt x="28826" y="6322"/>
                    <a:pt x="44088" y="0"/>
                    <a:pt x="60001" y="0"/>
                  </a:cubicBezTo>
                  <a:close/>
                </a:path>
              </a:pathLst>
            </a:custGeom>
            <a:solidFill>
              <a:srgbClr val="FBC418"/>
            </a:solidFill>
          </p:spPr>
          <p:txBody>
            <a:bodyPr/>
            <a:p/>
          </p:txBody>
        </p:sp>
        <p:sp>
          <p:nvSpPr>
            <p:cNvPr name="TextBox 7" id="7"/>
            <p:cNvSpPr txBox="true"/>
            <p:nvPr/>
          </p:nvSpPr>
          <p:spPr>
            <a:xfrm>
              <a:off x="0" y="-57150"/>
              <a:ext cx="800483" cy="177152"/>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2278628" y="1156178"/>
            <a:ext cx="3265499" cy="545145"/>
          </a:xfrm>
          <a:prstGeom prst="rect">
            <a:avLst/>
          </a:prstGeom>
        </p:spPr>
        <p:txBody>
          <a:bodyPr anchor="t" rtlCol="false" tIns="0" lIns="0" bIns="0" rIns="0">
            <a:spAutoFit/>
          </a:bodyPr>
          <a:lstStyle/>
          <a:p>
            <a:pPr algn="l">
              <a:lnSpc>
                <a:spcPts val="4220"/>
              </a:lnSpc>
            </a:pPr>
            <a:r>
              <a:rPr lang="en-US" b="true" sz="3014" spc="-30">
                <a:solidFill>
                  <a:srgbClr val="0A0A0A"/>
                </a:solidFill>
                <a:latin typeface="Poppins Bold"/>
                <a:ea typeface="Poppins Bold"/>
                <a:cs typeface="Poppins Bold"/>
                <a:sym typeface="Poppins Bold"/>
              </a:rPr>
              <a:t>Indaba</a:t>
            </a:r>
            <a:r>
              <a:rPr lang="en-US" b="true" sz="3014" spc="-30">
                <a:solidFill>
                  <a:srgbClr val="008751"/>
                </a:solidFill>
                <a:latin typeface="Poppins Bold"/>
                <a:ea typeface="Poppins Bold"/>
                <a:cs typeface="Poppins Bold"/>
                <a:sym typeface="Poppins Bold"/>
              </a:rPr>
              <a:t>X</a:t>
            </a:r>
            <a:r>
              <a:rPr lang="en-US" b="true" sz="3014" spc="-30">
                <a:solidFill>
                  <a:srgbClr val="0A0A0A"/>
                </a:solidFill>
                <a:latin typeface="Poppins Bold"/>
                <a:ea typeface="Poppins Bold"/>
                <a:cs typeface="Poppins Bold"/>
                <a:sym typeface="Poppins Bold"/>
              </a:rPr>
              <a:t> Bénin</a:t>
            </a:r>
          </a:p>
        </p:txBody>
      </p:sp>
      <p:sp>
        <p:nvSpPr>
          <p:cNvPr name="TextBox 9" id="9"/>
          <p:cNvSpPr txBox="true"/>
          <p:nvPr/>
        </p:nvSpPr>
        <p:spPr>
          <a:xfrm rot="0">
            <a:off x="1143000" y="7425976"/>
            <a:ext cx="16002000" cy="1051560"/>
          </a:xfrm>
          <a:prstGeom prst="rect">
            <a:avLst/>
          </a:prstGeom>
        </p:spPr>
        <p:txBody>
          <a:bodyPr anchor="t" rtlCol="false" tIns="0" lIns="0" bIns="0" rIns="0">
            <a:spAutoFit/>
          </a:bodyPr>
          <a:lstStyle/>
          <a:p>
            <a:pPr algn="l">
              <a:lnSpc>
                <a:spcPts val="3779"/>
              </a:lnSpc>
            </a:pPr>
            <a:r>
              <a:rPr lang="en-US" sz="2700">
                <a:solidFill>
                  <a:srgbClr val="2B2B2B"/>
                </a:solidFill>
                <a:latin typeface="Poppins"/>
                <a:ea typeface="Poppins"/>
                <a:cs typeface="Poppins"/>
                <a:sym typeface="Poppins"/>
              </a:rPr>
              <a:t>From an alert to an incident dossier, using Python and Gemini.</a:t>
            </a:r>
          </a:p>
        </p:txBody>
      </p:sp>
      <p:sp>
        <p:nvSpPr>
          <p:cNvPr name="TextBox 10" id="10"/>
          <p:cNvSpPr txBox="true"/>
          <p:nvPr/>
        </p:nvSpPr>
        <p:spPr>
          <a:xfrm rot="0">
            <a:off x="1143000" y="8953500"/>
            <a:ext cx="7315200" cy="731520"/>
          </a:xfrm>
          <a:prstGeom prst="rect">
            <a:avLst/>
          </a:prstGeom>
        </p:spPr>
        <p:txBody>
          <a:bodyPr anchor="t" rtlCol="false" tIns="0" lIns="0" bIns="0" rIns="0">
            <a:spAutoFit/>
          </a:bodyPr>
          <a:lstStyle/>
          <a:p>
            <a:pPr algn="l">
              <a:lnSpc>
                <a:spcPts val="2520"/>
              </a:lnSpc>
            </a:pPr>
            <a:r>
              <a:rPr lang="en-US" b="true" sz="1800">
                <a:solidFill>
                  <a:srgbClr val="5B5B5B"/>
                </a:solidFill>
                <a:latin typeface="Poppins Medium"/>
                <a:ea typeface="Poppins Medium"/>
                <a:cs typeface="Poppins Medium"/>
                <a:sym typeface="Poppins Medium"/>
              </a:rPr>
              <a:t>BOSSA Chabel · Software Engineer · ENSGMM</a:t>
            </a:r>
          </a:p>
        </p:txBody>
      </p:sp>
      <p:sp>
        <p:nvSpPr>
          <p:cNvPr name="TextBox 11" id="11"/>
          <p:cNvSpPr txBox="true"/>
          <p:nvPr/>
        </p:nvSpPr>
        <p:spPr>
          <a:xfrm rot="0">
            <a:off x="13678186" y="8953500"/>
            <a:ext cx="3466814" cy="731520"/>
          </a:xfrm>
          <a:prstGeom prst="rect">
            <a:avLst/>
          </a:prstGeom>
        </p:spPr>
        <p:txBody>
          <a:bodyPr anchor="t" rtlCol="false" tIns="0" lIns="0" bIns="0" rIns="0">
            <a:spAutoFit/>
          </a:bodyPr>
          <a:lstStyle/>
          <a:p>
            <a:pPr algn="l">
              <a:lnSpc>
                <a:spcPts val="2520"/>
              </a:lnSpc>
            </a:pPr>
            <a:r>
              <a:rPr lang="en-US" b="true" sz="1800">
                <a:solidFill>
                  <a:srgbClr val="5B5B5B"/>
                </a:solidFill>
                <a:latin typeface="Poppins Medium"/>
                <a:ea typeface="Poppins Medium"/>
                <a:cs typeface="Poppins Medium"/>
                <a:sym typeface="Poppins Medium"/>
              </a:rPr>
              <a:t>IndabaX Bénin 2026 · Cotonou</a:t>
            </a:r>
          </a:p>
        </p:txBody>
      </p:sp>
      <p:sp>
        <p:nvSpPr>
          <p:cNvPr name="TextBox 12" id="12"/>
          <p:cNvSpPr txBox="true"/>
          <p:nvPr/>
        </p:nvSpPr>
        <p:spPr>
          <a:xfrm rot="0">
            <a:off x="14698467" y="630238"/>
            <a:ext cx="1853733" cy="368300"/>
          </a:xfrm>
          <a:prstGeom prst="rect">
            <a:avLst/>
          </a:prstGeom>
        </p:spPr>
        <p:txBody>
          <a:bodyPr anchor="t" rtlCol="false" tIns="0" lIns="0" bIns="0" rIns="0">
            <a:spAutoFit/>
          </a:bodyPr>
          <a:lstStyle/>
          <a:p>
            <a:pPr algn="ctr">
              <a:lnSpc>
                <a:spcPts val="2800"/>
              </a:lnSpc>
            </a:pPr>
            <a:r>
              <a:rPr lang="en-US" b="true" sz="2000" spc="100">
                <a:solidFill>
                  <a:srgbClr val="2B2B2B"/>
                </a:solidFill>
                <a:latin typeface="Poppins Semi-Bold"/>
                <a:ea typeface="Poppins Semi-Bold"/>
                <a:cs typeface="Poppins Semi-Bold"/>
                <a:sym typeface="Poppins Semi-Bold"/>
              </a:rPr>
              <a:t>WORKSHOP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02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50 MINUTES TOGETHER</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Build an agent loop, then test its behavior.</a:t>
            </a:r>
          </a:p>
        </p:txBody>
      </p:sp>
      <p:sp>
        <p:nvSpPr>
          <p:cNvPr id="20" name="TextBox 19"/>
          <p:cNvSpPr txBox="1"/>
          <p:nvPr/>
        </p:nvSpPr>
        <p:spPr>
          <a:xfrm>
            <a:off x="1143000" y="2880360"/>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01</a:t>
            </a:r>
          </a:p>
        </p:txBody>
      </p:sp>
      <p:sp>
        <p:nvSpPr>
          <p:cNvPr id="21" name="TextBox 20"/>
          <p:cNvSpPr txBox="1"/>
          <p:nvPr/>
        </p:nvSpPr>
        <p:spPr>
          <a:xfrm>
            <a:off x="2423160" y="2880360"/>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Understand tools and the agent loop</a:t>
            </a:r>
          </a:p>
        </p:txBody>
      </p:sp>
      <p:sp>
        <p:nvSpPr>
          <p:cNvPr id="22" name="TextBox 21"/>
          <p:cNvSpPr txBox="1"/>
          <p:nvPr/>
        </p:nvSpPr>
        <p:spPr>
          <a:xfrm>
            <a:off x="2423160" y="3429000"/>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Follow one example from the alert to the first observation.</a:t>
            </a:r>
          </a:p>
        </p:txBody>
      </p:sp>
      <p:sp>
        <p:nvSpPr>
          <p:cNvPr id="23" name="TextBox 22"/>
          <p:cNvSpPr txBox="1"/>
          <p:nvPr/>
        </p:nvSpPr>
        <p:spPr>
          <a:xfrm>
            <a:off x="15179040" y="3017520"/>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10 min</a:t>
            </a:r>
          </a:p>
        </p:txBody>
      </p:sp>
      <p:sp>
        <p:nvSpPr>
          <p:cNvPr id="24" name="TextBox 23"/>
          <p:cNvSpPr txBox="1"/>
          <p:nvPr/>
        </p:nvSpPr>
        <p:spPr>
          <a:xfrm>
            <a:off x="1143000" y="4178808"/>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02</a:t>
            </a:r>
          </a:p>
        </p:txBody>
      </p:sp>
      <p:sp>
        <p:nvSpPr>
          <p:cNvPr id="25" name="TextBox 24"/>
          <p:cNvSpPr txBox="1"/>
          <p:nvPr/>
        </p:nvSpPr>
        <p:spPr>
          <a:xfrm>
            <a:off x="2423160" y="4178808"/>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Build in the notebook</a:t>
            </a:r>
          </a:p>
        </p:txBody>
      </p:sp>
      <p:sp>
        <p:nvSpPr>
          <p:cNvPr id="26" name="TextBox 25"/>
          <p:cNvSpPr txBox="1"/>
          <p:nvPr/>
        </p:nvSpPr>
        <p:spPr>
          <a:xfrm>
            <a:off x="2423160" y="4727448"/>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Open the notebook, then complete checkpoints 1–3.</a:t>
            </a:r>
          </a:p>
        </p:txBody>
      </p:sp>
      <p:sp>
        <p:nvSpPr>
          <p:cNvPr id="27" name="TextBox 26"/>
          <p:cNvSpPr txBox="1"/>
          <p:nvPr/>
        </p:nvSpPr>
        <p:spPr>
          <a:xfrm>
            <a:off x="15179040" y="4315968"/>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31 min</a:t>
            </a:r>
          </a:p>
        </p:txBody>
      </p:sp>
      <p:sp>
        <p:nvSpPr>
          <p:cNvPr id="28" name="TextBox 27"/>
          <p:cNvSpPr txBox="1"/>
          <p:nvPr/>
        </p:nvSpPr>
        <p:spPr>
          <a:xfrm>
            <a:off x="1143000" y="5477256"/>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03</a:t>
            </a:r>
          </a:p>
        </p:txBody>
      </p:sp>
      <p:sp>
        <p:nvSpPr>
          <p:cNvPr id="29" name="TextBox 28"/>
          <p:cNvSpPr txBox="1"/>
          <p:nvPr/>
        </p:nvSpPr>
        <p:spPr>
          <a:xfrm>
            <a:off x="2423160" y="5477256"/>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Trigger failures and test the safeguards</a:t>
            </a:r>
          </a:p>
        </p:txBody>
      </p:sp>
      <p:sp>
        <p:nvSpPr>
          <p:cNvPr id="30" name="TextBox 29"/>
          <p:cNvSpPr txBox="1"/>
          <p:nvPr/>
        </p:nvSpPr>
        <p:spPr>
          <a:xfrm>
            <a:off x="2423160" y="6025896"/>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Checkpoint 4: compare actual and expected behavior.</a:t>
            </a:r>
          </a:p>
        </p:txBody>
      </p:sp>
      <p:sp>
        <p:nvSpPr>
          <p:cNvPr id="31" name="TextBox 30"/>
          <p:cNvSpPr txBox="1"/>
          <p:nvPr/>
        </p:nvSpPr>
        <p:spPr>
          <a:xfrm>
            <a:off x="15179040" y="5614416"/>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5 min</a:t>
            </a:r>
          </a:p>
        </p:txBody>
      </p:sp>
      <p:sp>
        <p:nvSpPr>
          <p:cNvPr id="32" name="TextBox 31"/>
          <p:cNvSpPr txBox="1"/>
          <p:nvPr/>
        </p:nvSpPr>
        <p:spPr>
          <a:xfrm>
            <a:off x="1143000" y="6775704"/>
            <a:ext cx="914400" cy="594360"/>
          </a:xfrm>
          <a:prstGeom prst="rect">
            <a:avLst/>
          </a:prstGeom>
          <a:noFill/>
        </p:spPr>
        <p:txBody>
          <a:bodyPr wrap="square" lIns="0" rIns="0" tIns="0" bIns="0">
            <a:spAutoFit/>
          </a:bodyPr>
          <a:lstStyle/>
          <a:p>
            <a:pPr>
              <a:lnSpc>
                <a:spcPct val="113000"/>
              </a:lnSpc>
              <a:spcAft>
                <a:spcPts val="700"/>
              </a:spcAft>
            </a:pPr>
            <a:r>
              <a:rPr sz="3100" b="1">
                <a:solidFill>
                  <a:srgbClr val="008751"/>
                </a:solidFill>
                <a:latin typeface="Poppins"/>
              </a:rPr>
              <a:t>04</a:t>
            </a:r>
          </a:p>
        </p:txBody>
      </p:sp>
      <p:sp>
        <p:nvSpPr>
          <p:cNvPr id="33" name="TextBox 32"/>
          <p:cNvSpPr txBox="1"/>
          <p:nvPr/>
        </p:nvSpPr>
        <p:spPr>
          <a:xfrm>
            <a:off x="2423160" y="6775704"/>
            <a:ext cx="11430000" cy="594360"/>
          </a:xfrm>
          <a:prstGeom prst="rect">
            <a:avLst/>
          </a:prstGeom>
          <a:noFill/>
        </p:spPr>
        <p:txBody>
          <a:bodyPr wrap="square" lIns="0" rIns="0" tIns="0" bIns="0">
            <a:spAutoFit/>
          </a:bodyPr>
          <a:lstStyle/>
          <a:p>
            <a:pPr>
              <a:lnSpc>
                <a:spcPct val="113000"/>
              </a:lnSpc>
              <a:spcAft>
                <a:spcPts val="700"/>
              </a:spcAft>
            </a:pPr>
            <a:r>
              <a:rPr sz="2900" b="1">
                <a:solidFill>
                  <a:srgbClr val="111713"/>
                </a:solidFill>
                <a:latin typeface="Poppins"/>
              </a:rPr>
              <a:t>Take the dossier home and explain your work</a:t>
            </a:r>
          </a:p>
        </p:txBody>
      </p:sp>
      <p:sp>
        <p:nvSpPr>
          <p:cNvPr id="34" name="TextBox 33"/>
          <p:cNvSpPr txBox="1"/>
          <p:nvPr/>
        </p:nvSpPr>
        <p:spPr>
          <a:xfrm>
            <a:off x="2423160" y="7324344"/>
            <a:ext cx="11430000" cy="548640"/>
          </a:xfrm>
          <a:prstGeom prst="rect">
            <a:avLst/>
          </a:prstGeom>
          <a:noFill/>
        </p:spPr>
        <p:txBody>
          <a:bodyPr wrap="square" lIns="0" rIns="0" tIns="0" bIns="0">
            <a:spAutoFit/>
          </a:bodyPr>
          <a:lstStyle/>
          <a:p>
            <a:pPr>
              <a:lnSpc>
                <a:spcPct val="113000"/>
              </a:lnSpc>
              <a:spcAft>
                <a:spcPts val="700"/>
              </a:spcAft>
            </a:pPr>
            <a:r>
              <a:rPr sz="2000" b="0">
                <a:solidFill>
                  <a:srgbClr val="53645A"/>
                </a:solidFill>
                <a:latin typeface="Poppins"/>
              </a:rPr>
              <a:t>Find the evidence and suggest a test for your own field.</a:t>
            </a:r>
          </a:p>
        </p:txBody>
      </p:sp>
      <p:sp>
        <p:nvSpPr>
          <p:cNvPr id="35" name="TextBox 34"/>
          <p:cNvSpPr txBox="1"/>
          <p:nvPr/>
        </p:nvSpPr>
        <p:spPr>
          <a:xfrm>
            <a:off x="15179040" y="6912864"/>
            <a:ext cx="1965960" cy="548640"/>
          </a:xfrm>
          <a:prstGeom prst="rect">
            <a:avLst/>
          </a:prstGeom>
          <a:noFill/>
        </p:spPr>
        <p:txBody>
          <a:bodyPr wrap="square" lIns="0" rIns="0" tIns="0" bIns="0">
            <a:spAutoFit/>
          </a:bodyPr>
          <a:lstStyle/>
          <a:p>
            <a:pPr algn="r">
              <a:lnSpc>
                <a:spcPct val="113000"/>
              </a:lnSpc>
              <a:spcAft>
                <a:spcPts val="700"/>
              </a:spcAft>
            </a:pPr>
            <a:r>
              <a:rPr sz="2400" b="1">
                <a:solidFill>
                  <a:srgbClr val="008751"/>
                </a:solidFill>
                <a:latin typeface="Poppins"/>
              </a:rPr>
              <a:t>4 min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03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START WITH YOUR EXPERIENCE</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What tasks do you give an AI application today?</a:t>
            </a:r>
          </a:p>
        </p:txBody>
      </p:sp>
      <p:sp>
        <p:nvSpPr>
          <p:cNvPr id="20" name="Rounded Rectangle 19"/>
          <p:cNvSpPr/>
          <p:nvPr/>
        </p:nvSpPr>
        <p:spPr>
          <a:xfrm>
            <a:off x="114300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Your first uses</a:t>
            </a:r>
          </a:p>
        </p:txBody>
      </p:sp>
      <p:sp>
        <p:nvSpPr>
          <p:cNvPr id="22" name="TextBox 21"/>
          <p:cNvSpPr txBox="1"/>
          <p:nvPr/>
        </p:nvSpPr>
        <p:spPr>
          <a:xfrm>
            <a:off x="146304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Drafting a message, explaining code, rephrasing an idea… What did you first use it for?</a:t>
            </a:r>
          </a:p>
        </p:txBody>
      </p:sp>
      <p:sp>
        <p:nvSpPr>
          <p:cNvPr id="23" name="Rounded Rectangle 22"/>
          <p:cNvSpPr/>
          <p:nvPr/>
        </p:nvSpPr>
        <p:spPr>
          <a:xfrm>
            <a:off x="934974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6978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What you do today</a:t>
            </a:r>
          </a:p>
        </p:txBody>
      </p:sp>
      <p:sp>
        <p:nvSpPr>
          <p:cNvPr id="25" name="TextBox 24"/>
          <p:cNvSpPr txBox="1"/>
          <p:nvPr/>
        </p:nvSpPr>
        <p:spPr>
          <a:xfrm>
            <a:off x="966978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What tasks do you give it now? What information and tools does it need to carry them out?</a:t>
            </a:r>
          </a:p>
        </p:txBody>
      </p:sp>
      <p:sp>
        <p:nvSpPr>
          <p:cNvPr id="26" name="TextBox 25"/>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To investigate an incident that is happening now, the system needs access to its current state.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04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YOUR MISSION · KORACARE</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09:42: a clinic reports a temperature alert.</a:t>
            </a:r>
          </a:p>
        </p:txBody>
      </p:sp>
      <p:sp>
        <p:nvSpPr>
          <p:cNvPr id="20" name="Rounded Rectangle 19"/>
          <p:cNvSpPr/>
          <p:nvPr/>
        </p:nvSpPr>
        <p:spPr>
          <a:xfrm>
            <a:off x="1143000" y="2880360"/>
            <a:ext cx="5486400" cy="516636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4846320" cy="914400"/>
          </a:xfrm>
          <a:prstGeom prst="rect">
            <a:avLst/>
          </a:prstGeom>
          <a:noFill/>
        </p:spPr>
        <p:txBody>
          <a:bodyPr wrap="square" lIns="0" rIns="0" tIns="0" bIns="0">
            <a:spAutoFit/>
          </a:bodyPr>
          <a:lstStyle/>
          <a:p>
            <a:pPr>
              <a:lnSpc>
                <a:spcPct val="113000"/>
              </a:lnSpc>
              <a:spcAft>
                <a:spcPts val="700"/>
              </a:spcAft>
            </a:pPr>
            <a:r>
              <a:rPr sz="3000" b="1">
                <a:solidFill>
                  <a:srgbClr val="FFFFFF"/>
                </a:solidFill>
                <a:latin typeface="Poppins"/>
              </a:rPr>
              <a:t>Alert CC-204</a:t>
            </a:r>
          </a:p>
        </p:txBody>
      </p:sp>
      <p:sp>
        <p:nvSpPr>
          <p:cNvPr id="22" name="TextBox 21"/>
          <p:cNvSpPr txBox="1"/>
          <p:nvPr/>
        </p:nvSpPr>
        <p:spPr>
          <a:xfrm>
            <a:off x="1463040" y="4206240"/>
            <a:ext cx="4846320" cy="3657600"/>
          </a:xfrm>
          <a:prstGeom prst="rect">
            <a:avLst/>
          </a:prstGeom>
          <a:noFill/>
        </p:spPr>
        <p:txBody>
          <a:bodyPr wrap="square" lIns="0" rIns="0" tIns="0" bIns="0">
            <a:spAutoFit/>
          </a:bodyPr>
          <a:lstStyle/>
          <a:p>
            <a:pPr>
              <a:lnSpc>
                <a:spcPct val="113000"/>
              </a:lnSpc>
              <a:spcAft>
                <a:spcPts val="700"/>
              </a:spcAft>
            </a:pPr>
            <a:r>
              <a:rPr sz="2600" b="0">
                <a:solidFill>
                  <a:srgbClr val="FFFFFF"/>
                </a:solidFill>
                <a:latin typeface="Poppins"/>
              </a:rPr>
              <a:t>Clinic KCARE-ADJ-01</a:t>
            </a:r>
          </a:p>
          <a:p>
            <a:pPr>
              <a:lnSpc>
                <a:spcPct val="113000"/>
              </a:lnSpc>
              <a:spcAft>
                <a:spcPts val="700"/>
              </a:spcAft>
            </a:pPr>
            <a:r>
              <a:rPr sz="2600" b="0">
                <a:solidFill>
                  <a:srgbClr val="FFFFFF"/>
                </a:solidFill>
                <a:latin typeface="Poppins"/>
              </a:rPr>
              <a:t/>
            </a:r>
          </a:p>
          <a:p>
            <a:pPr>
              <a:lnSpc>
                <a:spcPct val="113000"/>
              </a:lnSpc>
              <a:spcAft>
                <a:spcPts val="700"/>
              </a:spcAft>
            </a:pPr>
            <a:r>
              <a:rPr sz="2600" b="0">
                <a:solidFill>
                  <a:srgbClr val="FFFFFF"/>
                </a:solidFill>
                <a:latin typeface="Poppins"/>
              </a:rPr>
              <a:t>12.4 °C for 52 min</a:t>
            </a:r>
          </a:p>
          <a:p>
            <a:pPr>
              <a:lnSpc>
                <a:spcPct val="113000"/>
              </a:lnSpc>
              <a:spcAft>
                <a:spcPts val="700"/>
              </a:spcAft>
            </a:pPr>
            <a:r>
              <a:rPr sz="2600" b="0">
                <a:solidFill>
                  <a:srgbClr val="FFFFFF"/>
                </a:solidFill>
                <a:latin typeface="Poppins"/>
              </a:rPr>
              <a:t/>
            </a:r>
          </a:p>
          <a:p>
            <a:pPr>
              <a:lnSpc>
                <a:spcPct val="113000"/>
              </a:lnSpc>
              <a:spcAft>
                <a:spcPts val="700"/>
              </a:spcAft>
            </a:pPr>
            <a:r>
              <a:rPr sz="2600" b="0">
                <a:solidFill>
                  <a:srgbClr val="FFFFFF"/>
                </a:solidFill>
                <a:latin typeface="Poppins"/>
              </a:rPr>
              <a:t>Vaccines · batch VX-204</a:t>
            </a:r>
          </a:p>
        </p:txBody>
      </p:sp>
      <p:sp>
        <p:nvSpPr>
          <p:cNvPr id="23" name="TextBox 22"/>
          <p:cNvSpPr txBox="1"/>
          <p:nvPr/>
        </p:nvSpPr>
        <p:spPr>
          <a:xfrm>
            <a:off x="7315200" y="2880360"/>
            <a:ext cx="9784080" cy="2194560"/>
          </a:xfrm>
          <a:prstGeom prst="rect">
            <a:avLst/>
          </a:prstGeom>
          <a:noFill/>
        </p:spPr>
        <p:txBody>
          <a:bodyPr wrap="square" lIns="0" rIns="0" tIns="0" bIns="0">
            <a:spAutoFit/>
          </a:bodyPr>
          <a:lstStyle/>
          <a:p>
            <a:pPr>
              <a:lnSpc>
                <a:spcPct val="113000"/>
              </a:lnSpc>
              <a:spcAft>
                <a:spcPts val="700"/>
              </a:spcAft>
            </a:pPr>
            <a:r>
              <a:rPr sz="2900" b="0">
                <a:solidFill>
                  <a:srgbClr val="111713"/>
                </a:solidFill>
                <a:latin typeface="Poppins"/>
              </a:rPr>
              <a:t>The clinic’s refrigerator has triggered an alert. Your team must check the readings and find the relevant procedure.</a:t>
            </a:r>
          </a:p>
        </p:txBody>
      </p:sp>
      <p:sp>
        <p:nvSpPr>
          <p:cNvPr id="24" name="TextBox 23"/>
          <p:cNvSpPr txBox="1"/>
          <p:nvPr/>
        </p:nvSpPr>
        <p:spPr>
          <a:xfrm>
            <a:off x="7315200" y="5394960"/>
            <a:ext cx="9784080" cy="548640"/>
          </a:xfrm>
          <a:prstGeom prst="rect">
            <a:avLst/>
          </a:prstGeom>
          <a:noFill/>
        </p:spPr>
        <p:txBody>
          <a:bodyPr wrap="square" lIns="0" rIns="0" tIns="0" bIns="0">
            <a:spAutoFit/>
          </a:bodyPr>
          <a:lstStyle/>
          <a:p>
            <a:pPr>
              <a:lnSpc>
                <a:spcPct val="113000"/>
              </a:lnSpc>
              <a:spcAft>
                <a:spcPts val="700"/>
              </a:spcAft>
            </a:pPr>
            <a:r>
              <a:rPr sz="2700" b="1">
                <a:solidFill>
                  <a:srgbClr val="008751"/>
                </a:solidFill>
                <a:latin typeface="Poppins"/>
              </a:rPr>
              <a:t>You are the team on duty.</a:t>
            </a:r>
          </a:p>
        </p:txBody>
      </p:sp>
      <p:sp>
        <p:nvSpPr>
          <p:cNvPr id="25" name="TextBox 24"/>
          <p:cNvSpPr txBox="1"/>
          <p:nvPr/>
        </p:nvSpPr>
        <p:spPr>
          <a:xfrm>
            <a:off x="7315200" y="6172200"/>
            <a:ext cx="9784080" cy="1737360"/>
          </a:xfrm>
          <a:prstGeom prst="rect">
            <a:avLst/>
          </a:prstGeom>
          <a:noFill/>
        </p:spPr>
        <p:txBody>
          <a:bodyPr wrap="square" lIns="0" rIns="0" tIns="0" bIns="0">
            <a:spAutoFit/>
          </a:bodyPr>
          <a:lstStyle/>
          <a:p>
            <a:pPr>
              <a:lnSpc>
                <a:spcPct val="113000"/>
              </a:lnSpc>
              <a:spcAft>
                <a:spcPts val="700"/>
              </a:spcAft>
            </a:pPr>
            <a:r>
              <a:rPr sz="2600" b="0">
                <a:solidFill>
                  <a:srgbClr val="111713"/>
                </a:solidFill>
                <a:latin typeface="Poppins"/>
              </a:rPr>
              <a:t>Build an agent that prepares the incident dossier and requests an operator’s decision.</a:t>
            </a:r>
          </a:p>
        </p:txBody>
      </p:sp>
      <p:sp>
        <p:nvSpPr>
          <p:cNvPr id="26" name="TextBox 25"/>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Fictional exercise: simulated data, procedures and operator. No medical or physical action is performed.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05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FROM MODEL TO AGENT</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Who does what when we investigate this alert?</a:t>
            </a:r>
          </a:p>
        </p:txBody>
      </p:sp>
      <p:sp>
        <p:nvSpPr>
          <p:cNvPr id="20" name="Rounded Rectangle 19"/>
          <p:cNvSpPr/>
          <p:nvPr/>
        </p:nvSpPr>
        <p:spPr>
          <a:xfrm>
            <a:off x="114300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The LLM proposes</a:t>
            </a:r>
          </a:p>
        </p:txBody>
      </p:sp>
      <p:sp>
        <p:nvSpPr>
          <p:cNvPr id="22" name="TextBox 21"/>
          <p:cNvSpPr txBox="1"/>
          <p:nvPr/>
        </p:nvSpPr>
        <p:spPr>
          <a:xfrm>
            <a:off x="146304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An LLM is a language model. It uses its context to generate text or a tool call. Here, it requests the clinic’s readings.</a:t>
            </a:r>
          </a:p>
        </p:txBody>
      </p:sp>
      <p:sp>
        <p:nvSpPr>
          <p:cNvPr id="23" name="Rounded Rectangle 22"/>
          <p:cNvSpPr/>
          <p:nvPr/>
        </p:nvSpPr>
        <p:spPr>
          <a:xfrm>
            <a:off x="661416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420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The application executes</a:t>
            </a:r>
          </a:p>
        </p:txBody>
      </p:sp>
      <p:sp>
        <p:nvSpPr>
          <p:cNvPr id="25" name="TextBox 24"/>
          <p:cNvSpPr txBox="1"/>
          <p:nvPr/>
        </p:nvSpPr>
        <p:spPr>
          <a:xfrm>
            <a:off x="693420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Our Python code supplies tools to the model, checks the arguments and calls the function that reads the sensor data.</a:t>
            </a:r>
          </a:p>
        </p:txBody>
      </p:sp>
      <p:sp>
        <p:nvSpPr>
          <p:cNvPr id="26" name="Rounded Rectangle 25"/>
          <p:cNvSpPr/>
          <p:nvPr/>
        </p:nvSpPr>
        <p:spPr>
          <a:xfrm>
            <a:off x="1208532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40536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BE2440"/>
                </a:solidFill>
                <a:latin typeface="Poppins"/>
              </a:rPr>
              <a:t>The agent continues</a:t>
            </a:r>
          </a:p>
        </p:txBody>
      </p:sp>
      <p:sp>
        <p:nvSpPr>
          <p:cNvPr id="28" name="TextBox 27"/>
          <p:cNvSpPr txBox="1"/>
          <p:nvPr/>
        </p:nvSpPr>
        <p:spPr>
          <a:xfrm>
            <a:off x="1240536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The agent is the application pursuing the goal: the model receives the tool result and chooses what comes next, until an answer or a stop.</a:t>
            </a:r>
          </a:p>
        </p:txBody>
      </p:sp>
      <p:sp>
        <p:nvSpPr>
          <p:cNvPr id="29" name="TextBox 28"/>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A fixed workflow programs the steps. Here, the model chooses some of them based on the results.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06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ONE TOOL CALL</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The model requests a reading. Python retrieves it.</a:t>
            </a:r>
          </a:p>
        </p:txBody>
      </p:sp>
      <p:sp>
        <p:nvSpPr>
          <p:cNvPr id="20" name="TextBox 19"/>
          <p:cNvSpPr txBox="1"/>
          <p:nvPr/>
        </p:nvSpPr>
        <p:spPr>
          <a:xfrm>
            <a:off x="1143000" y="2788920"/>
            <a:ext cx="7772400" cy="59436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1. The model’s proposed call</a:t>
            </a:r>
          </a:p>
        </p:txBody>
      </p:sp>
      <p:sp>
        <p:nvSpPr>
          <p:cNvPr id="21" name="Rounded Rectangle 20"/>
          <p:cNvSpPr/>
          <p:nvPr/>
        </p:nvSpPr>
        <p:spPr>
          <a:xfrm>
            <a:off x="1143000" y="3611880"/>
            <a:ext cx="7772400" cy="3291840"/>
          </a:xfrm>
          <a:prstGeom prst="roundRect">
            <a:avLst>
              <a:gd name="adj" fmla="val 8000"/>
            </a:avLst>
          </a:prstGeom>
          <a:solidFill>
            <a:srgbClr val="111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3886200"/>
            <a:ext cx="7223760" cy="2743200"/>
          </a:xfrm>
          <a:prstGeom prst="rect">
            <a:avLst/>
          </a:prstGeom>
          <a:noFill/>
        </p:spPr>
        <p:txBody>
          <a:bodyPr wrap="square" lIns="0" rIns="0" tIns="0" bIns="0">
            <a:spAutoFit/>
          </a:bodyPr>
          <a:lstStyle/>
          <a:p>
            <a:pPr>
              <a:lnSpc>
                <a:spcPct val="113000"/>
              </a:lnSpc>
              <a:spcAft>
                <a:spcPts val="300"/>
              </a:spcAft>
            </a:pPr>
            <a:r>
              <a:rPr sz="2200" b="0">
                <a:solidFill>
                  <a:srgbClr val="FFFFFF"/>
                </a:solidFill>
                <a:latin typeface="DejaVu Sans Mono"/>
              </a:rPr>
              <a:t>{</a:t>
            </a:r>
          </a:p>
          <a:p>
            <a:pPr>
              <a:lnSpc>
                <a:spcPct val="113000"/>
              </a:lnSpc>
              <a:spcAft>
                <a:spcPts val="300"/>
              </a:spcAft>
            </a:pPr>
            <a:r>
              <a:rPr sz="2200" b="0">
                <a:solidFill>
                  <a:srgbClr val="FFFFFF"/>
                </a:solidFill>
                <a:latin typeface="DejaVu Sans Mono"/>
              </a:rPr>
              <a:t>  "name": "get_clinic_status",</a:t>
            </a:r>
          </a:p>
          <a:p>
            <a:pPr>
              <a:lnSpc>
                <a:spcPct val="113000"/>
              </a:lnSpc>
              <a:spcAft>
                <a:spcPts val="300"/>
              </a:spcAft>
            </a:pPr>
            <a:r>
              <a:rPr sz="2200" b="0">
                <a:solidFill>
                  <a:srgbClr val="FFFFFF"/>
                </a:solidFill>
                <a:latin typeface="DejaVu Sans Mono"/>
              </a:rPr>
              <a:t>  "arguments": {</a:t>
            </a:r>
          </a:p>
          <a:p>
            <a:pPr>
              <a:lnSpc>
                <a:spcPct val="113000"/>
              </a:lnSpc>
              <a:spcAft>
                <a:spcPts val="300"/>
              </a:spcAft>
            </a:pPr>
            <a:r>
              <a:rPr sz="2200" b="0">
                <a:solidFill>
                  <a:srgbClr val="FFFFFF"/>
                </a:solidFill>
                <a:latin typeface="DejaVu Sans Mono"/>
              </a:rPr>
              <a:t>    "clinic_id": "KCARE-ADJ-01"</a:t>
            </a:r>
          </a:p>
          <a:p>
            <a:pPr>
              <a:lnSpc>
                <a:spcPct val="113000"/>
              </a:lnSpc>
              <a:spcAft>
                <a:spcPts val="300"/>
              </a:spcAft>
            </a:pPr>
            <a:r>
              <a:rPr sz="2200" b="0">
                <a:solidFill>
                  <a:srgbClr val="FFFFFF"/>
                </a:solidFill>
                <a:latin typeface="DejaVu Sans Mono"/>
              </a:rPr>
              <a:t>  }</a:t>
            </a:r>
          </a:p>
          <a:p>
            <a:pPr>
              <a:lnSpc>
                <a:spcPct val="113000"/>
              </a:lnSpc>
              <a:spcAft>
                <a:spcPts val="300"/>
              </a:spcAft>
            </a:pPr>
            <a:r>
              <a:rPr sz="2200" b="0">
                <a:solidFill>
                  <a:srgbClr val="FFFFFF"/>
                </a:solidFill>
                <a:latin typeface="DejaVu Sans Mono"/>
              </a:rPr>
              <a:t>}</a:t>
            </a:r>
          </a:p>
        </p:txBody>
      </p:sp>
      <p:sp>
        <p:nvSpPr>
          <p:cNvPr id="23" name="TextBox 22"/>
          <p:cNvSpPr txBox="1"/>
          <p:nvPr/>
        </p:nvSpPr>
        <p:spPr>
          <a:xfrm>
            <a:off x="1143000" y="7269480"/>
            <a:ext cx="7772400" cy="12344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The name selects the function; the arguments identify the clinic. Python validates them before execution.</a:t>
            </a:r>
          </a:p>
        </p:txBody>
      </p:sp>
      <p:sp>
        <p:nvSpPr>
          <p:cNvPr id="24" name="TextBox 23"/>
          <p:cNvSpPr txBox="1"/>
          <p:nvPr/>
        </p:nvSpPr>
        <p:spPr>
          <a:xfrm>
            <a:off x="9372600" y="2788920"/>
            <a:ext cx="7772400" cy="59436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2. The tool’s returned result</a:t>
            </a:r>
          </a:p>
        </p:txBody>
      </p:sp>
      <p:sp>
        <p:nvSpPr>
          <p:cNvPr id="25" name="Rounded Rectangle 24"/>
          <p:cNvSpPr/>
          <p:nvPr/>
        </p:nvSpPr>
        <p:spPr>
          <a:xfrm>
            <a:off x="9372600" y="3611880"/>
            <a:ext cx="7772400" cy="3291840"/>
          </a:xfrm>
          <a:prstGeom prst="roundRect">
            <a:avLst>
              <a:gd name="adj" fmla="val 8000"/>
            </a:avLst>
          </a:prstGeom>
          <a:solidFill>
            <a:srgbClr val="111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3886200"/>
            <a:ext cx="7223760" cy="2743200"/>
          </a:xfrm>
          <a:prstGeom prst="rect">
            <a:avLst/>
          </a:prstGeom>
          <a:noFill/>
        </p:spPr>
        <p:txBody>
          <a:bodyPr wrap="square" lIns="0" rIns="0" tIns="0" bIns="0">
            <a:spAutoFit/>
          </a:bodyPr>
          <a:lstStyle/>
          <a:p>
            <a:pPr>
              <a:lnSpc>
                <a:spcPct val="113000"/>
              </a:lnSpc>
              <a:spcAft>
                <a:spcPts val="300"/>
              </a:spcAft>
            </a:pPr>
            <a:r>
              <a:rPr sz="2200" b="0">
                <a:solidFill>
                  <a:srgbClr val="FFFFFF"/>
                </a:solidFill>
                <a:latin typeface="DejaVu Sans Mono"/>
              </a:rPr>
              <a:t>{</a:t>
            </a:r>
          </a:p>
          <a:p>
            <a:pPr>
              <a:lnSpc>
                <a:spcPct val="113000"/>
              </a:lnSpc>
              <a:spcAft>
                <a:spcPts val="300"/>
              </a:spcAft>
            </a:pPr>
            <a:r>
              <a:rPr sz="2200" b="0">
                <a:solidFill>
                  <a:srgbClr val="FFFFFF"/>
                </a:solidFill>
                <a:latin typeface="DejaVu Sans Mono"/>
              </a:rPr>
              <a:t>  "clinic_id": "KCARE-ADJ-01",</a:t>
            </a:r>
          </a:p>
          <a:p>
            <a:pPr>
              <a:lnSpc>
                <a:spcPct val="113000"/>
              </a:lnSpc>
              <a:spcAft>
                <a:spcPts val="300"/>
              </a:spcAft>
            </a:pPr>
            <a:r>
              <a:rPr sz="2200" b="0">
                <a:solidFill>
                  <a:srgbClr val="FFFFFF"/>
                </a:solidFill>
                <a:latin typeface="DejaVu Sans Mono"/>
              </a:rPr>
              <a:t>  "temperature_c": 12.4,</a:t>
            </a:r>
          </a:p>
          <a:p>
            <a:pPr>
              <a:lnSpc>
                <a:spcPct val="113000"/>
              </a:lnSpc>
              <a:spcAft>
                <a:spcPts val="300"/>
              </a:spcAft>
            </a:pPr>
            <a:r>
              <a:rPr sz="2200" b="0">
                <a:solidFill>
                  <a:srgbClr val="FFFFFF"/>
                </a:solidFill>
                <a:latin typeface="DejaVu Sans Mono"/>
              </a:rPr>
              <a:t>  "excursion_minutes": 52,</a:t>
            </a:r>
          </a:p>
          <a:p>
            <a:pPr>
              <a:lnSpc>
                <a:spcPct val="113000"/>
              </a:lnSpc>
              <a:spcAft>
                <a:spcPts val="300"/>
              </a:spcAft>
            </a:pPr>
            <a:r>
              <a:rPr sz="2200" b="0">
                <a:solidFill>
                  <a:srgbClr val="FFFFFF"/>
                </a:solidFill>
                <a:latin typeface="DejaVu Sans Mono"/>
              </a:rPr>
              <a:t>  "sensor_status": "OK"</a:t>
            </a:r>
          </a:p>
          <a:p>
            <a:pPr>
              <a:lnSpc>
                <a:spcPct val="113000"/>
              </a:lnSpc>
              <a:spcAft>
                <a:spcPts val="300"/>
              </a:spcAft>
            </a:pPr>
            <a:r>
              <a:rPr sz="2200" b="0">
                <a:solidFill>
                  <a:srgbClr val="FFFFFF"/>
                </a:solidFill>
                <a:latin typeface="DejaVu Sans Mono"/>
              </a:rPr>
              <a:t>}</a:t>
            </a:r>
          </a:p>
        </p:txBody>
      </p:sp>
      <p:sp>
        <p:nvSpPr>
          <p:cNvPr id="27" name="TextBox 26"/>
          <p:cNvSpPr txBox="1"/>
          <p:nvPr/>
        </p:nvSpPr>
        <p:spPr>
          <a:xfrm>
            <a:off x="9372600" y="7269480"/>
            <a:ext cx="7772400" cy="12344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This excerpt contains the retrieved reading. We preserve the actual output, including any errors.</a:t>
            </a:r>
          </a:p>
        </p:txBody>
      </p:sp>
      <p:sp>
        <p:nvSpPr>
          <p:cNvPr id="28" name="TextBox 27"/>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Normalized call and shortened result from the simulated scenario. The model receives the tool schemas.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07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THE EXECUTION LOOP</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Each result informs the next decision.</a:t>
            </a:r>
          </a:p>
        </p:txBody>
      </p:sp>
      <p:sp>
        <p:nvSpPr>
          <p:cNvPr id="20" name="Rounded Rectangle 19"/>
          <p:cNvSpPr/>
          <p:nvPr/>
        </p:nvSpPr>
        <p:spPr>
          <a:xfrm>
            <a:off x="1143000" y="3200400"/>
            <a:ext cx="4937760" cy="25146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474720"/>
            <a:ext cx="42976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The model chooses</a:t>
            </a:r>
          </a:p>
        </p:txBody>
      </p:sp>
      <p:sp>
        <p:nvSpPr>
          <p:cNvPr id="22" name="TextBox 21"/>
          <p:cNvSpPr txBox="1"/>
          <p:nvPr/>
        </p:nvSpPr>
        <p:spPr>
          <a:xfrm>
            <a:off x="1463040" y="4526280"/>
            <a:ext cx="4297680" cy="10058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Using the goal and the conversation history.</a:t>
            </a:r>
          </a:p>
        </p:txBody>
      </p:sp>
      <p:sp>
        <p:nvSpPr>
          <p:cNvPr id="23" name="Rounded Rectangle 22"/>
          <p:cNvSpPr/>
          <p:nvPr/>
        </p:nvSpPr>
        <p:spPr>
          <a:xfrm>
            <a:off x="6675120" y="3200400"/>
            <a:ext cx="4937760" cy="25146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59" y="3474720"/>
            <a:ext cx="42976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Python checks</a:t>
            </a:r>
          </a:p>
        </p:txBody>
      </p:sp>
      <p:sp>
        <p:nvSpPr>
          <p:cNvPr id="25" name="TextBox 24"/>
          <p:cNvSpPr txBox="1"/>
          <p:nvPr/>
        </p:nvSpPr>
        <p:spPr>
          <a:xfrm>
            <a:off x="6995159" y="4526280"/>
            <a:ext cx="4297680" cy="10058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Allowed tools, arguments and lab rules.</a:t>
            </a:r>
          </a:p>
        </p:txBody>
      </p:sp>
      <p:sp>
        <p:nvSpPr>
          <p:cNvPr id="26" name="Rounded Rectangle 25"/>
          <p:cNvSpPr/>
          <p:nvPr/>
        </p:nvSpPr>
        <p:spPr>
          <a:xfrm>
            <a:off x="12207240" y="3200400"/>
            <a:ext cx="4937760" cy="25146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527280" y="3474720"/>
            <a:ext cx="42976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The tool runs</a:t>
            </a:r>
          </a:p>
        </p:txBody>
      </p:sp>
      <p:sp>
        <p:nvSpPr>
          <p:cNvPr id="28" name="TextBox 27"/>
          <p:cNvSpPr txBox="1"/>
          <p:nvPr/>
        </p:nvSpPr>
        <p:spPr>
          <a:xfrm>
            <a:off x="12527280" y="4526280"/>
            <a:ext cx="4297680" cy="1005840"/>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It returns a result or an error.</a:t>
            </a:r>
          </a:p>
        </p:txBody>
      </p:sp>
      <p:sp>
        <p:nvSpPr>
          <p:cNvPr id="29" name="Right Arrow 28"/>
          <p:cNvSpPr/>
          <p:nvPr/>
        </p:nvSpPr>
        <p:spPr>
          <a:xfrm>
            <a:off x="6144768" y="4206240"/>
            <a:ext cx="438912" cy="365760"/>
          </a:xfrm>
          <a:prstGeom prst="right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11676888" y="4206240"/>
            <a:ext cx="438912" cy="365760"/>
          </a:xfrm>
          <a:prstGeom prst="right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wn Arrow 30"/>
          <p:cNvSpPr/>
          <p:nvPr/>
        </p:nvSpPr>
        <p:spPr>
          <a:xfrm>
            <a:off x="14401800" y="5943600"/>
            <a:ext cx="411480" cy="640080"/>
          </a:xfrm>
          <a:prstGeom prst="down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675120" y="6720840"/>
            <a:ext cx="10469880" cy="96012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95160" y="6912864"/>
            <a:ext cx="9829800" cy="640080"/>
          </a:xfrm>
          <a:prstGeom prst="rect">
            <a:avLst/>
          </a:prstGeom>
          <a:noFill/>
        </p:spPr>
        <p:txBody>
          <a:bodyPr wrap="square" lIns="0" rIns="0" tIns="0" bIns="0">
            <a:spAutoFit/>
          </a:bodyPr>
          <a:lstStyle/>
          <a:p>
            <a:pPr>
              <a:lnSpc>
                <a:spcPct val="113000"/>
              </a:lnSpc>
              <a:spcAft>
                <a:spcPts val="700"/>
              </a:spcAft>
            </a:pPr>
            <a:r>
              <a:rPr sz="2500" b="1">
                <a:solidFill>
                  <a:srgbClr val="FFFFFF"/>
                </a:solidFill>
                <a:latin typeface="Poppins"/>
              </a:rPr>
              <a:t>The result is added to the conversation history.</a:t>
            </a:r>
          </a:p>
        </p:txBody>
      </p:sp>
      <p:cxnSp>
        <p:nvCxnSpPr>
          <p:cNvPr id="34" name="Connector 33"/>
          <p:cNvCxnSpPr/>
          <p:nvPr/>
        </p:nvCxnSpPr>
        <p:spPr>
          <a:xfrm flipH="1">
            <a:off x="3611880" y="7205472"/>
            <a:ext cx="3063240" cy="0"/>
          </a:xfrm>
          <a:prstGeom prst="line">
            <a:avLst/>
          </a:prstGeom>
          <a:ln w="38100">
            <a:solidFill>
              <a:srgbClr val="00875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611880" y="6355080"/>
            <a:ext cx="0" cy="850392"/>
          </a:xfrm>
          <a:prstGeom prst="line">
            <a:avLst/>
          </a:prstGeom>
          <a:ln w="38100">
            <a:solidFill>
              <a:srgbClr val="008751"/>
            </a:solidFill>
          </a:ln>
        </p:spPr>
        <p:style>
          <a:lnRef idx="2">
            <a:schemeClr val="accent1"/>
          </a:lnRef>
          <a:fillRef idx="0">
            <a:schemeClr val="accent1"/>
          </a:fillRef>
          <a:effectRef idx="1">
            <a:schemeClr val="accent1"/>
          </a:effectRef>
          <a:fontRef idx="minor">
            <a:schemeClr val="tx1"/>
          </a:fontRef>
        </p:style>
      </p:cxnSp>
      <p:sp>
        <p:nvSpPr>
          <p:cNvPr id="36" name="Up Arrow 35"/>
          <p:cNvSpPr/>
          <p:nvPr/>
        </p:nvSpPr>
        <p:spPr>
          <a:xfrm>
            <a:off x="3401568" y="5897880"/>
            <a:ext cx="420624" cy="502920"/>
          </a:xfrm>
          <a:prstGeom prst="upArrow">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43000" y="7635240"/>
            <a:ext cx="4937760" cy="731520"/>
          </a:xfrm>
          <a:prstGeom prst="rect">
            <a:avLst/>
          </a:prstGeom>
          <a:noFill/>
        </p:spPr>
        <p:txBody>
          <a:bodyPr wrap="square" lIns="0" rIns="0" tIns="0" bIns="0">
            <a:spAutoFit/>
          </a:bodyPr>
          <a:lstStyle/>
          <a:p>
            <a:pPr>
              <a:lnSpc>
                <a:spcPct val="113000"/>
              </a:lnSpc>
              <a:spcAft>
                <a:spcPts val="700"/>
              </a:spcAft>
            </a:pPr>
            <a:r>
              <a:rPr sz="2200" b="0">
                <a:solidFill>
                  <a:srgbClr val="008751"/>
                </a:solidFill>
                <a:latin typeface="Poppins"/>
              </a:rPr>
              <a:t>The model receives this observation on its next turn.</a:t>
            </a:r>
          </a:p>
        </p:txBody>
      </p:sp>
      <p:sp>
        <p:nvSpPr>
          <p:cNvPr id="38" name="TextBox 37"/>
          <p:cNvSpPr txBox="1"/>
          <p:nvPr/>
        </p:nvSpPr>
        <p:spPr>
          <a:xfrm>
            <a:off x="1143000" y="2606040"/>
            <a:ext cx="16002000" cy="502920"/>
          </a:xfrm>
          <a:prstGeom prst="rect">
            <a:avLst/>
          </a:prstGeom>
          <a:noFill/>
        </p:spPr>
        <p:txBody>
          <a:bodyPr wrap="square" lIns="0" rIns="0" tIns="0" bIns="0">
            <a:spAutoFit/>
          </a:bodyPr>
          <a:lstStyle/>
          <a:p>
            <a:pPr>
              <a:lnSpc>
                <a:spcPct val="113000"/>
              </a:lnSpc>
              <a:spcAft>
                <a:spcPts val="700"/>
              </a:spcAft>
            </a:pPr>
            <a:r>
              <a:rPr sz="2300" b="0">
                <a:solidFill>
                  <a:srgbClr val="53645A"/>
                </a:solidFill>
                <a:latin typeface="Poppins"/>
              </a:rPr>
              <a:t>On each turn, the model proposes a tool call or an answer.</a:t>
            </a:r>
          </a:p>
        </p:txBody>
      </p:sp>
      <p:sp>
        <p:nvSpPr>
          <p:cNvPr id="39" name="TextBox 38"/>
          <p:cNvSpPr txBox="1"/>
          <p:nvPr/>
        </p:nvSpPr>
        <p:spPr>
          <a:xfrm>
            <a:off x="1143000" y="8458200"/>
            <a:ext cx="16002000" cy="64008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If the model proposes an answer, Python checks the evidence and either returns or blocks it.</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08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TWO TURNS THROUGH THE LOOP</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We have the reading. What do we still need?</a:t>
            </a:r>
          </a:p>
        </p:txBody>
      </p:sp>
      <p:sp>
        <p:nvSpPr>
          <p:cNvPr id="20" name="Rectangle 19"/>
          <p:cNvSpPr/>
          <p:nvPr/>
        </p:nvSpPr>
        <p:spPr>
          <a:xfrm>
            <a:off x="1143000" y="2880360"/>
            <a:ext cx="16002000" cy="73152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3312" y="3026664"/>
            <a:ext cx="259689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Moment</a:t>
            </a:r>
          </a:p>
        </p:txBody>
      </p:sp>
      <p:sp>
        <p:nvSpPr>
          <p:cNvPr id="22" name="TextBox 21"/>
          <p:cNvSpPr txBox="1"/>
          <p:nvPr/>
        </p:nvSpPr>
        <p:spPr>
          <a:xfrm>
            <a:off x="4370832" y="3026664"/>
            <a:ext cx="662025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What is exchanged</a:t>
            </a:r>
          </a:p>
        </p:txBody>
      </p:sp>
      <p:sp>
        <p:nvSpPr>
          <p:cNvPr id="23" name="TextBox 22"/>
          <p:cNvSpPr txBox="1"/>
          <p:nvPr/>
        </p:nvSpPr>
        <p:spPr>
          <a:xfrm>
            <a:off x="11411712" y="3026664"/>
            <a:ext cx="55229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What it enables</a:t>
            </a:r>
          </a:p>
        </p:txBody>
      </p:sp>
      <p:sp>
        <p:nvSpPr>
          <p:cNvPr id="24" name="Rectangle 23"/>
          <p:cNvSpPr/>
          <p:nvPr/>
        </p:nvSpPr>
        <p:spPr>
          <a:xfrm>
            <a:off x="1143000" y="3611880"/>
            <a:ext cx="16002000" cy="141732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53312" y="3776472"/>
            <a:ext cx="2596896" cy="1197864"/>
          </a:xfrm>
          <a:prstGeom prst="rect">
            <a:avLst/>
          </a:prstGeom>
          <a:noFill/>
        </p:spPr>
        <p:txBody>
          <a:bodyPr wrap="square" lIns="0" rIns="0" tIns="0" bIns="0">
            <a:spAutoFit/>
          </a:bodyPr>
          <a:lstStyle/>
          <a:p>
            <a:pPr>
              <a:lnSpc>
                <a:spcPct val="113000"/>
              </a:lnSpc>
              <a:spcAft>
                <a:spcPts val="700"/>
              </a:spcAft>
            </a:pPr>
            <a:r>
              <a:rPr sz="2500" b="1">
                <a:solidFill>
                  <a:srgbClr val="111713"/>
                </a:solidFill>
                <a:latin typeface="Poppins"/>
              </a:rPr>
              <a:t>Turn 1</a:t>
            </a:r>
          </a:p>
        </p:txBody>
      </p:sp>
      <p:sp>
        <p:nvSpPr>
          <p:cNvPr id="26" name="TextBox 25"/>
          <p:cNvSpPr txBox="1"/>
          <p:nvPr/>
        </p:nvSpPr>
        <p:spPr>
          <a:xfrm>
            <a:off x="4370832" y="3776472"/>
            <a:ext cx="662025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get_clinic_status</a:t>
            </a:r>
          </a:p>
          <a:p>
            <a:pPr>
              <a:lnSpc>
                <a:spcPct val="113000"/>
              </a:lnSpc>
              <a:spcAft>
                <a:spcPts val="700"/>
              </a:spcAft>
            </a:pPr>
            <a:r>
              <a:rPr sz="2500" b="0">
                <a:solidFill>
                  <a:srgbClr val="111713"/>
                </a:solidFill>
                <a:latin typeface="Poppins"/>
              </a:rPr>
              <a:t>clinic_id: KCARE-ADJ-01</a:t>
            </a:r>
          </a:p>
        </p:txBody>
      </p:sp>
      <p:sp>
        <p:nvSpPr>
          <p:cNvPr id="27" name="TextBox 26"/>
          <p:cNvSpPr txBox="1"/>
          <p:nvPr/>
        </p:nvSpPr>
        <p:spPr>
          <a:xfrm>
            <a:off x="11411712" y="3776472"/>
            <a:ext cx="552297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Retrieve the clinic’s state.</a:t>
            </a:r>
          </a:p>
        </p:txBody>
      </p:sp>
      <p:sp>
        <p:nvSpPr>
          <p:cNvPr id="28" name="Rectangle 27"/>
          <p:cNvSpPr/>
          <p:nvPr/>
        </p:nvSpPr>
        <p:spPr>
          <a:xfrm>
            <a:off x="1143000" y="5029200"/>
            <a:ext cx="16002000" cy="141732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53312" y="5193792"/>
            <a:ext cx="2596896" cy="1197864"/>
          </a:xfrm>
          <a:prstGeom prst="rect">
            <a:avLst/>
          </a:prstGeom>
          <a:noFill/>
        </p:spPr>
        <p:txBody>
          <a:bodyPr wrap="square" lIns="0" rIns="0" tIns="0" bIns="0">
            <a:spAutoFit/>
          </a:bodyPr>
          <a:lstStyle/>
          <a:p>
            <a:pPr>
              <a:lnSpc>
                <a:spcPct val="113000"/>
              </a:lnSpc>
              <a:spcAft>
                <a:spcPts val="700"/>
              </a:spcAft>
            </a:pPr>
            <a:r>
              <a:rPr sz="2500" b="1">
                <a:solidFill>
                  <a:srgbClr val="111713"/>
                </a:solidFill>
                <a:latin typeface="Poppins"/>
              </a:rPr>
              <a:t>Observation</a:t>
            </a:r>
          </a:p>
        </p:txBody>
      </p:sp>
      <p:sp>
        <p:nvSpPr>
          <p:cNvPr id="30" name="TextBox 29"/>
          <p:cNvSpPr txBox="1"/>
          <p:nvPr/>
        </p:nvSpPr>
        <p:spPr>
          <a:xfrm>
            <a:off x="4370832" y="5193792"/>
            <a:ext cx="662025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12.4 °C · 52 min · sensor OK</a:t>
            </a:r>
          </a:p>
        </p:txBody>
      </p:sp>
      <p:sp>
        <p:nvSpPr>
          <p:cNvPr id="31" name="TextBox 30"/>
          <p:cNvSpPr txBox="1"/>
          <p:nvPr/>
        </p:nvSpPr>
        <p:spPr>
          <a:xfrm>
            <a:off x="11411712" y="5193792"/>
            <a:ext cx="552297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Keep the facts in the history.</a:t>
            </a:r>
          </a:p>
        </p:txBody>
      </p:sp>
      <p:sp>
        <p:nvSpPr>
          <p:cNvPr id="32" name="Rectangle 31"/>
          <p:cNvSpPr/>
          <p:nvPr/>
        </p:nvSpPr>
        <p:spPr>
          <a:xfrm>
            <a:off x="1143000" y="6446520"/>
            <a:ext cx="16002000" cy="141732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53312" y="6611112"/>
            <a:ext cx="2596896" cy="1197864"/>
          </a:xfrm>
          <a:prstGeom prst="rect">
            <a:avLst/>
          </a:prstGeom>
          <a:noFill/>
        </p:spPr>
        <p:txBody>
          <a:bodyPr wrap="square" lIns="0" rIns="0" tIns="0" bIns="0">
            <a:spAutoFit/>
          </a:bodyPr>
          <a:lstStyle/>
          <a:p>
            <a:pPr>
              <a:lnSpc>
                <a:spcPct val="113000"/>
              </a:lnSpc>
              <a:spcAft>
                <a:spcPts val="700"/>
              </a:spcAft>
            </a:pPr>
            <a:r>
              <a:rPr sz="2500" b="1">
                <a:solidFill>
                  <a:srgbClr val="111713"/>
                </a:solidFill>
                <a:latin typeface="Poppins"/>
              </a:rPr>
              <a:t>Turn 2</a:t>
            </a:r>
          </a:p>
        </p:txBody>
      </p:sp>
      <p:sp>
        <p:nvSpPr>
          <p:cNvPr id="34" name="TextBox 33"/>
          <p:cNvSpPr txBox="1"/>
          <p:nvPr/>
        </p:nvSpPr>
        <p:spPr>
          <a:xfrm>
            <a:off x="4370832" y="6611112"/>
            <a:ext cx="662025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search_cold_chain_sop</a:t>
            </a:r>
          </a:p>
          <a:p>
            <a:pPr>
              <a:lnSpc>
                <a:spcPct val="113000"/>
              </a:lnSpc>
              <a:spcAft>
                <a:spcPts val="700"/>
              </a:spcAft>
            </a:pPr>
            <a:r>
              <a:rPr sz="2500" b="0">
                <a:solidFill>
                  <a:srgbClr val="111713"/>
                </a:solidFill>
                <a:latin typeface="Poppins"/>
              </a:rPr>
              <a:t>query: critical temperature excursion</a:t>
            </a:r>
          </a:p>
        </p:txBody>
      </p:sp>
      <p:sp>
        <p:nvSpPr>
          <p:cNvPr id="35" name="TextBox 34"/>
          <p:cNvSpPr txBox="1"/>
          <p:nvPr/>
        </p:nvSpPr>
        <p:spPr>
          <a:xfrm>
            <a:off x="11411712" y="6611112"/>
            <a:ext cx="5522976" cy="1197864"/>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Find the relevant procedure.</a:t>
            </a:r>
          </a:p>
        </p:txBody>
      </p:sp>
      <p:sp>
        <p:nvSpPr>
          <p:cNvPr id="36" name="TextBox 35"/>
          <p:cNvSpPr txBox="1"/>
          <p:nvPr/>
        </p:nvSpPr>
        <p:spPr>
          <a:xfrm>
            <a:off x="1143000" y="8458200"/>
            <a:ext cx="16002000" cy="54864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Without the returned result, the model cannot know what the first tool found.</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xmlns:r="http://schemas.openxmlformats.org/officeDocument/2006/relationships">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09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THE TOOLBOX</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Five functions to investigate the alert.</a:t>
            </a:r>
          </a:p>
        </p:txBody>
      </p:sp>
      <p:sp>
        <p:nvSpPr>
          <p:cNvPr id="20" name="Rectangle 19"/>
          <p:cNvSpPr/>
          <p:nvPr/>
        </p:nvSpPr>
        <p:spPr>
          <a:xfrm>
            <a:off x="1143000" y="2880360"/>
            <a:ext cx="16002000" cy="73152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3312" y="3026664"/>
            <a:ext cx="447141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Question</a:t>
            </a:r>
          </a:p>
        </p:txBody>
      </p:sp>
      <p:sp>
        <p:nvSpPr>
          <p:cNvPr id="22" name="TextBox 21"/>
          <p:cNvSpPr txBox="1"/>
          <p:nvPr/>
        </p:nvSpPr>
        <p:spPr>
          <a:xfrm>
            <a:off x="6245352" y="3026664"/>
            <a:ext cx="59801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Python tool</a:t>
            </a:r>
          </a:p>
        </p:txBody>
      </p:sp>
      <p:sp>
        <p:nvSpPr>
          <p:cNvPr id="23" name="TextBox 22"/>
          <p:cNvSpPr txBox="1"/>
          <p:nvPr/>
        </p:nvSpPr>
        <p:spPr>
          <a:xfrm>
            <a:off x="12646152" y="3026664"/>
            <a:ext cx="428853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Expected result</a:t>
            </a:r>
          </a:p>
        </p:txBody>
      </p:sp>
      <p:sp>
        <p:nvSpPr>
          <p:cNvPr id="24" name="Rectangle 23"/>
          <p:cNvSpPr/>
          <p:nvPr/>
        </p:nvSpPr>
        <p:spPr>
          <a:xfrm>
            <a:off x="1143000" y="3611880"/>
            <a:ext cx="16002000" cy="914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53312" y="37764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What does the sensor report?</a:t>
            </a:r>
          </a:p>
        </p:txBody>
      </p:sp>
      <p:sp>
        <p:nvSpPr>
          <p:cNvPr id="26" name="TextBox 25"/>
          <p:cNvSpPr txBox="1"/>
          <p:nvPr/>
        </p:nvSpPr>
        <p:spPr>
          <a:xfrm>
            <a:off x="6245352" y="37764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get_clinic_status</a:t>
            </a:r>
          </a:p>
        </p:txBody>
      </p:sp>
      <p:sp>
        <p:nvSpPr>
          <p:cNvPr id="27" name="TextBox 26"/>
          <p:cNvSpPr txBox="1"/>
          <p:nvPr/>
        </p:nvSpPr>
        <p:spPr>
          <a:xfrm>
            <a:off x="12646152" y="37764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The clinic’s telemetry.</a:t>
            </a:r>
          </a:p>
        </p:txBody>
      </p:sp>
      <p:sp>
        <p:nvSpPr>
          <p:cNvPr id="28" name="Rectangle 27"/>
          <p:cNvSpPr/>
          <p:nvPr/>
        </p:nvSpPr>
        <p:spPr>
          <a:xfrm>
            <a:off x="1143000" y="4526280"/>
            <a:ext cx="16002000" cy="91440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53312" y="46908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Which procedure applies?</a:t>
            </a:r>
          </a:p>
        </p:txBody>
      </p:sp>
      <p:sp>
        <p:nvSpPr>
          <p:cNvPr id="30" name="TextBox 29"/>
          <p:cNvSpPr txBox="1"/>
          <p:nvPr/>
        </p:nvSpPr>
        <p:spPr>
          <a:xfrm>
            <a:off x="6245352" y="46908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search_cold_chain_sop</a:t>
            </a:r>
          </a:p>
        </p:txBody>
      </p:sp>
      <p:sp>
        <p:nvSpPr>
          <p:cNvPr id="31" name="TextBox 30"/>
          <p:cNvSpPr txBox="1"/>
          <p:nvPr/>
        </p:nvSpPr>
        <p:spPr>
          <a:xfrm>
            <a:off x="12646152" y="46908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A retrieved local procedure.</a:t>
            </a:r>
          </a:p>
        </p:txBody>
      </p:sp>
      <p:sp>
        <p:nvSpPr>
          <p:cNvPr id="32" name="Rectangle 31"/>
          <p:cNvSpPr/>
          <p:nvPr/>
        </p:nvSpPr>
        <p:spPr>
          <a:xfrm>
            <a:off x="1143000" y="5440680"/>
            <a:ext cx="16002000" cy="914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53312" y="56052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What do the lab rules say?</a:t>
            </a:r>
          </a:p>
        </p:txBody>
      </p:sp>
      <p:sp>
        <p:nvSpPr>
          <p:cNvPr id="34" name="TextBox 33"/>
          <p:cNvSpPr txBox="1"/>
          <p:nvPr/>
        </p:nvSpPr>
        <p:spPr>
          <a:xfrm>
            <a:off x="6245352" y="56052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assess_excursion_risk</a:t>
            </a:r>
          </a:p>
        </p:txBody>
      </p:sp>
      <p:sp>
        <p:nvSpPr>
          <p:cNvPr id="35" name="TextBox 34"/>
          <p:cNvSpPr txBox="1"/>
          <p:nvPr/>
        </p:nvSpPr>
        <p:spPr>
          <a:xfrm>
            <a:off x="12646152" y="56052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Severity and proposed action.</a:t>
            </a:r>
          </a:p>
        </p:txBody>
      </p:sp>
      <p:sp>
        <p:nvSpPr>
          <p:cNvPr id="36" name="Rectangle 35"/>
          <p:cNvSpPr/>
          <p:nvPr/>
        </p:nvSpPr>
        <p:spPr>
          <a:xfrm>
            <a:off x="1143000" y="6355080"/>
            <a:ext cx="16002000" cy="91440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53312" y="65196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How do we record the alert?</a:t>
            </a:r>
          </a:p>
        </p:txBody>
      </p:sp>
      <p:sp>
        <p:nvSpPr>
          <p:cNvPr id="38" name="TextBox 37"/>
          <p:cNvSpPr txBox="1"/>
          <p:nvPr/>
        </p:nvSpPr>
        <p:spPr>
          <a:xfrm>
            <a:off x="6245352" y="65196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create_incident</a:t>
            </a:r>
          </a:p>
        </p:txBody>
      </p:sp>
      <p:sp>
        <p:nvSpPr>
          <p:cNvPr id="39" name="TextBox 38"/>
          <p:cNvSpPr txBox="1"/>
          <p:nvPr/>
        </p:nvSpPr>
        <p:spPr>
          <a:xfrm>
            <a:off x="12646152" y="65196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An incident identifier.</a:t>
            </a:r>
          </a:p>
        </p:txBody>
      </p:sp>
      <p:sp>
        <p:nvSpPr>
          <p:cNvPr id="40" name="Rectangle 39"/>
          <p:cNvSpPr/>
          <p:nvPr/>
        </p:nvSpPr>
        <p:spPr>
          <a:xfrm>
            <a:off x="1143000" y="7269480"/>
            <a:ext cx="16002000" cy="91440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53312" y="7434072"/>
            <a:ext cx="4471416" cy="694944"/>
          </a:xfrm>
          <a:prstGeom prst="rect">
            <a:avLst/>
          </a:prstGeom>
          <a:noFill/>
        </p:spPr>
        <p:txBody>
          <a:bodyPr wrap="square" lIns="0" rIns="0" tIns="0" bIns="0">
            <a:spAutoFit/>
          </a:bodyPr>
          <a:lstStyle/>
          <a:p>
            <a:pPr>
              <a:lnSpc>
                <a:spcPct val="113000"/>
              </a:lnSpc>
              <a:spcAft>
                <a:spcPts val="700"/>
              </a:spcAft>
            </a:pPr>
            <a:r>
              <a:rPr sz="2200" b="1">
                <a:solidFill>
                  <a:srgbClr val="111713"/>
                </a:solidFill>
                <a:latin typeface="Poppins"/>
              </a:rPr>
              <a:t>Does the operator approve?</a:t>
            </a:r>
          </a:p>
        </p:txBody>
      </p:sp>
      <p:sp>
        <p:nvSpPr>
          <p:cNvPr id="42" name="TextBox 41"/>
          <p:cNvSpPr txBox="1"/>
          <p:nvPr/>
        </p:nvSpPr>
        <p:spPr>
          <a:xfrm>
            <a:off x="6245352" y="7434072"/>
            <a:ext cx="5980176" cy="694944"/>
          </a:xfrm>
          <a:prstGeom prst="rect">
            <a:avLst/>
          </a:prstGeom>
          <a:noFill/>
        </p:spPr>
        <p:txBody>
          <a:bodyPr wrap="square" lIns="0" rIns="0" tIns="0" bIns="0">
            <a:spAutoFit/>
          </a:bodyPr>
          <a:lstStyle/>
          <a:p>
            <a:pPr>
              <a:lnSpc>
                <a:spcPct val="113000"/>
              </a:lnSpc>
              <a:spcAft>
                <a:spcPts val="300"/>
              </a:spcAft>
            </a:pPr>
            <a:r>
              <a:rPr sz="2200" b="0">
                <a:solidFill>
                  <a:srgbClr val="111713"/>
                </a:solidFill>
                <a:latin typeface="DejaVu Sans Mono"/>
              </a:rPr>
              <a:t>request_human_review</a:t>
            </a:r>
          </a:p>
        </p:txBody>
      </p:sp>
      <p:sp>
        <p:nvSpPr>
          <p:cNvPr id="43" name="TextBox 42"/>
          <p:cNvSpPr txBox="1"/>
          <p:nvPr/>
        </p:nvSpPr>
        <p:spPr>
          <a:xfrm>
            <a:off x="12646152" y="7434072"/>
            <a:ext cx="4288536" cy="694944"/>
          </a:xfrm>
          <a:prstGeom prst="rect">
            <a:avLst/>
          </a:prstGeom>
          <a:noFill/>
        </p:spPr>
        <p:txBody>
          <a:bodyPr wrap="square" lIns="0" rIns="0" tIns="0" bIns="0">
            <a:spAutoFit/>
          </a:bodyPr>
          <a:lstStyle/>
          <a:p>
            <a:pPr>
              <a:lnSpc>
                <a:spcPct val="113000"/>
              </a:lnSpc>
              <a:spcAft>
                <a:spcPts val="700"/>
              </a:spcAft>
            </a:pPr>
            <a:r>
              <a:rPr sz="2200" b="0">
                <a:solidFill>
                  <a:srgbClr val="111713"/>
                </a:solidFill>
                <a:latin typeface="Poppins"/>
              </a:rPr>
              <a:t>A decision for this incident.</a:t>
            </a:r>
          </a:p>
        </p:txBody>
      </p:sp>
      <p:sp>
        <p:nvSpPr>
          <p:cNvPr id="44" name="TextBox 43"/>
          <p:cNvSpPr txBox="1"/>
          <p:nvPr/>
        </p:nvSpPr>
        <p:spPr>
          <a:xfrm>
            <a:off x="1143000" y="8458200"/>
            <a:ext cx="16002000" cy="54864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The request determines the path. Authorization rules stay in code.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10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WHAT CAN GO WRONG</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Three failures our code needs to recognize.</a:t>
            </a:r>
          </a:p>
        </p:txBody>
      </p:sp>
      <p:sp>
        <p:nvSpPr>
          <p:cNvPr id="20" name="Rounded Rectangle 19"/>
          <p:cNvSpPr/>
          <p:nvPr/>
        </p:nvSpPr>
        <p:spPr>
          <a:xfrm>
            <a:off x="114300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The reading changes</a:t>
            </a:r>
          </a:p>
        </p:txBody>
      </p:sp>
      <p:sp>
        <p:nvSpPr>
          <p:cNvPr id="22" name="TextBox 21"/>
          <p:cNvSpPr txBox="1"/>
          <p:nvPr/>
        </p:nvSpPr>
        <p:spPr>
          <a:xfrm>
            <a:off x="146304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The tool returns 12.4 °C. The model then passes 5 °C to the risk calculation. Code must compare that value with the retrieved reading.</a:t>
            </a:r>
          </a:p>
        </p:txBody>
      </p:sp>
      <p:sp>
        <p:nvSpPr>
          <p:cNvPr id="23" name="Rounded Rectangle 22"/>
          <p:cNvSpPr/>
          <p:nvPr/>
        </p:nvSpPr>
        <p:spPr>
          <a:xfrm>
            <a:off x="661416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420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The call repeats</a:t>
            </a:r>
          </a:p>
        </p:txBody>
      </p:sp>
      <p:sp>
        <p:nvSpPr>
          <p:cNvPr id="25" name="TextBox 24"/>
          <p:cNvSpPr txBox="1"/>
          <p:nvPr/>
        </p:nvSpPr>
        <p:spPr>
          <a:xfrm>
            <a:off x="693420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The model requests exactly the same reading again. Code detects an already executed call and stops the loop.</a:t>
            </a:r>
          </a:p>
        </p:txBody>
      </p:sp>
      <p:sp>
        <p:nvSpPr>
          <p:cNvPr id="26" name="Rounded Rectangle 25"/>
          <p:cNvSpPr/>
          <p:nvPr/>
        </p:nvSpPr>
        <p:spPr>
          <a:xfrm>
            <a:off x="12085320" y="2880360"/>
            <a:ext cx="505968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405360" y="3154679"/>
            <a:ext cx="4419600" cy="914400"/>
          </a:xfrm>
          <a:prstGeom prst="rect">
            <a:avLst/>
          </a:prstGeom>
          <a:noFill/>
        </p:spPr>
        <p:txBody>
          <a:bodyPr wrap="square" lIns="0" rIns="0" tIns="0" bIns="0">
            <a:spAutoFit/>
          </a:bodyPr>
          <a:lstStyle/>
          <a:p>
            <a:pPr>
              <a:lnSpc>
                <a:spcPct val="113000"/>
              </a:lnSpc>
              <a:spcAft>
                <a:spcPts val="700"/>
              </a:spcAft>
            </a:pPr>
            <a:r>
              <a:rPr sz="3000" b="1">
                <a:solidFill>
                  <a:srgbClr val="BE2440"/>
                </a:solidFill>
                <a:latin typeface="Poppins"/>
              </a:rPr>
              <a:t>Approval is missing</a:t>
            </a:r>
          </a:p>
        </p:txBody>
      </p:sp>
      <p:sp>
        <p:nvSpPr>
          <p:cNvPr id="28" name="TextBox 27"/>
          <p:cNvSpPr txBox="1"/>
          <p:nvPr/>
        </p:nvSpPr>
        <p:spPr>
          <a:xfrm>
            <a:off x="12405360" y="4206240"/>
            <a:ext cx="441960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The model wants to conclude before the required review. Code requires approval for the correct incident and action.</a:t>
            </a:r>
          </a:p>
        </p:txBody>
      </p:sp>
      <p:sp>
        <p:nvSpPr>
          <p:cNvPr id="29" name="TextBox 28"/>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In the notebook, you will trigger these failures and find where the system stops.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4"/>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11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IN THE NOTEBOOK · CHECKPOINT 1</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From chatbot to the first tool call.</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8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Predict the first call.</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Which function can tell us the state of KCARE-ADJ-01?</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Complete TODO 1.</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Give the model the history and tool schemas, then retrieve its proposed call.</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Compare the call with your prediction.</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Check the tool name and the requested clinic.</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You have succeeded when the call is get_clinic_status with clinic_id = KCARE-ADJ-01.</a:t>
            </a:r>
          </a:p>
        </p:txBody>
      </p:sp>
      <p:sp>
        <p:nvSpPr>
          <p:cNvPr id="35" name="TextBox 34"/>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Chat then tool call with Gemini or labelled mock. Four decisions to complete.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3"/>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12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IN THE NOTEBOOK · CHECKPOINT 2</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Tell the model what the tool found.</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9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Run the provided execution helper.</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Keep the tool, its arguments, its result and the execution status.</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Update the history: TODO 2.</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Add the model’s proposed call, followed by the result returned by the tool.</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Run the next model turn.</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Observe the procedure lookup after the reading.</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The next turn must receive the actual reading. The trace lets you find it again.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13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IN THE NOTEBOOK · CHECKPOINT 3</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Allow the next step or stop the mission.</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10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Complete the condition: TODO 3.</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The reading must match; approval must refer to the right incident and action.</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Observe the provided guard.</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An identical call that already ran must trigger a controlled stop.</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Compare before and after the fix.</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Find the trace evidence that permits the conclusion or requires a stop.</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For the critical mission, all five tools are traced and the simulated operator’s approval is recorded.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14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THE FAILURE CASE · MISSING_APPROVAL</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The model says “resolved.” Can we accept its answer?</a:t>
            </a:r>
          </a:p>
        </p:txBody>
      </p:sp>
      <p:sp>
        <p:nvSpPr>
          <p:cNvPr id="20" name="Rounded Rectangle 19"/>
          <p:cNvSpPr/>
          <p:nvPr/>
        </p:nvSpPr>
        <p:spPr>
          <a:xfrm>
            <a:off x="1143000" y="2834640"/>
            <a:ext cx="7726679" cy="41148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08960"/>
            <a:ext cx="7086599" cy="914400"/>
          </a:xfrm>
          <a:prstGeom prst="rect">
            <a:avLst/>
          </a:prstGeom>
          <a:noFill/>
        </p:spPr>
        <p:txBody>
          <a:bodyPr wrap="square" lIns="0" rIns="0" tIns="0" bIns="0">
            <a:spAutoFit/>
          </a:bodyPr>
          <a:lstStyle/>
          <a:p>
            <a:pPr>
              <a:lnSpc>
                <a:spcPct val="113000"/>
              </a:lnSpc>
              <a:spcAft>
                <a:spcPts val="700"/>
              </a:spcAft>
            </a:pPr>
            <a:r>
              <a:rPr sz="3000" b="1">
                <a:solidFill>
                  <a:srgbClr val="BE2440"/>
                </a:solidFill>
                <a:latin typeface="Poppins"/>
              </a:rPr>
              <a:t>The proposed answer</a:t>
            </a:r>
          </a:p>
        </p:txBody>
      </p:sp>
      <p:sp>
        <p:nvSpPr>
          <p:cNvPr id="22" name="TextBox 21"/>
          <p:cNvSpPr txBox="1"/>
          <p:nvPr/>
        </p:nvSpPr>
        <p:spPr>
          <a:xfrm>
            <a:off x="1463040" y="4160520"/>
            <a:ext cx="7086599" cy="2606040"/>
          </a:xfrm>
          <a:prstGeom prst="rect">
            <a:avLst/>
          </a:prstGeom>
          <a:noFill/>
        </p:spPr>
        <p:txBody>
          <a:bodyPr wrap="square" lIns="0" rIns="0" tIns="0" bIns="0">
            <a:spAutoFit/>
          </a:bodyPr>
          <a:lstStyle/>
          <a:p>
            <a:pPr>
              <a:lnSpc>
                <a:spcPct val="113000"/>
              </a:lnSpc>
              <a:spcAft>
                <a:spcPts val="700"/>
              </a:spcAft>
            </a:pPr>
            <a:r>
              <a:rPr sz="2700" b="0">
                <a:solidFill>
                  <a:srgbClr val="111713"/>
                </a:solidFill>
                <a:latin typeface="Poppins"/>
              </a:rPr>
              <a:t>“Everything is safe; incident resolved.”</a:t>
            </a:r>
          </a:p>
          <a:p>
            <a:pPr>
              <a:lnSpc>
                <a:spcPct val="113000"/>
              </a:lnSpc>
              <a:spcAft>
                <a:spcPts val="700"/>
              </a:spcAft>
            </a:pPr>
            <a:r>
              <a:rPr sz="2700" b="0">
                <a:solidFill>
                  <a:srgbClr val="111713"/>
                </a:solidFill>
                <a:latin typeface="Poppins"/>
              </a:rPr>
              <a:t/>
            </a:r>
          </a:p>
          <a:p>
            <a:pPr>
              <a:lnSpc>
                <a:spcPct val="113000"/>
              </a:lnSpc>
              <a:spcAft>
                <a:spcPts val="700"/>
              </a:spcAft>
            </a:pPr>
            <a:r>
              <a:rPr sz="2700" b="0">
                <a:solidFill>
                  <a:srgbClr val="111713"/>
                </a:solidFill>
                <a:latin typeface="Poppins"/>
              </a:rPr>
              <a:t>The model has read the measurement, procedure and risk level.</a:t>
            </a:r>
          </a:p>
        </p:txBody>
      </p:sp>
      <p:sp>
        <p:nvSpPr>
          <p:cNvPr id="23" name="Rounded Rectangle 22"/>
          <p:cNvSpPr/>
          <p:nvPr/>
        </p:nvSpPr>
        <p:spPr>
          <a:xfrm>
            <a:off x="9372600" y="2834640"/>
            <a:ext cx="7772400" cy="411480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3108960"/>
            <a:ext cx="713232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What the trace shows</a:t>
            </a:r>
          </a:p>
        </p:txBody>
      </p:sp>
      <p:sp>
        <p:nvSpPr>
          <p:cNvPr id="25" name="TextBox 24"/>
          <p:cNvSpPr txBox="1"/>
          <p:nvPr/>
        </p:nvSpPr>
        <p:spPr>
          <a:xfrm>
            <a:off x="9692640" y="4160520"/>
            <a:ext cx="7132320" cy="2606040"/>
          </a:xfrm>
          <a:prstGeom prst="rect">
            <a:avLst/>
          </a:prstGeom>
          <a:noFill/>
        </p:spPr>
        <p:txBody>
          <a:bodyPr wrap="square" lIns="0" rIns="0" tIns="0" bIns="0">
            <a:spAutoFit/>
          </a:bodyPr>
          <a:lstStyle/>
          <a:p>
            <a:pPr>
              <a:lnSpc>
                <a:spcPct val="113000"/>
              </a:lnSpc>
              <a:spcAft>
                <a:spcPts val="700"/>
              </a:spcAft>
            </a:pPr>
            <a:r>
              <a:rPr sz="2700" b="0">
                <a:solidFill>
                  <a:srgbClr val="111713"/>
                </a:solidFill>
                <a:latin typeface="Poppins"/>
              </a:rPr>
              <a:t>The risk requires review.</a:t>
            </a:r>
          </a:p>
          <a:p>
            <a:pPr>
              <a:lnSpc>
                <a:spcPct val="113000"/>
              </a:lnSpc>
              <a:spcAft>
                <a:spcPts val="700"/>
              </a:spcAft>
            </a:pPr>
            <a:r>
              <a:rPr sz="2700" b="0">
                <a:solidFill>
                  <a:srgbClr val="111713"/>
                </a:solidFill>
                <a:latin typeface="Poppins"/>
              </a:rPr>
              <a:t/>
            </a:r>
          </a:p>
          <a:p>
            <a:pPr>
              <a:lnSpc>
                <a:spcPct val="113000"/>
              </a:lnSpc>
              <a:spcAft>
                <a:spcPts val="700"/>
              </a:spcAft>
            </a:pPr>
            <a:r>
              <a:rPr sz="2700" b="0">
                <a:solidFill>
                  <a:srgbClr val="111713"/>
                </a:solidFill>
                <a:latin typeface="Poppins"/>
              </a:rPr>
              <a:t>No incident created.</a:t>
            </a:r>
          </a:p>
          <a:p>
            <a:pPr>
              <a:lnSpc>
                <a:spcPct val="113000"/>
              </a:lnSpc>
              <a:spcAft>
                <a:spcPts val="700"/>
              </a:spcAft>
            </a:pPr>
            <a:r>
              <a:rPr sz="2700" b="0">
                <a:solidFill>
                  <a:srgbClr val="111713"/>
                </a:solidFill>
                <a:latin typeface="Poppins"/>
              </a:rPr>
              <a:t>No approval recorded.</a:t>
            </a:r>
          </a:p>
        </p:txBody>
      </p:sp>
      <p:sp>
        <p:nvSpPr>
          <p:cNvPr id="26" name="Rounded Rectangle 25"/>
          <p:cNvSpPr/>
          <p:nvPr/>
        </p:nvSpPr>
        <p:spPr>
          <a:xfrm>
            <a:off x="1143000" y="7360920"/>
            <a:ext cx="16002000" cy="123444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7607808"/>
            <a:ext cx="15270480" cy="868680"/>
          </a:xfrm>
          <a:prstGeom prst="rect">
            <a:avLst/>
          </a:prstGeom>
          <a:noFill/>
        </p:spPr>
        <p:txBody>
          <a:bodyPr wrap="square" lIns="0" rIns="0" tIns="0" bIns="0">
            <a:spAutoFit/>
          </a:bodyPr>
          <a:lstStyle/>
          <a:p>
            <a:pPr>
              <a:lnSpc>
                <a:spcPct val="113000"/>
              </a:lnSpc>
              <a:spcAft>
                <a:spcPts val="700"/>
              </a:spcAft>
            </a:pPr>
            <a:r>
              <a:rPr sz="2600" b="1">
                <a:solidFill>
                  <a:srgbClr val="FFFFFF"/>
                </a:solidFill>
                <a:latin typeface="Poppins"/>
              </a:rPr>
              <a:t>Python blocks the conclusion: stopped / review_required. Required approval is missing.</a:t>
            </a:r>
          </a:p>
        </p:txBody>
      </p:sp>
      <p:sp>
        <p:nvSpPr>
          <p:cNvPr id="28" name="TextBox 27"/>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This deliberately incorrect answer comes from the deterministic failure simulator.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15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READING AN EVALUATION</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A test passes when the expected behavior is respected.</a:t>
            </a:r>
          </a:p>
        </p:txBody>
      </p:sp>
      <p:sp>
        <p:nvSpPr>
          <p:cNvPr id="20" name="Rectangle 19"/>
          <p:cNvSpPr/>
          <p:nvPr/>
        </p:nvSpPr>
        <p:spPr>
          <a:xfrm>
            <a:off x="1143000" y="2880360"/>
            <a:ext cx="16002000" cy="731520"/>
          </a:xfrm>
          <a:prstGeom prst="rect">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3312" y="3026664"/>
            <a:ext cx="451713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Scenario</a:t>
            </a:r>
          </a:p>
        </p:txBody>
      </p:sp>
      <p:sp>
        <p:nvSpPr>
          <p:cNvPr id="22" name="TextBox 21"/>
          <p:cNvSpPr txBox="1"/>
          <p:nvPr/>
        </p:nvSpPr>
        <p:spPr>
          <a:xfrm>
            <a:off x="6291072" y="3026664"/>
            <a:ext cx="43799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Expected result</a:t>
            </a:r>
          </a:p>
        </p:txBody>
      </p:sp>
      <p:sp>
        <p:nvSpPr>
          <p:cNvPr id="23" name="TextBox 22"/>
          <p:cNvSpPr txBox="1"/>
          <p:nvPr/>
        </p:nvSpPr>
        <p:spPr>
          <a:xfrm>
            <a:off x="11091672" y="3026664"/>
            <a:ext cx="437997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Solution</a:t>
            </a:r>
          </a:p>
        </p:txBody>
      </p:sp>
      <p:sp>
        <p:nvSpPr>
          <p:cNvPr id="24" name="TextBox 23"/>
          <p:cNvSpPr txBox="1"/>
          <p:nvPr/>
        </p:nvSpPr>
        <p:spPr>
          <a:xfrm>
            <a:off x="15892272" y="3026664"/>
            <a:ext cx="1042416" cy="457200"/>
          </a:xfrm>
          <a:prstGeom prst="rect">
            <a:avLst/>
          </a:prstGeom>
          <a:noFill/>
        </p:spPr>
        <p:txBody>
          <a:bodyPr wrap="square" lIns="0" rIns="0" tIns="0" bIns="0">
            <a:spAutoFit/>
          </a:bodyPr>
          <a:lstStyle/>
          <a:p>
            <a:pPr>
              <a:lnSpc>
                <a:spcPct val="113000"/>
              </a:lnSpc>
              <a:spcAft>
                <a:spcPts val="700"/>
              </a:spcAft>
            </a:pPr>
            <a:r>
              <a:rPr sz="2200" b="1">
                <a:solidFill>
                  <a:srgbClr val="FFFFFF"/>
                </a:solidFill>
                <a:latin typeface="Poppins"/>
              </a:rPr>
              <a:t>Test</a:t>
            </a:r>
          </a:p>
        </p:txBody>
      </p:sp>
      <p:sp>
        <p:nvSpPr>
          <p:cNvPr id="25" name="Rectangle 24"/>
          <p:cNvSpPr/>
          <p:nvPr/>
        </p:nvSpPr>
        <p:spPr>
          <a:xfrm>
            <a:off x="1143000" y="3611880"/>
            <a:ext cx="16002000" cy="100584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53312" y="377647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Full critical alert</a:t>
            </a:r>
          </a:p>
        </p:txBody>
      </p:sp>
      <p:sp>
        <p:nvSpPr>
          <p:cNvPr id="27" name="TextBox 26"/>
          <p:cNvSpPr txBox="1"/>
          <p:nvPr/>
        </p:nvSpPr>
        <p:spPr>
          <a:xfrm>
            <a:off x="6291072" y="377647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human_approved</a:t>
            </a:r>
          </a:p>
        </p:txBody>
      </p:sp>
      <p:sp>
        <p:nvSpPr>
          <p:cNvPr id="28" name="TextBox 27"/>
          <p:cNvSpPr txBox="1"/>
          <p:nvPr/>
        </p:nvSpPr>
        <p:spPr>
          <a:xfrm>
            <a:off x="11091672" y="377647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human_approved</a:t>
            </a:r>
          </a:p>
        </p:txBody>
      </p:sp>
      <p:sp>
        <p:nvSpPr>
          <p:cNvPr id="29" name="TextBox 28"/>
          <p:cNvSpPr txBox="1"/>
          <p:nvPr/>
        </p:nvSpPr>
        <p:spPr>
          <a:xfrm>
            <a:off x="15892272" y="377647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30" name="Rectangle 29"/>
          <p:cNvSpPr/>
          <p:nvPr/>
        </p:nvSpPr>
        <p:spPr>
          <a:xfrm>
            <a:off x="1143000" y="4617720"/>
            <a:ext cx="16002000" cy="100584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53312" y="478231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No investigation</a:t>
            </a:r>
          </a:p>
        </p:txBody>
      </p:sp>
      <p:sp>
        <p:nvSpPr>
          <p:cNvPr id="32" name="TextBox 31"/>
          <p:cNvSpPr txBox="1"/>
          <p:nvPr/>
        </p:nvSpPr>
        <p:spPr>
          <a:xfrm>
            <a:off x="6291072" y="478231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33" name="TextBox 32"/>
          <p:cNvSpPr txBox="1"/>
          <p:nvPr/>
        </p:nvSpPr>
        <p:spPr>
          <a:xfrm>
            <a:off x="11091672" y="478231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34" name="TextBox 33"/>
          <p:cNvSpPr txBox="1"/>
          <p:nvPr/>
        </p:nvSpPr>
        <p:spPr>
          <a:xfrm>
            <a:off x="15892272" y="478231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35" name="Rectangle 34"/>
          <p:cNvSpPr/>
          <p:nvPr/>
        </p:nvSpPr>
        <p:spPr>
          <a:xfrm>
            <a:off x="1143000" y="5623560"/>
            <a:ext cx="16002000" cy="1005840"/>
          </a:xfrm>
          <a:prstGeom prst="rect">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53312" y="578815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Missing approval</a:t>
            </a:r>
          </a:p>
        </p:txBody>
      </p:sp>
      <p:sp>
        <p:nvSpPr>
          <p:cNvPr id="37" name="TextBox 36"/>
          <p:cNvSpPr txBox="1"/>
          <p:nvPr/>
        </p:nvSpPr>
        <p:spPr>
          <a:xfrm>
            <a:off x="6291072" y="578815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review_required</a:t>
            </a:r>
          </a:p>
        </p:txBody>
      </p:sp>
      <p:sp>
        <p:nvSpPr>
          <p:cNvPr id="38" name="TextBox 37"/>
          <p:cNvSpPr txBox="1"/>
          <p:nvPr/>
        </p:nvSpPr>
        <p:spPr>
          <a:xfrm>
            <a:off x="11091672" y="578815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review_required</a:t>
            </a:r>
          </a:p>
        </p:txBody>
      </p:sp>
      <p:sp>
        <p:nvSpPr>
          <p:cNvPr id="39" name="TextBox 38"/>
          <p:cNvSpPr txBox="1"/>
          <p:nvPr/>
        </p:nvSpPr>
        <p:spPr>
          <a:xfrm>
            <a:off x="15892272" y="578815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40" name="Rectangle 39"/>
          <p:cNvSpPr/>
          <p:nvPr/>
        </p:nvSpPr>
        <p:spPr>
          <a:xfrm>
            <a:off x="1143000" y="6629400"/>
            <a:ext cx="16002000" cy="1005840"/>
          </a:xfrm>
          <a:prstGeom prst="rect">
            <a:avLst/>
          </a:prstGeom>
          <a:solidFill>
            <a:srgbClr val="FA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53312" y="6793992"/>
            <a:ext cx="4517136" cy="786384"/>
          </a:xfrm>
          <a:prstGeom prst="rect">
            <a:avLst/>
          </a:prstGeom>
          <a:noFill/>
        </p:spPr>
        <p:txBody>
          <a:bodyPr wrap="square" lIns="0" rIns="0" tIns="0" bIns="0">
            <a:spAutoFit/>
          </a:bodyPr>
          <a:lstStyle/>
          <a:p>
            <a:pPr>
              <a:lnSpc>
                <a:spcPct val="113000"/>
              </a:lnSpc>
              <a:spcAft>
                <a:spcPts val="700"/>
              </a:spcAft>
            </a:pPr>
            <a:r>
              <a:rPr sz="2300" b="1">
                <a:solidFill>
                  <a:srgbClr val="111713"/>
                </a:solidFill>
                <a:latin typeface="Poppins"/>
              </a:rPr>
              <a:t>Repeated identical call</a:t>
            </a:r>
          </a:p>
        </p:txBody>
      </p:sp>
      <p:sp>
        <p:nvSpPr>
          <p:cNvPr id="42" name="TextBox 41"/>
          <p:cNvSpPr txBox="1"/>
          <p:nvPr/>
        </p:nvSpPr>
        <p:spPr>
          <a:xfrm>
            <a:off x="6291072" y="679399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43" name="TextBox 42"/>
          <p:cNvSpPr txBox="1"/>
          <p:nvPr/>
        </p:nvSpPr>
        <p:spPr>
          <a:xfrm>
            <a:off x="11091672" y="6793992"/>
            <a:ext cx="4379976" cy="786384"/>
          </a:xfrm>
          <a:prstGeom prst="rect">
            <a:avLst/>
          </a:prstGeom>
          <a:noFill/>
        </p:spPr>
        <p:txBody>
          <a:bodyPr wrap="square" lIns="0" rIns="0" tIns="0" bIns="0">
            <a:spAutoFit/>
          </a:bodyPr>
          <a:lstStyle/>
          <a:p>
            <a:pPr>
              <a:lnSpc>
                <a:spcPct val="113000"/>
              </a:lnSpc>
              <a:spcAft>
                <a:spcPts val="700"/>
              </a:spcAft>
            </a:pPr>
            <a:r>
              <a:rPr sz="2300" b="0">
                <a:solidFill>
                  <a:srgbClr val="111713"/>
                </a:solidFill>
                <a:latin typeface="Poppins"/>
              </a:rPr>
              <a:t>blocked</a:t>
            </a:r>
          </a:p>
        </p:txBody>
      </p:sp>
      <p:sp>
        <p:nvSpPr>
          <p:cNvPr id="44" name="TextBox 43"/>
          <p:cNvSpPr txBox="1"/>
          <p:nvPr/>
        </p:nvSpPr>
        <p:spPr>
          <a:xfrm>
            <a:off x="15892272" y="6793992"/>
            <a:ext cx="1042416" cy="786384"/>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PASS</a:t>
            </a:r>
          </a:p>
        </p:txBody>
      </p:sp>
      <p:sp>
        <p:nvSpPr>
          <p:cNvPr id="45" name="TextBox 44"/>
          <p:cNvSpPr txBox="1"/>
          <p:nvPr/>
        </p:nvSpPr>
        <p:spPr>
          <a:xfrm>
            <a:off x="1143000" y="8458200"/>
            <a:ext cx="16002000" cy="548640"/>
          </a:xfrm>
          <a:prstGeom prst="rect">
            <a:avLst/>
          </a:prstGeom>
          <a:noFill/>
        </p:spPr>
        <p:txBody>
          <a:bodyPr wrap="square" lIns="0" rIns="0" tIns="0" bIns="0">
            <a:spAutoFit/>
          </a:bodyPr>
          <a:lstStyle/>
          <a:p>
            <a:pPr>
              <a:lnSpc>
                <a:spcPct val="113000"/>
              </a:lnSpc>
              <a:spcAft>
                <a:spcPts val="700"/>
              </a:spcAft>
            </a:pPr>
            <a:r>
              <a:rPr sz="2300" b="1">
                <a:solidFill>
                  <a:srgbClr val="008751"/>
                </a:solidFill>
                <a:latin typeface="Poppins"/>
              </a:rPr>
              <a:t>Stopping can be the correct result: tests also check when the agent should refuse to continue.</a:t>
            </a:r>
          </a:p>
        </p:txBody>
      </p:sp>
      <p:sp>
        <p:nvSpPr>
          <p:cNvPr id="46" name="TextBox 45"/>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Solution excerpts: ten deterministic scenarios, including seven deliberate failures. No API calls.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16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IN THE NOTEBOOK · CHECKPOINT 4</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Test each safeguard against a specific case.</a:t>
            </a:r>
          </a:p>
        </p:txBody>
      </p:sp>
      <p:sp>
        <p:nvSpPr>
          <p:cNvPr id="20" name="TextBox 19"/>
          <p:cNvSpPr txBox="1"/>
          <p:nvPr/>
        </p:nvSpPr>
        <p:spPr>
          <a:xfrm>
            <a:off x="15361920" y="731520"/>
            <a:ext cx="1783080" cy="502920"/>
          </a:xfrm>
          <a:prstGeom prst="rect">
            <a:avLst/>
          </a:prstGeom>
          <a:noFill/>
        </p:spPr>
        <p:txBody>
          <a:bodyPr wrap="square" lIns="0" rIns="0" tIns="0" bIns="0">
            <a:spAutoFit/>
          </a:bodyPr>
          <a:lstStyle/>
          <a:p>
            <a:pPr algn="r">
              <a:lnSpc>
                <a:spcPct val="113000"/>
              </a:lnSpc>
              <a:spcAft>
                <a:spcPts val="700"/>
              </a:spcAft>
            </a:pPr>
            <a:r>
              <a:rPr sz="2200" b="1">
                <a:solidFill>
                  <a:srgbClr val="008751"/>
                </a:solidFill>
                <a:latin typeface="Poppins"/>
              </a:rPr>
              <a:t>5 min</a:t>
            </a:r>
          </a:p>
        </p:txBody>
      </p:sp>
      <p:sp>
        <p:nvSpPr>
          <p:cNvPr id="21" name="Rounded Rectangle 20"/>
          <p:cNvSpPr/>
          <p:nvPr/>
        </p:nvSpPr>
        <p:spPr>
          <a:xfrm>
            <a:off x="1143000" y="278892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288036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1</a:t>
            </a:r>
          </a:p>
        </p:txBody>
      </p:sp>
      <p:sp>
        <p:nvSpPr>
          <p:cNvPr id="23" name="TextBox 22"/>
          <p:cNvSpPr txBox="1"/>
          <p:nvPr/>
        </p:nvSpPr>
        <p:spPr>
          <a:xfrm>
            <a:off x="2194560" y="278892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Complete TODO 4.</a:t>
            </a:r>
          </a:p>
        </p:txBody>
      </p:sp>
      <p:sp>
        <p:nvSpPr>
          <p:cNvPr id="24" name="TextBox 23"/>
          <p:cNvSpPr txBox="1"/>
          <p:nvPr/>
        </p:nvSpPr>
        <p:spPr>
          <a:xfrm>
            <a:off x="2194560" y="339242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A scenario passes only when every check is true.</a:t>
            </a:r>
          </a:p>
        </p:txBody>
      </p:sp>
      <p:sp>
        <p:nvSpPr>
          <p:cNvPr id="25" name="Rounded Rectangle 24"/>
          <p:cNvSpPr/>
          <p:nvPr/>
        </p:nvSpPr>
        <p:spPr>
          <a:xfrm>
            <a:off x="1143000" y="420624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4297679"/>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2</a:t>
            </a:r>
          </a:p>
        </p:txBody>
      </p:sp>
      <p:sp>
        <p:nvSpPr>
          <p:cNvPr id="27" name="TextBox 26"/>
          <p:cNvSpPr txBox="1"/>
          <p:nvPr/>
        </p:nvSpPr>
        <p:spPr>
          <a:xfrm>
            <a:off x="2194560" y="420624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Run the ten scenarios.</a:t>
            </a:r>
          </a:p>
        </p:txBody>
      </p:sp>
      <p:sp>
        <p:nvSpPr>
          <p:cNvPr id="28" name="TextBox 27"/>
          <p:cNvSpPr txBox="1"/>
          <p:nvPr/>
        </p:nvSpPr>
        <p:spPr>
          <a:xfrm>
            <a:off x="2194560" y="480974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Compare the normal path and deliberate failures with their expected results.</a:t>
            </a:r>
          </a:p>
        </p:txBody>
      </p:sp>
      <p:sp>
        <p:nvSpPr>
          <p:cNvPr id="29" name="Rounded Rectangle 28"/>
          <p:cNvSpPr/>
          <p:nvPr/>
        </p:nvSpPr>
        <p:spPr>
          <a:xfrm>
            <a:off x="1143000" y="5623560"/>
            <a:ext cx="640080" cy="640080"/>
          </a:xfrm>
          <a:prstGeom prst="roundRect">
            <a:avLst>
              <a:gd name="adj" fmla="val 8000"/>
            </a:avLst>
          </a:prstGeom>
          <a:solidFill>
            <a:srgbClr val="0087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715000"/>
            <a:ext cx="640080" cy="457200"/>
          </a:xfrm>
          <a:prstGeom prst="rect">
            <a:avLst/>
          </a:prstGeom>
          <a:noFill/>
        </p:spPr>
        <p:txBody>
          <a:bodyPr wrap="square" lIns="0" rIns="0" tIns="0" bIns="0">
            <a:spAutoFit/>
          </a:bodyPr>
          <a:lstStyle/>
          <a:p>
            <a:pPr algn="ctr">
              <a:lnSpc>
                <a:spcPct val="113000"/>
              </a:lnSpc>
              <a:spcAft>
                <a:spcPts val="700"/>
              </a:spcAft>
            </a:pPr>
            <a:r>
              <a:rPr sz="2500" b="1">
                <a:solidFill>
                  <a:srgbClr val="FFFFFF"/>
                </a:solidFill>
                <a:latin typeface="Poppins"/>
              </a:rPr>
              <a:t>3</a:t>
            </a:r>
          </a:p>
        </p:txBody>
      </p:sp>
      <p:sp>
        <p:nvSpPr>
          <p:cNvPr id="31" name="TextBox 30"/>
          <p:cNvSpPr txBox="1"/>
          <p:nvPr/>
        </p:nvSpPr>
        <p:spPr>
          <a:xfrm>
            <a:off x="2194560" y="5623560"/>
            <a:ext cx="14447520" cy="548640"/>
          </a:xfrm>
          <a:prstGeom prst="rect">
            <a:avLst/>
          </a:prstGeom>
          <a:noFill/>
        </p:spPr>
        <p:txBody>
          <a:bodyPr wrap="square" lIns="0" rIns="0" tIns="0" bIns="0">
            <a:spAutoFit/>
          </a:bodyPr>
          <a:lstStyle/>
          <a:p>
            <a:pPr>
              <a:lnSpc>
                <a:spcPct val="113000"/>
              </a:lnSpc>
              <a:spcAft>
                <a:spcPts val="700"/>
              </a:spcAft>
            </a:pPr>
            <a:r>
              <a:rPr sz="2700" b="1">
                <a:solidFill>
                  <a:srgbClr val="111713"/>
                </a:solidFill>
                <a:latin typeface="Poppins"/>
              </a:rPr>
              <a:t>Explain one result to your partner.</a:t>
            </a:r>
          </a:p>
        </p:txBody>
      </p:sp>
      <p:sp>
        <p:nvSpPr>
          <p:cNvPr id="32" name="TextBox 31"/>
          <p:cNvSpPr txBox="1"/>
          <p:nvPr/>
        </p:nvSpPr>
        <p:spPr>
          <a:xfrm>
            <a:off x="2194560" y="6227064"/>
            <a:ext cx="14447520" cy="68580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Which failure did you trigger? Which check caught it?</a:t>
            </a:r>
          </a:p>
        </p:txBody>
      </p:sp>
      <p:sp>
        <p:nvSpPr>
          <p:cNvPr id="33" name="Rounded Rectangle 32"/>
          <p:cNvSpPr/>
          <p:nvPr/>
        </p:nvSpPr>
        <p:spPr>
          <a:xfrm>
            <a:off x="1143000" y="7315200"/>
            <a:ext cx="16002000" cy="141732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7589520"/>
            <a:ext cx="1527048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Once the mission is approved and all ten evaluations pass, the JSON dossier becomes available.</a:t>
            </a:r>
          </a:p>
        </p:txBody>
      </p:sp>
      <p:sp>
        <p:nvSpPr>
          <p:cNvPr id="35" name="TextBox 34"/>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The five minutes include reading the results. Evaluations stay deterministic.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17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CHECK THAT THE TEST CAN CATCH A BUG</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The test must notice when a safeguard is removed.</a:t>
            </a:r>
          </a:p>
        </p:txBody>
      </p:sp>
      <p:sp>
        <p:nvSpPr>
          <p:cNvPr id="20" name="Rounded Rectangle 19"/>
          <p:cNvSpPr/>
          <p:nvPr/>
        </p:nvSpPr>
        <p:spPr>
          <a:xfrm>
            <a:off x="114300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Without the repetition guard</a:t>
            </a:r>
          </a:p>
        </p:txBody>
      </p:sp>
      <p:sp>
        <p:nvSpPr>
          <p:cNvPr id="22" name="TextBox 21"/>
          <p:cNvSpPr txBox="1"/>
          <p:nvPr/>
        </p:nvSpPr>
        <p:spPr>
          <a:xfrm>
            <a:off x="146304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The model can request the same tool again. The repeat case no longer matches the expected behavior, so its test fails.</a:t>
            </a:r>
          </a:p>
        </p:txBody>
      </p:sp>
      <p:sp>
        <p:nvSpPr>
          <p:cNvPr id="23" name="Rounded Rectangle 22"/>
          <p:cNvSpPr/>
          <p:nvPr/>
        </p:nvSpPr>
        <p:spPr>
          <a:xfrm>
            <a:off x="9349740" y="2880360"/>
            <a:ext cx="7795260" cy="452628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69780" y="3154679"/>
            <a:ext cx="7155180" cy="914400"/>
          </a:xfrm>
          <a:prstGeom prst="rect">
            <a:avLst/>
          </a:prstGeom>
          <a:noFill/>
        </p:spPr>
        <p:txBody>
          <a:bodyPr wrap="square" lIns="0" rIns="0" tIns="0" bIns="0">
            <a:spAutoFit/>
          </a:bodyPr>
          <a:lstStyle/>
          <a:p>
            <a:pPr>
              <a:lnSpc>
                <a:spcPct val="113000"/>
              </a:lnSpc>
              <a:spcAft>
                <a:spcPts val="700"/>
              </a:spcAft>
            </a:pPr>
            <a:r>
              <a:rPr sz="3000" b="1">
                <a:solidFill>
                  <a:srgbClr val="111713"/>
                </a:solidFill>
                <a:latin typeface="Poppins"/>
              </a:rPr>
              <a:t>With the guard restored</a:t>
            </a:r>
          </a:p>
        </p:txBody>
      </p:sp>
      <p:sp>
        <p:nvSpPr>
          <p:cNvPr id="25" name="TextBox 24"/>
          <p:cNvSpPr txBox="1"/>
          <p:nvPr/>
        </p:nvSpPr>
        <p:spPr>
          <a:xfrm>
            <a:off x="9669780" y="4206240"/>
            <a:ext cx="7155180" cy="3017520"/>
          </a:xfrm>
          <a:prstGeom prst="rect">
            <a:avLst/>
          </a:prstGeom>
          <a:noFill/>
        </p:spPr>
        <p:txBody>
          <a:bodyPr wrap="square" lIns="0" rIns="0" tIns="0" bIns="0">
            <a:spAutoFit/>
          </a:bodyPr>
          <a:lstStyle/>
          <a:p>
            <a:pPr>
              <a:lnSpc>
                <a:spcPct val="113000"/>
              </a:lnSpc>
              <a:spcAft>
                <a:spcPts val="700"/>
              </a:spcAft>
            </a:pPr>
            <a:r>
              <a:rPr sz="2500" b="0">
                <a:solidFill>
                  <a:srgbClr val="111713"/>
                </a:solidFill>
                <a:latin typeface="Poppins"/>
              </a:rPr>
              <a:t>Python recognizes the already executed call and stops the loop. The same test passes because the repeated call is blocked.</a:t>
            </a:r>
          </a:p>
        </p:txBody>
      </p:sp>
      <p:sp>
        <p:nvSpPr>
          <p:cNvPr id="26" name="TextBox 25"/>
          <p:cNvSpPr txBox="1"/>
          <p:nvPr/>
        </p:nvSpPr>
        <p:spPr>
          <a:xfrm>
            <a:off x="1143000" y="7726679"/>
            <a:ext cx="16002000" cy="91440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10/10 covers these ten scenarios. A new risk needs a new test case.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18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WHAT YOU TAKE HOME</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A dossier you can explain and inspect.</a:t>
            </a:r>
          </a:p>
        </p:txBody>
      </p:sp>
      <p:sp>
        <p:nvSpPr>
          <p:cNvPr id="20" name="Rounded Rectangle 19"/>
          <p:cNvSpPr/>
          <p:nvPr/>
        </p:nvSpPr>
        <p:spPr>
          <a:xfrm>
            <a:off x="114300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INCIDENT</a:t>
            </a:r>
          </a:p>
        </p:txBody>
      </p:sp>
      <p:sp>
        <p:nvSpPr>
          <p:cNvPr id="22" name="TextBox 21"/>
          <p:cNvSpPr txBox="1"/>
          <p:nvPr/>
        </p:nvSpPr>
        <p:spPr>
          <a:xfrm>
            <a:off x="137160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INC-001</a:t>
            </a:r>
          </a:p>
        </p:txBody>
      </p:sp>
      <p:sp>
        <p:nvSpPr>
          <p:cNvPr id="23" name="Rounded Rectangle 22"/>
          <p:cNvSpPr/>
          <p:nvPr/>
        </p:nvSpPr>
        <p:spPr>
          <a:xfrm>
            <a:off x="521208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TOOL CALLS</a:t>
            </a:r>
          </a:p>
        </p:txBody>
      </p:sp>
      <p:sp>
        <p:nvSpPr>
          <p:cNvPr id="25" name="TextBox 24"/>
          <p:cNvSpPr txBox="1"/>
          <p:nvPr/>
        </p:nvSpPr>
        <p:spPr>
          <a:xfrm>
            <a:off x="544068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5</a:t>
            </a:r>
          </a:p>
        </p:txBody>
      </p:sp>
      <p:sp>
        <p:nvSpPr>
          <p:cNvPr id="26" name="Rounded Rectangle 25"/>
          <p:cNvSpPr/>
          <p:nvPr/>
        </p:nvSpPr>
        <p:spPr>
          <a:xfrm>
            <a:off x="928116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SIMULATED OPERATOR</a:t>
            </a:r>
          </a:p>
        </p:txBody>
      </p:sp>
      <p:sp>
        <p:nvSpPr>
          <p:cNvPr id="28" name="TextBox 27"/>
          <p:cNvSpPr txBox="1"/>
          <p:nvPr/>
        </p:nvSpPr>
        <p:spPr>
          <a:xfrm>
            <a:off x="950976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APPROVED</a:t>
            </a:r>
          </a:p>
        </p:txBody>
      </p:sp>
      <p:sp>
        <p:nvSpPr>
          <p:cNvPr id="29" name="Rounded Rectangle 28"/>
          <p:cNvSpPr/>
          <p:nvPr/>
        </p:nvSpPr>
        <p:spPr>
          <a:xfrm>
            <a:off x="13350240" y="2834640"/>
            <a:ext cx="3794760" cy="1463040"/>
          </a:xfrm>
          <a:prstGeom prst="roundRect">
            <a:avLst>
              <a:gd name="adj" fmla="val 8000"/>
            </a:avLst>
          </a:prstGeom>
          <a:solidFill>
            <a:srgbClr val="EF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578840" y="3044952"/>
            <a:ext cx="3337560" cy="411480"/>
          </a:xfrm>
          <a:prstGeom prst="rect">
            <a:avLst/>
          </a:prstGeom>
          <a:noFill/>
        </p:spPr>
        <p:txBody>
          <a:bodyPr wrap="square" lIns="0" rIns="0" tIns="0" bIns="0">
            <a:spAutoFit/>
          </a:bodyPr>
          <a:lstStyle/>
          <a:p>
            <a:pPr>
              <a:lnSpc>
                <a:spcPct val="113000"/>
              </a:lnSpc>
              <a:spcAft>
                <a:spcPts val="700"/>
              </a:spcAft>
            </a:pPr>
            <a:r>
              <a:rPr sz="1800" b="0">
                <a:solidFill>
                  <a:srgbClr val="53645A"/>
                </a:solidFill>
                <a:latin typeface="Poppins"/>
              </a:rPr>
              <a:t>EVALUATIONS</a:t>
            </a:r>
          </a:p>
        </p:txBody>
      </p:sp>
      <p:sp>
        <p:nvSpPr>
          <p:cNvPr id="31" name="TextBox 30"/>
          <p:cNvSpPr txBox="1"/>
          <p:nvPr/>
        </p:nvSpPr>
        <p:spPr>
          <a:xfrm>
            <a:off x="13578840" y="3584448"/>
            <a:ext cx="3337560" cy="594360"/>
          </a:xfrm>
          <a:prstGeom prst="rect">
            <a:avLst/>
          </a:prstGeom>
          <a:noFill/>
        </p:spPr>
        <p:txBody>
          <a:bodyPr wrap="square" lIns="0" rIns="0" tIns="0" bIns="0">
            <a:spAutoFit/>
          </a:bodyPr>
          <a:lstStyle/>
          <a:p>
            <a:pPr>
              <a:lnSpc>
                <a:spcPct val="113000"/>
              </a:lnSpc>
              <a:spcAft>
                <a:spcPts val="700"/>
              </a:spcAft>
            </a:pPr>
            <a:r>
              <a:rPr sz="3000" b="1">
                <a:solidFill>
                  <a:srgbClr val="008751"/>
                </a:solidFill>
                <a:latin typeface="Poppins"/>
              </a:rPr>
              <a:t>10 / 10</a:t>
            </a:r>
          </a:p>
        </p:txBody>
      </p:sp>
      <p:sp>
        <p:nvSpPr>
          <p:cNvPr id="32" name="Rounded Rectangle 31"/>
          <p:cNvSpPr/>
          <p:nvPr/>
        </p:nvSpPr>
        <p:spPr>
          <a:xfrm>
            <a:off x="1143000" y="4663440"/>
            <a:ext cx="7680960" cy="3886200"/>
          </a:xfrm>
          <a:prstGeom prst="roundRect">
            <a:avLst>
              <a:gd name="adj" fmla="val 8000"/>
            </a:avLst>
          </a:prstGeom>
          <a:solidFill>
            <a:srgbClr val="111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63040" y="4983480"/>
            <a:ext cx="7040880" cy="3246120"/>
          </a:xfrm>
          <a:prstGeom prst="rect">
            <a:avLst/>
          </a:prstGeom>
          <a:noFill/>
        </p:spPr>
        <p:txBody>
          <a:bodyPr wrap="square" lIns="0" rIns="0" tIns="0" bIns="0">
            <a:spAutoFit/>
          </a:bodyPr>
          <a:lstStyle/>
          <a:p>
            <a:pPr>
              <a:lnSpc>
                <a:spcPct val="113000"/>
              </a:lnSpc>
              <a:spcAft>
                <a:spcPts val="300"/>
              </a:spcAft>
            </a:pPr>
            <a:r>
              <a:rPr sz="2200" b="0">
                <a:solidFill>
                  <a:srgbClr val="FFFFFF"/>
                </a:solidFill>
                <a:latin typeface="DejaVu Sans Mono"/>
              </a:rPr>
              <a:t>{</a:t>
            </a:r>
          </a:p>
          <a:p>
            <a:pPr>
              <a:lnSpc>
                <a:spcPct val="113000"/>
              </a:lnSpc>
              <a:spcAft>
                <a:spcPts val="300"/>
              </a:spcAft>
            </a:pPr>
            <a:r>
              <a:rPr sz="2200" b="0">
                <a:solidFill>
                  <a:srgbClr val="FFFFFF"/>
                </a:solidFill>
                <a:latin typeface="DejaVu Sans Mono"/>
              </a:rPr>
              <a:t>  "alert_id": "CC-204",</a:t>
            </a:r>
          </a:p>
          <a:p>
            <a:pPr>
              <a:lnSpc>
                <a:spcPct val="113000"/>
              </a:lnSpc>
              <a:spcAft>
                <a:spcPts val="300"/>
              </a:spcAft>
            </a:pPr>
            <a:r>
              <a:rPr sz="2200" b="0">
                <a:solidFill>
                  <a:srgbClr val="FFFFFF"/>
                </a:solidFill>
                <a:latin typeface="DejaVu Sans Mono"/>
              </a:rPr>
              <a:t>  "execution_evidence": [{</a:t>
            </a:r>
          </a:p>
          <a:p>
            <a:pPr>
              <a:lnSpc>
                <a:spcPct val="113000"/>
              </a:lnSpc>
              <a:spcAft>
                <a:spcPts val="300"/>
              </a:spcAft>
            </a:pPr>
            <a:r>
              <a:rPr sz="2200" b="0">
                <a:solidFill>
                  <a:srgbClr val="FFFFFF"/>
                </a:solidFill>
                <a:latin typeface="DejaVu Sans Mono"/>
              </a:rPr>
              <a:t>    "tool": "get_clinic_status",</a:t>
            </a:r>
          </a:p>
          <a:p>
            <a:pPr>
              <a:lnSpc>
                <a:spcPct val="113000"/>
              </a:lnSpc>
              <a:spcAft>
                <a:spcPts val="300"/>
              </a:spcAft>
            </a:pPr>
            <a:r>
              <a:rPr sz="2200" b="0">
                <a:solidFill>
                  <a:srgbClr val="FFFFFF"/>
                </a:solidFill>
                <a:latin typeface="DejaVu Sans Mono"/>
              </a:rPr>
              <a:t>    "status": "success"</a:t>
            </a:r>
          </a:p>
          <a:p>
            <a:pPr>
              <a:lnSpc>
                <a:spcPct val="113000"/>
              </a:lnSpc>
              <a:spcAft>
                <a:spcPts val="300"/>
              </a:spcAft>
            </a:pPr>
            <a:r>
              <a:rPr sz="2200" b="0">
                <a:solidFill>
                  <a:srgbClr val="FFFFFF"/>
                </a:solidFill>
                <a:latin typeface="DejaVu Sans Mono"/>
              </a:rPr>
              <a:t>  }]</a:t>
            </a:r>
          </a:p>
          <a:p>
            <a:pPr>
              <a:lnSpc>
                <a:spcPct val="113000"/>
              </a:lnSpc>
              <a:spcAft>
                <a:spcPts val="300"/>
              </a:spcAft>
            </a:pPr>
            <a:r>
              <a:rPr sz="2200" b="0">
                <a:solidFill>
                  <a:srgbClr val="FFFFFF"/>
                </a:solidFill>
                <a:latin typeface="DejaVu Sans Mono"/>
              </a:rPr>
              <a:t>}</a:t>
            </a:r>
          </a:p>
        </p:txBody>
      </p:sp>
      <p:sp>
        <p:nvSpPr>
          <p:cNvPr id="34" name="TextBox 33"/>
          <p:cNvSpPr txBox="1"/>
          <p:nvPr/>
        </p:nvSpPr>
        <p:spPr>
          <a:xfrm>
            <a:off x="9418320" y="4709160"/>
            <a:ext cx="7680960" cy="2468880"/>
          </a:xfrm>
          <a:prstGeom prst="rect">
            <a:avLst/>
          </a:prstGeom>
          <a:noFill/>
        </p:spPr>
        <p:txBody>
          <a:bodyPr wrap="square" lIns="0" rIns="0" tIns="0" bIns="0">
            <a:spAutoFit/>
          </a:bodyPr>
          <a:lstStyle/>
          <a:p>
            <a:pPr>
              <a:lnSpc>
                <a:spcPct val="113000"/>
              </a:lnSpc>
              <a:spcAft>
                <a:spcPts val="700"/>
              </a:spcAft>
            </a:pPr>
            <a:r>
              <a:rPr sz="2700" b="0">
                <a:solidFill>
                  <a:srgbClr val="111713"/>
                </a:solidFill>
                <a:latin typeface="Poppins"/>
              </a:rPr>
              <a:t>The file contains readings, tool calls and results, the simulated decision and the evaluations. Your chosen failure experiment is included too.</a:t>
            </a:r>
          </a:p>
        </p:txBody>
      </p:sp>
      <p:sp>
        <p:nvSpPr>
          <p:cNvPr id="35" name="TextBox 34"/>
          <p:cNvSpPr txBox="1"/>
          <p:nvPr/>
        </p:nvSpPr>
        <p:spPr>
          <a:xfrm>
            <a:off x="9418320" y="7315200"/>
            <a:ext cx="7680960" cy="1097280"/>
          </a:xfrm>
          <a:prstGeom prst="rect">
            <a:avLst/>
          </a:prstGeom>
          <a:noFill/>
        </p:spPr>
        <p:txBody>
          <a:bodyPr wrap="square" lIns="0" rIns="0" tIns="0" bIns="0">
            <a:spAutoFit/>
          </a:bodyPr>
          <a:lstStyle/>
          <a:p>
            <a:pPr>
              <a:lnSpc>
                <a:spcPct val="113000"/>
              </a:lnSpc>
              <a:spcAft>
                <a:spcPts val="700"/>
              </a:spcAft>
            </a:pPr>
            <a:r>
              <a:rPr sz="2500" b="1">
                <a:solidFill>
                  <a:srgbClr val="008751"/>
                </a:solidFill>
                <a:latin typeface="Poppins"/>
              </a:rPr>
              <a:t>Pick a decision in the dossier and find the evidence that justifies it.</a:t>
            </a:r>
          </a:p>
        </p:txBody>
      </p:sp>
      <p:sp>
        <p:nvSpPr>
          <p:cNvPr id="36" name="TextBox 35"/>
          <p:cNvSpPr txBox="1"/>
          <p:nvPr/>
        </p:nvSpPr>
        <p:spPr>
          <a:xfrm>
            <a:off x="1143000" y="8961120"/>
            <a:ext cx="16002000" cy="566928"/>
          </a:xfrm>
          <a:prstGeom prst="rect">
            <a:avLst/>
          </a:prstGeom>
          <a:noFill/>
        </p:spPr>
        <p:txBody>
          <a:bodyPr wrap="square" lIns="0" rIns="0" tIns="0" bIns="0">
            <a:spAutoFit/>
          </a:bodyPr>
          <a:lstStyle/>
          <a:p>
            <a:pPr>
              <a:lnSpc>
                <a:spcPct val="113000"/>
              </a:lnSpc>
              <a:spcAft>
                <a:spcPts val="700"/>
              </a:spcAft>
            </a:pPr>
            <a:r>
              <a:rPr sz="1700" b="0">
                <a:solidFill>
                  <a:srgbClr val="53645A"/>
                </a:solidFill>
                <a:latin typeface="Poppins"/>
              </a:rPr>
              <a:t>Shortened excerpt from the solution dossier in mock mode. The file records the exercise; no physical action occurs.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19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KEEP GOING</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Use the code to add your own scenario.</a:t>
            </a:r>
          </a:p>
        </p:txBody>
      </p:sp>
      <p:sp>
        <p:nvSpPr>
          <p:cNvPr id="20" name="TextBox 19"/>
          <p:cNvSpPr txBox="1"/>
          <p:nvPr/>
        </p:nvSpPr>
        <p:spPr>
          <a:xfrm>
            <a:off x="1143000" y="2834640"/>
            <a:ext cx="16002000" cy="640080"/>
          </a:xfrm>
          <a:prstGeom prst="rect">
            <a:avLst/>
          </a:prstGeom>
          <a:noFill/>
        </p:spPr>
        <p:txBody>
          <a:bodyPr wrap="square" lIns="0" rIns="0" tIns="0" bIns="0">
            <a:spAutoFit/>
          </a:bodyPr>
          <a:lstStyle/>
          <a:p>
            <a:pPr>
              <a:lnSpc>
                <a:spcPct val="113000"/>
              </a:lnSpc>
              <a:spcAft>
                <a:spcPts val="700"/>
              </a:spcAft>
            </a:pPr>
            <a:r>
              <a:rPr sz="2900" b="1">
                <a:solidFill>
                  <a:srgbClr val="008751"/>
                </a:solidFill>
                <a:latin typeface="Poppins"/>
                <a:hlinkClick r:id="rId3"/>
              </a:rPr>
              <a:t>Workshop repository · French and English notebooks</a:t>
            </a:r>
          </a:p>
        </p:txBody>
      </p:sp>
      <p:sp>
        <p:nvSpPr>
          <p:cNvPr id="21" name="TextBox 20"/>
          <p:cNvSpPr txBox="1"/>
          <p:nvPr/>
        </p:nvSpPr>
        <p:spPr>
          <a:xfrm>
            <a:off x="1143000" y="3474720"/>
            <a:ext cx="16002000" cy="73152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Open Colab, inspect the solution and download the materials.</a:t>
            </a:r>
          </a:p>
        </p:txBody>
      </p:sp>
      <p:sp>
        <p:nvSpPr>
          <p:cNvPr id="22" name="TextBox 21"/>
          <p:cNvSpPr txBox="1"/>
          <p:nvPr/>
        </p:nvSpPr>
        <p:spPr>
          <a:xfrm>
            <a:off x="1143000" y="4572000"/>
            <a:ext cx="16002000" cy="640080"/>
          </a:xfrm>
          <a:prstGeom prst="rect">
            <a:avLst/>
          </a:prstGeom>
          <a:noFill/>
        </p:spPr>
        <p:txBody>
          <a:bodyPr wrap="square" lIns="0" rIns="0" tIns="0" bIns="0">
            <a:spAutoFit/>
          </a:bodyPr>
          <a:lstStyle/>
          <a:p>
            <a:pPr>
              <a:lnSpc>
                <a:spcPct val="113000"/>
              </a:lnSpc>
              <a:spcAft>
                <a:spcPts val="700"/>
              </a:spcAft>
            </a:pPr>
            <a:r>
              <a:rPr sz="2900" b="1">
                <a:solidFill>
                  <a:srgbClr val="008751"/>
                </a:solidFill>
                <a:latin typeface="Poppins"/>
                <a:hlinkClick r:id="rId4"/>
              </a:rPr>
              <a:t>Anthropic · Building effective agents</a:t>
            </a:r>
          </a:p>
        </p:txBody>
      </p:sp>
      <p:sp>
        <p:nvSpPr>
          <p:cNvPr id="23" name="TextBox 22"/>
          <p:cNvSpPr txBox="1"/>
          <p:nvPr/>
        </p:nvSpPr>
        <p:spPr>
          <a:xfrm>
            <a:off x="1143000" y="5212080"/>
            <a:ext cx="16002000" cy="73152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Further reading on workflows and agents.</a:t>
            </a:r>
          </a:p>
        </p:txBody>
      </p:sp>
      <p:sp>
        <p:nvSpPr>
          <p:cNvPr id="24" name="TextBox 23"/>
          <p:cNvSpPr txBox="1"/>
          <p:nvPr/>
        </p:nvSpPr>
        <p:spPr>
          <a:xfrm>
            <a:off x="1143000" y="6309360"/>
            <a:ext cx="16002000" cy="640080"/>
          </a:xfrm>
          <a:prstGeom prst="rect">
            <a:avLst/>
          </a:prstGeom>
          <a:noFill/>
        </p:spPr>
        <p:txBody>
          <a:bodyPr wrap="square" lIns="0" rIns="0" tIns="0" bIns="0">
            <a:spAutoFit/>
          </a:bodyPr>
          <a:lstStyle/>
          <a:p>
            <a:pPr>
              <a:lnSpc>
                <a:spcPct val="113000"/>
              </a:lnSpc>
              <a:spcAft>
                <a:spcPts val="700"/>
              </a:spcAft>
            </a:pPr>
            <a:r>
              <a:rPr sz="2900" b="1">
                <a:solidFill>
                  <a:srgbClr val="008751"/>
                </a:solidFill>
                <a:latin typeface="Poppins"/>
                <a:hlinkClick r:id="rId5"/>
              </a:rPr>
              <a:t>Google · Gemini API rate limits</a:t>
            </a:r>
          </a:p>
        </p:txBody>
      </p:sp>
      <p:sp>
        <p:nvSpPr>
          <p:cNvPr id="25" name="TextBox 24"/>
          <p:cNvSpPr txBox="1"/>
          <p:nvPr/>
        </p:nvSpPr>
        <p:spPr>
          <a:xfrm>
            <a:off x="1143000" y="6949440"/>
            <a:ext cx="16002000" cy="731520"/>
          </a:xfrm>
          <a:prstGeom prst="rect">
            <a:avLst/>
          </a:prstGeom>
          <a:noFill/>
        </p:spPr>
        <p:txBody>
          <a:bodyPr wrap="square" lIns="0" rIns="0" tIns="0" bIns="0">
            <a:spAutoFit/>
          </a:bodyPr>
          <a:lstStyle/>
          <a:p>
            <a:pPr>
              <a:lnSpc>
                <a:spcPct val="113000"/>
              </a:lnSpc>
              <a:spcAft>
                <a:spcPts val="700"/>
              </a:spcAft>
            </a:pPr>
            <a:r>
              <a:rPr sz="2400" b="0">
                <a:solidFill>
                  <a:srgbClr val="111713"/>
                </a:solidFill>
                <a:latin typeface="Poppins"/>
              </a:rPr>
              <a:t>Check the limits before planning concurrent model calls.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name="Group 14" id="14"/>
          <p:cNvGrpSpPr/>
          <p:nvPr/>
        </p:nvGrpSpPr>
        <p:grpSpPr>
          <a:xfrm rot="0">
            <a:off x="1143000" y="9623298"/>
            <a:ext cx="393668" cy="457200"/>
            <a:chOff x="0" y="0"/>
            <a:chExt cx="524891" cy="609600"/>
          </a:xfrm>
        </p:grpSpPr>
        <p:sp>
          <p:nvSpPr>
            <p:cNvPr name="Freeform 15" id="15"/>
            <p:cNvSpPr/>
            <p:nvPr/>
          </p:nvSpPr>
          <p:spPr>
            <a:xfrm flipH="false" flipV="false" rot="0">
              <a:off x="0" y="0"/>
              <a:ext cx="524891" cy="609600"/>
            </a:xfrm>
            <a:custGeom>
              <a:avLst/>
              <a:gdLst/>
              <a:ahLst/>
              <a:cxnLst/>
              <a:rect r="r" b="b" t="t" l="l"/>
              <a:pathLst>
                <a:path h="609600" w="524891">
                  <a:moveTo>
                    <a:pt x="0" y="0"/>
                  </a:moveTo>
                  <a:lnTo>
                    <a:pt x="524891" y="0"/>
                  </a:lnTo>
                  <a:lnTo>
                    <a:pt x="524891" y="609600"/>
                  </a:lnTo>
                  <a:lnTo>
                    <a:pt x="0" y="609600"/>
                  </a:lnTo>
                  <a:lnTo>
                    <a:pt x="0" y="0"/>
                  </a:lnTo>
                  <a:close/>
                </a:path>
              </a:pathLst>
            </a:custGeom>
            <a:blipFill>
              <a:blip r:embed="rId2"/>
              <a:stretch>
                <a:fillRect l="0" t="0" r="0" b="0"/>
              </a:stretch>
            </a:blipFill>
          </p:spPr>
          <p:txBody>
            <a:bodyPr/>
            <a:p/>
          </p:txBody>
        </p:sp>
      </p:grpSp>
      <p:sp>
        <p:nvSpPr>
          <p:cNvPr name="TextBox 16" id="16"/>
          <p:cNvSpPr txBox="true"/>
          <p:nvPr/>
        </p:nvSpPr>
        <p:spPr>
          <a:xfrm rot="0">
            <a:off x="1689068" y="9699498"/>
            <a:ext cx="1577626" cy="257175"/>
          </a:xfrm>
          <a:prstGeom prst="rect">
            <a:avLst/>
          </a:prstGeom>
        </p:spPr>
        <p:txBody>
          <a:bodyPr anchor="t" rtlCol="false" tIns="0" lIns="0" bIns="0" rIns="0">
            <a:spAutoFit/>
          </a:bodyPr>
          <a:lstStyle/>
          <a:p>
            <a:pPr algn="l">
              <a:lnSpc>
                <a:spcPts val="2310"/>
              </a:lnSpc>
            </a:pPr>
            <a:r>
              <a:rPr lang="en-US" b="true" sz="1650">
                <a:solidFill>
                  <a:srgbClr val="0A0A0A"/>
                </a:solidFill>
                <a:latin typeface="Poppins Bold"/>
                <a:ea typeface="Poppins Bold"/>
                <a:cs typeface="Poppins Bold"/>
                <a:sym typeface="Poppins Bold"/>
              </a:rPr>
              <a:t>Indaba</a:t>
            </a:r>
            <a:r>
              <a:rPr lang="en-US" b="true" sz="1650">
                <a:solidFill>
                  <a:srgbClr val="008751"/>
                </a:solidFill>
                <a:latin typeface="Poppins Bold"/>
                <a:ea typeface="Poppins Bold"/>
                <a:cs typeface="Poppins Bold"/>
                <a:sym typeface="Poppins Bold"/>
              </a:rPr>
              <a:t>X</a:t>
            </a:r>
            <a:r>
              <a:rPr lang="en-US" b="true" sz="1650">
                <a:solidFill>
                  <a:srgbClr val="0A0A0A"/>
                </a:solidFill>
                <a:latin typeface="Poppins Bold"/>
                <a:ea typeface="Poppins Bold"/>
                <a:cs typeface="Poppins Bold"/>
                <a:sym typeface="Poppins Bold"/>
              </a:rPr>
              <a:t> Bénin</a:t>
            </a:r>
          </a:p>
        </p:txBody>
      </p:sp>
      <p:sp>
        <p:nvSpPr>
          <p:cNvPr id="17" name="TextBox 16"/>
          <p:cNvSpPr txBox="1"/>
          <p:nvPr/>
        </p:nvSpPr>
        <p:spPr>
          <a:xfrm>
            <a:off x="15864840" y="9646920"/>
            <a:ext cx="1280160" cy="365760"/>
          </a:xfrm>
          <a:prstGeom prst="rect">
            <a:avLst/>
          </a:prstGeom>
          <a:noFill/>
        </p:spPr>
        <p:txBody>
          <a:bodyPr wrap="square" lIns="0" rIns="0" tIns="0" bIns="0">
            <a:spAutoFit/>
          </a:bodyPr>
          <a:lstStyle/>
          <a:p>
            <a:pPr algn="r">
              <a:lnSpc>
                <a:spcPct val="113000"/>
              </a:lnSpc>
              <a:spcAft>
                <a:spcPts val="700"/>
              </a:spcAft>
            </a:pPr>
            <a:r>
              <a:rPr sz="1700" b="0">
                <a:solidFill>
                  <a:srgbClr val="53645A"/>
                </a:solidFill>
                <a:latin typeface="Poppins"/>
              </a:rPr>
              <a:t>20 / 20</a:t>
            </a:r>
          </a:p>
        </p:txBody>
      </p:sp>
      <p:sp>
        <p:nvSpPr>
          <p:cNvPr id="18" name="TextBox 17"/>
          <p:cNvSpPr txBox="1"/>
          <p:nvPr/>
        </p:nvSpPr>
        <p:spPr>
          <a:xfrm>
            <a:off x="1143000" y="713232"/>
            <a:ext cx="16002000" cy="365760"/>
          </a:xfrm>
          <a:prstGeom prst="rect">
            <a:avLst/>
          </a:prstGeom>
          <a:noFill/>
        </p:spPr>
        <p:txBody>
          <a:bodyPr wrap="square" lIns="0" rIns="0" tIns="0" bIns="0">
            <a:spAutoFit/>
          </a:bodyPr>
          <a:lstStyle/>
          <a:p>
            <a:pPr>
              <a:lnSpc>
                <a:spcPct val="113000"/>
              </a:lnSpc>
              <a:spcAft>
                <a:spcPts val="700"/>
              </a:spcAft>
            </a:pPr>
            <a:r>
              <a:rPr sz="1900" b="1">
                <a:solidFill>
                  <a:srgbClr val="008751"/>
                </a:solidFill>
                <a:latin typeface="Poppins"/>
              </a:rPr>
              <a:t>THANK YOU</a:t>
            </a:r>
          </a:p>
        </p:txBody>
      </p:sp>
      <p:sp>
        <p:nvSpPr>
          <p:cNvPr id="19" name="TextBox 18"/>
          <p:cNvSpPr txBox="1"/>
          <p:nvPr/>
        </p:nvSpPr>
        <p:spPr>
          <a:xfrm>
            <a:off x="1143000" y="1325880"/>
            <a:ext cx="16002000" cy="1371600"/>
          </a:xfrm>
          <a:prstGeom prst="rect">
            <a:avLst/>
          </a:prstGeom>
          <a:noFill/>
        </p:spPr>
        <p:txBody>
          <a:bodyPr wrap="square" lIns="0" rIns="0" tIns="0" bIns="0">
            <a:spAutoFit/>
          </a:bodyPr>
          <a:lstStyle/>
          <a:p>
            <a:pPr>
              <a:lnSpc>
                <a:spcPct val="113000"/>
              </a:lnSpc>
              <a:spcAft>
                <a:spcPts val="700"/>
              </a:spcAft>
            </a:pPr>
            <a:r>
              <a:rPr sz="4300" b="1">
                <a:solidFill>
                  <a:srgbClr val="111713"/>
                </a:solidFill>
                <a:latin typeface="Poppins"/>
              </a:rPr>
              <a:t>Which rule would you test in your own field?</a:t>
            </a:r>
          </a:p>
        </p:txBody>
      </p:sp>
      <p:sp>
        <p:nvSpPr>
          <p:cNvPr id="20" name="TextBox 19"/>
          <p:cNvSpPr txBox="1"/>
          <p:nvPr/>
        </p:nvSpPr>
        <p:spPr>
          <a:xfrm>
            <a:off x="1143000" y="2971800"/>
            <a:ext cx="10789920" cy="2057400"/>
          </a:xfrm>
          <a:prstGeom prst="rect">
            <a:avLst/>
          </a:prstGeom>
          <a:noFill/>
        </p:spPr>
        <p:txBody>
          <a:bodyPr wrap="square" lIns="0" rIns="0" tIns="0" bIns="0">
            <a:spAutoFit/>
          </a:bodyPr>
          <a:lstStyle/>
          <a:p>
            <a:pPr>
              <a:lnSpc>
                <a:spcPct val="113000"/>
              </a:lnSpc>
              <a:spcAft>
                <a:spcPts val="700"/>
              </a:spcAft>
            </a:pPr>
            <a:r>
              <a:rPr sz="3500" b="1">
                <a:solidFill>
                  <a:srgbClr val="008751"/>
                </a:solidFill>
                <a:latin typeface="Poppins"/>
              </a:rPr>
              <a:t>Name an action, then a case where your agent should stop.</a:t>
            </a:r>
          </a:p>
        </p:txBody>
      </p:sp>
      <p:sp>
        <p:nvSpPr>
          <p:cNvPr id="21" name="TextBox 20"/>
          <p:cNvSpPr txBox="1"/>
          <p:nvPr/>
        </p:nvSpPr>
        <p:spPr>
          <a:xfrm>
            <a:off x="1143000" y="5532120"/>
            <a:ext cx="10789920" cy="1463040"/>
          </a:xfrm>
          <a:prstGeom prst="rect">
            <a:avLst/>
          </a:prstGeom>
          <a:noFill/>
        </p:spPr>
        <p:txBody>
          <a:bodyPr wrap="square" lIns="0" rIns="0" tIns="0" bIns="0">
            <a:spAutoFit/>
          </a:bodyPr>
          <a:lstStyle/>
          <a:p>
            <a:pPr>
              <a:lnSpc>
                <a:spcPct val="113000"/>
              </a:lnSpc>
              <a:spcAft>
                <a:spcPts val="700"/>
              </a:spcAft>
            </a:pPr>
            <a:r>
              <a:rPr sz="2600" b="0">
                <a:solidFill>
                  <a:srgbClr val="111713"/>
                </a:solidFill>
                <a:latin typeface="Poppins"/>
              </a:rPr>
              <a:t>Example: prepare a refund, then block its execution when required approval is missing.</a:t>
            </a:r>
          </a:p>
        </p:txBody>
      </p:sp>
      <p:sp>
        <p:nvSpPr>
          <p:cNvPr id="22" name="TextBox 21"/>
          <p:cNvSpPr txBox="1"/>
          <p:nvPr/>
        </p:nvSpPr>
        <p:spPr>
          <a:xfrm>
            <a:off x="1143000" y="7726679"/>
            <a:ext cx="10972800" cy="1005840"/>
          </a:xfrm>
          <a:prstGeom prst="rect">
            <a:avLst/>
          </a:prstGeom>
          <a:noFill/>
        </p:spPr>
        <p:txBody>
          <a:bodyPr wrap="square" lIns="0" rIns="0" tIns="0" bIns="0">
            <a:spAutoFit/>
          </a:bodyPr>
          <a:lstStyle/>
          <a:p>
            <a:pPr>
              <a:lnSpc>
                <a:spcPct val="113000"/>
              </a:lnSpc>
              <a:spcAft>
                <a:spcPts val="700"/>
              </a:spcAft>
            </a:pPr>
            <a:r>
              <a:rPr sz="2100" b="0">
                <a:solidFill>
                  <a:srgbClr val="53645A"/>
                </a:solidFill>
                <a:latin typeface="Poppins"/>
              </a:rPr>
              <a:t>BOSSA Chabel · Software Engineer · ENSGMM</a:t>
            </a:r>
          </a:p>
          <a:p>
            <a:pPr>
              <a:lnSpc>
                <a:spcPct val="113000"/>
              </a:lnSpc>
              <a:spcAft>
                <a:spcPts val="700"/>
              </a:spcAft>
            </a:pPr>
            <a:r>
              <a:rPr sz="2100" b="0">
                <a:solidFill>
                  <a:srgbClr val="53645A"/>
                </a:solidFill>
                <a:latin typeface="Poppins"/>
              </a:rPr>
              <a:t>github.com/chabelbossa · linkedin.com/in/chabel-holdo-bossa</a:t>
            </a:r>
          </a:p>
        </p:txBody>
      </p:sp>
      <p:pic>
        <p:nvPicPr>
          <p:cNvPr id="23" name="Picture 22" descr="repository-qr.png"/>
          <p:cNvPicPr>
            <a:picLocks noChangeAspect="1"/>
          </p:cNvPicPr>
          <p:nvPr/>
        </p:nvPicPr>
        <p:blipFill>
          <a:blip r:embed="rId3"/>
          <a:stretch>
            <a:fillRect/>
          </a:stretch>
        </p:blipFill>
        <p:spPr>
          <a:xfrm>
            <a:off x="13395960" y="3063240"/>
            <a:ext cx="3200400" cy="3200400"/>
          </a:xfrm>
          <a:prstGeom prst="rect">
            <a:avLst/>
          </a:prstGeom>
        </p:spPr>
      </p:pic>
      <p:sp>
        <p:nvSpPr>
          <p:cNvPr id="24" name="TextBox 23"/>
          <p:cNvSpPr txBox="1"/>
          <p:nvPr/>
        </p:nvSpPr>
        <p:spPr>
          <a:xfrm>
            <a:off x="12618720" y="6537960"/>
            <a:ext cx="4572000" cy="960120"/>
          </a:xfrm>
          <a:prstGeom prst="rect">
            <a:avLst/>
          </a:prstGeom>
          <a:noFill/>
        </p:spPr>
        <p:txBody>
          <a:bodyPr wrap="square" lIns="0" rIns="0" tIns="0" bIns="0">
            <a:spAutoFit/>
          </a:bodyPr>
          <a:lstStyle/>
          <a:p>
            <a:pPr algn="ctr">
              <a:lnSpc>
                <a:spcPct val="113000"/>
              </a:lnSpc>
              <a:spcAft>
                <a:spcPts val="700"/>
              </a:spcAft>
            </a:pPr>
            <a:r>
              <a:rPr sz="2300" b="1">
                <a:solidFill>
                  <a:srgbClr val="008751"/>
                </a:solidFill>
                <a:latin typeface="Poppins"/>
                <a:hlinkClick r:id="rId4"/>
              </a:rPr>
              <a:t>Code and notebooks</a:t>
            </a:r>
          </a:p>
          <a:p>
            <a:pPr algn="ctr">
              <a:lnSpc>
                <a:spcPct val="113000"/>
              </a:lnSpc>
              <a:spcAft>
                <a:spcPts val="700"/>
              </a:spcAft>
            </a:pPr>
            <a:r>
              <a:rPr sz="2300" b="1">
                <a:solidFill>
                  <a:srgbClr val="008751"/>
                </a:solidFill>
                <a:latin typeface="Poppins"/>
                <a:hlinkClick r:id="rId4"/>
              </a:rPr>
              <a:t>Scan to open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DAHSZyL3yQI</dc:identifier>
  <dcterms:modified xsi:type="dcterms:W3CDTF">2011-08-01T06:04:30Z</dcterms:modified>
  <cp:revision>1</cp:revision>
  <dc:title>IndabaX Bénin — Speaker Deck Template</dc:title>
</cp:coreProperties>
</file>