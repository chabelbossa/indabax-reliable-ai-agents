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38"/>
    <p:sldId id="269" r:id="rId39"/>
    <p:sldId id="270" r:id="rId40"/>
    <p:sldId id="271" r:id="rId41"/>
    <p:sldId id="272" r:id="rId42"/>
    <p:sldId id="273" r:id="rId43"/>
    <p:sldId id="274" r:id="rId44"/>
    <p:sldId id="275" r:id="rId45"/>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
      <p:font typeface="Poppins Medium" charset="1" panose="00000600000000000000"/>
      <p:regular r:id="rId23"/>
    </p:embeddedFont>
    <p:embeddedFont>
      <p:font typeface="Poppins Semi-Bold" charset="1" panose="00000700000000000000"/>
      <p:regular r:id="rId24"/>
    </p:embeddedFont>
    <p:embeddedFont>
      <p:font typeface="Arimo" charset="1" panose="020B0604020202020204"/>
      <p:regular r:id="rId26"/>
    </p:embeddedFont>
    <p:embeddedFont>
      <p:font typeface="Arimo Bold" charset="1" panose="020B0704020202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theme" Target="theme/theme2.xml"/><Relationship Id="rId20" Type="http://schemas.openxmlformats.org/officeDocument/2006/relationships/notesSlide" Target="notesSlides/notesSlide1.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notesSlide" Target="notesSlides/notesSlide2.xml"/><Relationship Id="rId26" Type="http://schemas.openxmlformats.org/officeDocument/2006/relationships/font" Target="fonts/font26.fntdata"/><Relationship Id="rId27" Type="http://schemas.openxmlformats.org/officeDocument/2006/relationships/notesSlide" Target="notesSlides/notesSlide3.xml"/><Relationship Id="rId28" Type="http://schemas.openxmlformats.org/officeDocument/2006/relationships/notesSlide" Target="notesSlides/notesSlide4.xml"/><Relationship Id="rId29" Type="http://schemas.openxmlformats.org/officeDocument/2006/relationships/notesSlide" Target="notesSlides/notesSlide5.xml"/><Relationship Id="rId30" Type="http://schemas.openxmlformats.org/officeDocument/2006/relationships/notesSlide" Target="notesSlides/notesSlide6.xml"/><Relationship Id="rId31" Type="http://schemas.openxmlformats.org/officeDocument/2006/relationships/notesSlide" Target="notesSlides/notesSlide7.xml"/><Relationship Id="rId32" Type="http://schemas.openxmlformats.org/officeDocument/2006/relationships/font" Target="fonts/font32.fntdata"/><Relationship Id="rId33" Type="http://schemas.openxmlformats.org/officeDocument/2006/relationships/notesSlide" Target="notesSlides/notesSlide8.xml"/><Relationship Id="rId34" Type="http://schemas.openxmlformats.org/officeDocument/2006/relationships/notesSlide" Target="notesSlides/notesSlide9.xml"/><Relationship Id="rId35" Type="http://schemas.openxmlformats.org/officeDocument/2006/relationships/notesSlide" Target="notesSlides/notesSlide10.xml"/><Relationship Id="rId36" Type="http://schemas.openxmlformats.org/officeDocument/2006/relationships/notesSlide" Target="notesSlides/notesSlide11.xml"/><Relationship Id="rId37" Type="http://schemas.openxmlformats.org/officeDocument/2006/relationships/notesSlide" Target="notesSlides/not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0:00. Annoncer la promesse : examiner une alerte avec un agent, observer une erreur puis vérifier la correction. Le français est le parcours principal. Mentionner brièvement la modélisation mathématique et l’ingénierie logicielle.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0:00–0:01. Les slides accompagnent la pratique. Les 31 minutes comprennent 4 minutes de setup puis les checkpoints 1 à 3. Garder les évaluations et le débrief dans le temps prévu.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0:01–0:03. Demander qui utilisait ChatGPT en 2022, puis qui l’utilise aujourd’hui, par un vote à main levée. Prendre deux exemples de vingt secondes. Les dates sont un point de départ personnel, pas une chronologie des fonctions du produit. Faire émerger la question des informations externes.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0:03–0:04. KoraCare est une organisation fictive. Lire l’alerte. Les participants jouent l’équipe de garde. Demander quelle information vérifier en premier. L’objectif est un dossier examiné par un opérateur simulé, pas une intervention physique.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0:04–0:05. Un LLM est un modèle de langage entraîné à générer du texte, du code ou un appel structuré. ChatGPT est une application. Un agent est aussi une application : le modèle y choisit certaines étapes à partir des observations. Les catégories ne sont donc pas trois produits séparés.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0:05–0:06. Montrer le nom de fonction, puis l’argument clinic_id. Le format est une représentation simplifiée du ToolCall Python, pas le format réseau brut de Gemini. La fonction est fournie dans l’exercice. Faire identifier la différence entre demande et résultat. Un outil peut aussi retourner une erreur.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0:06–0:07. Suivre les flèches. L’observation est le résultat d’un outil transmis au modèle. Notre historique garde la proposition et ce résultat. À chaque tour, le code peut refuser un appel. Quand le modèle propose une réponse finale, le code contrôle les preuves avant de la rendre.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0:07–0:08. Exemple déterministe de la solution. Premier tour : get_clinic_status. Le résultat revient dans l’historique ; au tour suivant, search_cold_chain_sop recherche la procédure. Faire expliquer pourquoi produire directement une conclusion après la mesure serait prématuré.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0:08–0:09. Relier chaque outil à une question. Les définitions sont déjà fournies : les participants construisent l’orchestration. La mission critique emprunte ces cinq étapes ; une simple demande de statut peut n’utiliser que la première. L’opérateur est simulé.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0:09–0:10. Le notebook commence par le contrat client et une interaction sans outils. Annoncer les erreurs sans détailler leur implémentation. Chacune deviendra observable dans le notebook. De 10 à 14 minutes, ouvrir le notebook et lancer le setup. Former les binômes ; faire prédire le premier appel avant le checkpoint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0:14–0:22. Setup terminé. Rôle Modèle : prédire l’outil et les arguments. Rôle Orchestrateur : expliquer pourquoi cette fonction peut répondre. Lire le contrat client, observer le chatbot sans outils, puis utiliser le client choisi pour les appels. Le mode est affiché. À 22 minutes, donner la solution du checkpoint si nécessaire.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0:22–0:31. L’exécution et la trace sont fournies : les lancer et lire le résultat. TODO 2 : conserver le message assistant et le résultat tool. Faire relire une entrée de trace. Demander ce qui manquerait au tour suivant sans cette observation.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0:31–0:41. Échanger les rôles. Utiliser la slide 14 pendant le contre-exemple d’approbation absente, puis revenir à celle-ci. Observer la faute, compléter la condition du TODO 3, rejouer le même contre-exemple, puis lancer la mission. Choisir une autre panne : mesure altérée, approbation rejetée ou répétition. Un run corrigé doit être relancé avant les évaluations.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Pendant le checkpoint 3, puis rappel à 0:41. Faire voter avant de lire la colonne de droite. Le client adverse conclut après assess_excursion_risk. Il n’a ni créé l’incident ni demandé de revue. La solution retourne outcome=stopped et safety_status=review_required. La phrase anglaise est celle du client de test ; la traduction française est affichée.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0:41–0:42. Extraits des cas réels de la solution ; évaluations déterministes sans API. Lire missing_approval et repeat. Les colonnes ici montrent les statuts ; le test vérifie aussi la séquence, les preuves de revue, la trace et la réponse. Le PASS signifie que toutes les conditions du cas sont remplies.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0:42–0:46. Ce checkpoint partage les cinq minutes 41–46 avec les slides 15 et 17. TODO 4 doit exiger toutes les conditions avec all(row['checks'].values()). Faire lire une ligne PASS et justifier son résultat. Les dix scénarios sont sans API. Si le dossier est verrouillé après une correction, relancer mission_run puis les évaluations.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checkpoint 4. Comparaison fondée sur les tests de mutation du notebook. Si le temps le permet, commenter temporairement le bloc anti-répétition, relancer la définition et les évaluations, puis restaurer le bloc et relancer. Enlever seulement l’anti-répétition fait échouer le scénario repeat ; ne pas retirer les autres limites de boucle.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0:46–0:48. Représentation lisible d’un extrait du dossier de la solution en mode mock, pas une capture d’un appel Gemini. Les champs JSON viennent de incident_dossier. Ouvrir le résultat de la session et retrouver ces informations. Télécharger le dossier et faire expliquer la panne choisie.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0:48–0:49. Les titres sont cliquables dans le PDF et le PowerPoint. Le dépôt propose les notebooks participants et solutions FR/EN. Les lectures sont facultatives. Éviter d’ouvrir les pages pendant l’atelier si cela ralentit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0:49–0:50. Prendre deux réponses courtes. Chaque binôme doit pouvoir nommer une règle et un cas qui doit la déclencher. Laisser le QR affiché. L’objectif est un transfert vers leurs projets, pas la promesse d’un système prêt pour la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e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chabelbossa/indabax-reliable-ai-agents" TargetMode="External"/><Relationship Id="rId4" Type="http://schemas.openxmlformats.org/officeDocument/2006/relationships/hyperlink" Target="https://www.anthropic.com/engineering/building-effective-agents" TargetMode="External"/><Relationship Id="rId5" Type="http://schemas.openxmlformats.org/officeDocument/2006/relationships/hyperlink" Target="https://ai.google.dev/gemini-api/docs/rate-limits" TargetMode="Externa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github.com/chabelbossa/indabax-reliable-ai-agents" TargetMode="External"/><Relationship Id="rId5" Type="http://schemas.openxmlformats.org/officeDocument/2006/relationships/notesSlide" Target="../notesSlides/notesSlide20.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000" y="1047750"/>
            <a:ext cx="738188" cy="857250"/>
            <a:chOff x="0" y="0"/>
            <a:chExt cx="984250" cy="1143000"/>
          </a:xfrm>
        </p:grpSpPr>
        <p:sp>
          <p:nvSpPr>
            <p:cNvPr name="Freeform 3" id="3"/>
            <p:cNvSpPr/>
            <p:nvPr/>
          </p:nvSpPr>
          <p:spPr>
            <a:xfrm flipH="false" flipV="false" rot="0">
              <a:off x="0" y="0"/>
              <a:ext cx="984250" cy="1143000"/>
            </a:xfrm>
            <a:custGeom>
              <a:avLst/>
              <a:gdLst/>
              <a:ahLst/>
              <a:cxnLst/>
              <a:rect r="r" b="b" t="t" l="l"/>
              <a:pathLst>
                <a:path h="1143000" w="984250">
                  <a:moveTo>
                    <a:pt x="0" y="0"/>
                  </a:moveTo>
                  <a:lnTo>
                    <a:pt x="984250" y="0"/>
                  </a:lnTo>
                  <a:lnTo>
                    <a:pt x="984250" y="1143000"/>
                  </a:lnTo>
                  <a:lnTo>
                    <a:pt x="0" y="1143000"/>
                  </a:lnTo>
                  <a:lnTo>
                    <a:pt x="0" y="0"/>
                  </a:lnTo>
                  <a:close/>
                </a:path>
              </a:pathLst>
            </a:custGeom>
            <a:blipFill>
              <a:blip r:embed="rId3"/>
              <a:stretch>
                <a:fillRect l="0" t="0" r="0" b="0"/>
              </a:stretch>
            </a:blipFill>
          </p:spPr>
          <p:txBody>
            <a:bodyPr/>
            <a:p/>
          </p:txBody>
        </p:sp>
      </p:grpSp>
      <p:sp>
        <p:nvSpPr>
          <p:cNvPr name="TextBox 4" id="4"/>
          <p:cNvSpPr txBox="true"/>
          <p:nvPr/>
        </p:nvSpPr>
        <p:spPr>
          <a:xfrm rot="0">
            <a:off x="1143000" y="4457510"/>
            <a:ext cx="16002000" cy="2619756"/>
          </a:xfrm>
          <a:prstGeom prst="rect">
            <a:avLst/>
          </a:prstGeom>
        </p:spPr>
        <p:txBody>
          <a:bodyPr anchor="t" rtlCol="false" tIns="0" lIns="0" bIns="0" rIns="0">
            <a:spAutoFit/>
          </a:bodyPr>
          <a:lstStyle/>
          <a:p>
            <a:pPr algn="l">
              <a:lnSpc>
                <a:spcPts val="9792"/>
              </a:lnSpc>
            </a:pPr>
            <a:r>
              <a:rPr lang="en-US" b="true" sz="9600" spc="-288">
                <a:solidFill>
                  <a:srgbClr val="0A0A0A"/>
                </a:solidFill>
                <a:latin typeface="Poppins Bold"/>
                <a:ea typeface="Poppins Bold"/>
                <a:cs typeface="Poppins Bold"/>
                <a:sym typeface="Poppins Bold"/>
              </a:rPr>
              <a:t>Construire des agents IA fiables</a:t>
            </a:r>
          </a:p>
          <a:p>
            <a:pPr algn="l">
              <a:lnSpc>
                <a:spcPts val="9792"/>
              </a:lnSpc>
            </a:pPr>
          </a:p>
        </p:txBody>
      </p:sp>
      <p:grpSp>
        <p:nvGrpSpPr>
          <p:cNvPr name="Group 5" id="5"/>
          <p:cNvGrpSpPr/>
          <p:nvPr/>
        </p:nvGrpSpPr>
        <p:grpSpPr>
          <a:xfrm rot="0">
            <a:off x="14105668" y="619908"/>
            <a:ext cx="3039332" cy="455634"/>
            <a:chOff x="0" y="0"/>
            <a:chExt cx="800483" cy="120002"/>
          </a:xfrm>
        </p:grpSpPr>
        <p:sp>
          <p:nvSpPr>
            <p:cNvPr name="Freeform 6" id="6"/>
            <p:cNvSpPr/>
            <p:nvPr/>
          </p:nvSpPr>
          <p:spPr>
            <a:xfrm flipH="false" flipV="false" rot="0">
              <a:off x="0" y="0"/>
              <a:ext cx="800483" cy="120002"/>
            </a:xfrm>
            <a:custGeom>
              <a:avLst/>
              <a:gdLst/>
              <a:ahLst/>
              <a:cxnLst/>
              <a:rect r="r" b="b" t="t" l="l"/>
              <a:pathLst>
                <a:path h="120002" w="800483">
                  <a:moveTo>
                    <a:pt x="60001" y="0"/>
                  </a:moveTo>
                  <a:lnTo>
                    <a:pt x="740481" y="0"/>
                  </a:lnTo>
                  <a:cubicBezTo>
                    <a:pt x="756395" y="0"/>
                    <a:pt x="771656" y="6322"/>
                    <a:pt x="782909" y="17574"/>
                  </a:cubicBezTo>
                  <a:cubicBezTo>
                    <a:pt x="794161" y="28826"/>
                    <a:pt x="800483" y="44088"/>
                    <a:pt x="800483" y="60001"/>
                  </a:cubicBezTo>
                  <a:lnTo>
                    <a:pt x="800483" y="60001"/>
                  </a:lnTo>
                  <a:cubicBezTo>
                    <a:pt x="800483" y="75915"/>
                    <a:pt x="794161" y="91176"/>
                    <a:pt x="782909" y="102428"/>
                  </a:cubicBezTo>
                  <a:cubicBezTo>
                    <a:pt x="771656" y="113681"/>
                    <a:pt x="756395" y="120002"/>
                    <a:pt x="740481" y="120002"/>
                  </a:cubicBezTo>
                  <a:lnTo>
                    <a:pt x="60001" y="120002"/>
                  </a:lnTo>
                  <a:cubicBezTo>
                    <a:pt x="44088" y="120002"/>
                    <a:pt x="28826" y="113681"/>
                    <a:pt x="17574" y="102428"/>
                  </a:cubicBezTo>
                  <a:cubicBezTo>
                    <a:pt x="6322" y="91176"/>
                    <a:pt x="0" y="75915"/>
                    <a:pt x="0" y="60001"/>
                  </a:cubicBezTo>
                  <a:lnTo>
                    <a:pt x="0" y="60001"/>
                  </a:lnTo>
                  <a:cubicBezTo>
                    <a:pt x="0" y="44088"/>
                    <a:pt x="6322" y="28826"/>
                    <a:pt x="17574" y="17574"/>
                  </a:cubicBezTo>
                  <a:cubicBezTo>
                    <a:pt x="28826" y="6322"/>
                    <a:pt x="44088" y="0"/>
                    <a:pt x="60001" y="0"/>
                  </a:cubicBezTo>
                  <a:close/>
                </a:path>
              </a:pathLst>
            </a:custGeom>
            <a:solidFill>
              <a:srgbClr val="FBC418"/>
            </a:solidFill>
          </p:spPr>
          <p:txBody>
            <a:bodyPr/>
            <a:p/>
          </p:txBody>
        </p:sp>
        <p:sp>
          <p:nvSpPr>
            <p:cNvPr name="TextBox 7" id="7"/>
            <p:cNvSpPr txBox="true"/>
            <p:nvPr/>
          </p:nvSpPr>
          <p:spPr>
            <a:xfrm>
              <a:off x="0" y="-57150"/>
              <a:ext cx="800483" cy="177152"/>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2278628" y="1156178"/>
            <a:ext cx="3265499" cy="545145"/>
          </a:xfrm>
          <a:prstGeom prst="rect">
            <a:avLst/>
          </a:prstGeom>
        </p:spPr>
        <p:txBody>
          <a:bodyPr anchor="t" rtlCol="false" tIns="0" lIns="0" bIns="0" rIns="0">
            <a:spAutoFit/>
          </a:bodyPr>
          <a:lstStyle/>
          <a:p>
            <a:pPr algn="l">
              <a:lnSpc>
                <a:spcPts val="4220"/>
              </a:lnSpc>
            </a:pPr>
            <a:r>
              <a:rPr lang="en-US" b="true" sz="3014" spc="-30">
                <a:solidFill>
                  <a:srgbClr val="0A0A0A"/>
                </a:solidFill>
                <a:latin typeface="Poppins Bold"/>
                <a:ea typeface="Poppins Bold"/>
                <a:cs typeface="Poppins Bold"/>
                <a:sym typeface="Poppins Bold"/>
              </a:rPr>
              <a:t>Indaba</a:t>
            </a:r>
            <a:r>
              <a:rPr lang="en-US" b="true" sz="3014" spc="-30">
                <a:solidFill>
                  <a:srgbClr val="008751"/>
                </a:solidFill>
                <a:latin typeface="Poppins Bold"/>
                <a:ea typeface="Poppins Bold"/>
                <a:cs typeface="Poppins Bold"/>
                <a:sym typeface="Poppins Bold"/>
              </a:rPr>
              <a:t>X</a:t>
            </a:r>
            <a:r>
              <a:rPr lang="en-US" b="true" sz="3014" spc="-30">
                <a:solidFill>
                  <a:srgbClr val="0A0A0A"/>
                </a:solidFill>
                <a:latin typeface="Poppins Bold"/>
                <a:ea typeface="Poppins Bold"/>
                <a:cs typeface="Poppins Bold"/>
                <a:sym typeface="Poppins Bold"/>
              </a:rPr>
              <a:t> Bénin</a:t>
            </a:r>
          </a:p>
        </p:txBody>
      </p:sp>
      <p:sp>
        <p:nvSpPr>
          <p:cNvPr name="TextBox 9" id="9"/>
          <p:cNvSpPr txBox="true"/>
          <p:nvPr/>
        </p:nvSpPr>
        <p:spPr>
          <a:xfrm rot="0">
            <a:off x="1143000" y="7425976"/>
            <a:ext cx="16002000" cy="1051560"/>
          </a:xfrm>
          <a:prstGeom prst="rect">
            <a:avLst/>
          </a:prstGeom>
        </p:spPr>
        <p:txBody>
          <a:bodyPr anchor="t" rtlCol="false" tIns="0" lIns="0" bIns="0" rIns="0">
            <a:spAutoFit/>
          </a:bodyPr>
          <a:lstStyle/>
          <a:p>
            <a:pPr algn="l">
              <a:lnSpc>
                <a:spcPts val="3779"/>
              </a:lnSpc>
            </a:pPr>
            <a:r>
              <a:rPr lang="en-US" sz="2700">
                <a:solidFill>
                  <a:srgbClr val="2B2B2B"/>
                </a:solidFill>
                <a:latin typeface="Poppins"/>
                <a:ea typeface="Poppins"/>
                <a:cs typeface="Poppins"/>
                <a:sym typeface="Poppins"/>
              </a:rPr>
              <a:t>De l’alerte au dossier d’incident, avec Python et Gemini.</a:t>
            </a:r>
          </a:p>
        </p:txBody>
      </p:sp>
      <p:sp>
        <p:nvSpPr>
          <p:cNvPr name="TextBox 10" id="10"/>
          <p:cNvSpPr txBox="true"/>
          <p:nvPr/>
        </p:nvSpPr>
        <p:spPr>
          <a:xfrm rot="0">
            <a:off x="1143000" y="8953500"/>
            <a:ext cx="7315200" cy="731520"/>
          </a:xfrm>
          <a:prstGeom prst="rect">
            <a:avLst/>
          </a:prstGeom>
        </p:spPr>
        <p:txBody>
          <a:bodyPr anchor="t" rtlCol="false" tIns="0" lIns="0" bIns="0" rIns="0">
            <a:spAutoFit/>
          </a:bodyPr>
          <a:lstStyle/>
          <a:p>
            <a:pPr algn="l">
              <a:lnSpc>
                <a:spcPts val="2520"/>
              </a:lnSpc>
            </a:pPr>
            <a:r>
              <a:rPr lang="en-US" b="true" sz="1800">
                <a:solidFill>
                  <a:srgbClr val="5B5B5B"/>
                </a:solidFill>
                <a:latin typeface="Poppins Medium"/>
                <a:ea typeface="Poppins Medium"/>
                <a:cs typeface="Poppins Medium"/>
                <a:sym typeface="Poppins Medium"/>
              </a:rPr>
              <a:t>BOSSA Chabel · Ingénieur logiciel · ENSGMM</a:t>
            </a:r>
          </a:p>
        </p:txBody>
      </p:sp>
      <p:sp>
        <p:nvSpPr>
          <p:cNvPr name="TextBox 11" id="11"/>
          <p:cNvSpPr txBox="true"/>
          <p:nvPr/>
        </p:nvSpPr>
        <p:spPr>
          <a:xfrm rot="0">
            <a:off x="13678186" y="8953500"/>
            <a:ext cx="3466814" cy="731520"/>
          </a:xfrm>
          <a:prstGeom prst="rect">
            <a:avLst/>
          </a:prstGeom>
        </p:spPr>
        <p:txBody>
          <a:bodyPr anchor="t" rtlCol="false" tIns="0" lIns="0" bIns="0" rIns="0">
            <a:spAutoFit/>
          </a:bodyPr>
          <a:lstStyle/>
          <a:p>
            <a:pPr algn="l">
              <a:lnSpc>
                <a:spcPts val="2520"/>
              </a:lnSpc>
            </a:pPr>
            <a:r>
              <a:rPr lang="en-US" b="true" sz="1800">
                <a:solidFill>
                  <a:srgbClr val="5B5B5B"/>
                </a:solidFill>
                <a:latin typeface="Poppins Medium"/>
                <a:ea typeface="Poppins Medium"/>
                <a:cs typeface="Poppins Medium"/>
                <a:sym typeface="Poppins Medium"/>
              </a:rPr>
              <a:t>IndabaX Bénin 2026 · Cotonou</a:t>
            </a:r>
          </a:p>
        </p:txBody>
      </p:sp>
      <p:sp>
        <p:nvSpPr>
          <p:cNvPr name="TextBox 12" id="12"/>
          <p:cNvSpPr txBox="true"/>
          <p:nvPr/>
        </p:nvSpPr>
        <p:spPr>
          <a:xfrm rot="0">
            <a:off x="14698467" y="630238"/>
            <a:ext cx="1853733" cy="368300"/>
          </a:xfrm>
          <a:prstGeom prst="rect">
            <a:avLst/>
          </a:prstGeom>
        </p:spPr>
        <p:txBody>
          <a:bodyPr anchor="t" rtlCol="false" tIns="0" lIns="0" bIns="0" rIns="0">
            <a:spAutoFit/>
          </a:bodyPr>
          <a:lstStyle/>
          <a:p>
            <a:pPr algn="ctr">
              <a:lnSpc>
                <a:spcPts val="2800"/>
              </a:lnSpc>
            </a:pPr>
            <a:r>
              <a:rPr lang="en-US" b="true" sz="2000" spc="100">
                <a:solidFill>
                  <a:srgbClr val="2B2B2B"/>
                </a:solidFill>
                <a:latin typeface="Poppins Semi-Bold"/>
                <a:ea typeface="Poppins Semi-Bold"/>
                <a:cs typeface="Poppins Semi-Bold"/>
                <a:sym typeface="Poppins Semi-Bold"/>
              </a:rPr>
              <a:t>ATELIER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02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50 MINUTES ENSEMBLE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Vous allez construire une boucle, puis la tester.</a:t>
            </a:r>
          </a:p>
        </p:txBody>
      </p:sp>
      <p:sp>
        <p:nvSpPr>
          <p:cNvPr id="20" name="TextBox 19"/>
          <p:cNvSpPr txBox="1"/>
          <p:nvPr/>
        </p:nvSpPr>
        <p:spPr>
          <a:xfrm>
            <a:off x="1143000" y="2880360"/>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01</a:t>
            </a:r>
          </a:p>
        </p:txBody>
      </p:sp>
      <p:sp>
        <p:nvSpPr>
          <p:cNvPr id="21" name="TextBox 20"/>
          <p:cNvSpPr txBox="1"/>
          <p:nvPr/>
        </p:nvSpPr>
        <p:spPr>
          <a:xfrm>
            <a:off x="2423160" y="2880360"/>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Comprendre les outils et la boucle</a:t>
            </a:r>
          </a:p>
        </p:txBody>
      </p:sp>
      <p:sp>
        <p:nvSpPr>
          <p:cNvPr id="22" name="TextBox 21"/>
          <p:cNvSpPr txBox="1"/>
          <p:nvPr/>
        </p:nvSpPr>
        <p:spPr>
          <a:xfrm>
            <a:off x="2423160" y="3429000"/>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Un exemple suivi depuis l’alerte jusqu’au premier résultat.</a:t>
            </a:r>
          </a:p>
        </p:txBody>
      </p:sp>
      <p:sp>
        <p:nvSpPr>
          <p:cNvPr id="23" name="TextBox 22"/>
          <p:cNvSpPr txBox="1"/>
          <p:nvPr/>
        </p:nvSpPr>
        <p:spPr>
          <a:xfrm>
            <a:off x="15179040" y="3017520"/>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10 min</a:t>
            </a:r>
          </a:p>
        </p:txBody>
      </p:sp>
      <p:sp>
        <p:nvSpPr>
          <p:cNvPr id="24" name="TextBox 23"/>
          <p:cNvSpPr txBox="1"/>
          <p:nvPr/>
        </p:nvSpPr>
        <p:spPr>
          <a:xfrm>
            <a:off x="1143000" y="4178808"/>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02</a:t>
            </a:r>
          </a:p>
        </p:txBody>
      </p:sp>
      <p:sp>
        <p:nvSpPr>
          <p:cNvPr id="25" name="TextBox 24"/>
          <p:cNvSpPr txBox="1"/>
          <p:nvPr/>
        </p:nvSpPr>
        <p:spPr>
          <a:xfrm>
            <a:off x="2423160" y="4178808"/>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Construire dans le notebook</a:t>
            </a:r>
          </a:p>
        </p:txBody>
      </p:sp>
      <p:sp>
        <p:nvSpPr>
          <p:cNvPr id="26" name="TextBox 25"/>
          <p:cNvSpPr txBox="1"/>
          <p:nvPr/>
        </p:nvSpPr>
        <p:spPr>
          <a:xfrm>
            <a:off x="2423160" y="4727448"/>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Ouvrir le notebook, puis compléter les checkpoints 1 à 3.</a:t>
            </a:r>
          </a:p>
        </p:txBody>
      </p:sp>
      <p:sp>
        <p:nvSpPr>
          <p:cNvPr id="27" name="TextBox 26"/>
          <p:cNvSpPr txBox="1"/>
          <p:nvPr/>
        </p:nvSpPr>
        <p:spPr>
          <a:xfrm>
            <a:off x="15179040" y="4315968"/>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31 min</a:t>
            </a:r>
          </a:p>
        </p:txBody>
      </p:sp>
      <p:sp>
        <p:nvSpPr>
          <p:cNvPr id="28" name="TextBox 27"/>
          <p:cNvSpPr txBox="1"/>
          <p:nvPr/>
        </p:nvSpPr>
        <p:spPr>
          <a:xfrm>
            <a:off x="1143000" y="5477256"/>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03</a:t>
            </a:r>
          </a:p>
        </p:txBody>
      </p:sp>
      <p:sp>
        <p:nvSpPr>
          <p:cNvPr id="29" name="TextBox 28"/>
          <p:cNvSpPr txBox="1"/>
          <p:nvPr/>
        </p:nvSpPr>
        <p:spPr>
          <a:xfrm>
            <a:off x="2423160" y="5477256"/>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Faire échouer l’agent et vérifier les protections</a:t>
            </a:r>
          </a:p>
        </p:txBody>
      </p:sp>
      <p:sp>
        <p:nvSpPr>
          <p:cNvPr id="30" name="TextBox 29"/>
          <p:cNvSpPr txBox="1"/>
          <p:nvPr/>
        </p:nvSpPr>
        <p:spPr>
          <a:xfrm>
            <a:off x="2423160" y="6025896"/>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Checkpoint 4 : comparer les résultats aux comportements attendus.</a:t>
            </a:r>
          </a:p>
        </p:txBody>
      </p:sp>
      <p:sp>
        <p:nvSpPr>
          <p:cNvPr id="31" name="TextBox 30"/>
          <p:cNvSpPr txBox="1"/>
          <p:nvPr/>
        </p:nvSpPr>
        <p:spPr>
          <a:xfrm>
            <a:off x="15179040" y="5614416"/>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5 min</a:t>
            </a:r>
          </a:p>
        </p:txBody>
      </p:sp>
      <p:sp>
        <p:nvSpPr>
          <p:cNvPr id="32" name="TextBox 31"/>
          <p:cNvSpPr txBox="1"/>
          <p:nvPr/>
        </p:nvSpPr>
        <p:spPr>
          <a:xfrm>
            <a:off x="1143000" y="6775704"/>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04</a:t>
            </a:r>
          </a:p>
        </p:txBody>
      </p:sp>
      <p:sp>
        <p:nvSpPr>
          <p:cNvPr id="33" name="TextBox 32"/>
          <p:cNvSpPr txBox="1"/>
          <p:nvPr/>
        </p:nvSpPr>
        <p:spPr>
          <a:xfrm>
            <a:off x="2423160" y="6775704"/>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Emporter le dossier et expliquer son travail</a:t>
            </a:r>
          </a:p>
        </p:txBody>
      </p:sp>
      <p:sp>
        <p:nvSpPr>
          <p:cNvPr id="34" name="TextBox 33"/>
          <p:cNvSpPr txBox="1"/>
          <p:nvPr/>
        </p:nvSpPr>
        <p:spPr>
          <a:xfrm>
            <a:off x="2423160" y="7324344"/>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Retrouver les preuves et proposer un test pour son propre métier.</a:t>
            </a:r>
          </a:p>
        </p:txBody>
      </p:sp>
      <p:sp>
        <p:nvSpPr>
          <p:cNvPr id="35" name="TextBox 34"/>
          <p:cNvSpPr txBox="1"/>
          <p:nvPr/>
        </p:nvSpPr>
        <p:spPr>
          <a:xfrm>
            <a:off x="15179040" y="6912864"/>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4 min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03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PARTONS DE VOS USAGES</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Quelles tâches confiez-vous aujourd’hui à une IA ?</a:t>
            </a:r>
          </a:p>
        </p:txBody>
      </p:sp>
      <p:sp>
        <p:nvSpPr>
          <p:cNvPr id="20" name="Rounded Rectangle 19"/>
          <p:cNvSpPr/>
          <p:nvPr/>
        </p:nvSpPr>
        <p:spPr>
          <a:xfrm>
            <a:off x="114300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Vos premiers usages</a:t>
            </a:r>
          </a:p>
        </p:txBody>
      </p:sp>
      <p:sp>
        <p:nvSpPr>
          <p:cNvPr id="22" name="TextBox 21"/>
          <p:cNvSpPr txBox="1"/>
          <p:nvPr/>
        </p:nvSpPr>
        <p:spPr>
          <a:xfrm>
            <a:off x="146304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Rédiger un texte, expliquer du code, reformuler une idée… Quel était votre premier usage ?</a:t>
            </a:r>
          </a:p>
        </p:txBody>
      </p:sp>
      <p:sp>
        <p:nvSpPr>
          <p:cNvPr id="23" name="Rounded Rectangle 22"/>
          <p:cNvSpPr/>
          <p:nvPr/>
        </p:nvSpPr>
        <p:spPr>
          <a:xfrm>
            <a:off x="934974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6978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Vos usages actuels</a:t>
            </a:r>
          </a:p>
        </p:txBody>
      </p:sp>
      <p:sp>
        <p:nvSpPr>
          <p:cNvPr id="25" name="TextBox 24"/>
          <p:cNvSpPr txBox="1"/>
          <p:nvPr/>
        </p:nvSpPr>
        <p:spPr>
          <a:xfrm>
            <a:off x="966978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Quelles tâches lui confiez-vous maintenant ? Pour les réaliser, de quelles informations et de quels outils a-t-elle besoin ?</a:t>
            </a:r>
          </a:p>
        </p:txBody>
      </p:sp>
      <p:sp>
        <p:nvSpPr>
          <p:cNvPr id="26" name="TextBox 25"/>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Pour examiner un incident en cours, le système doit pouvoir consulter son état actuel.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04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VOTRE MISSION · KORACARE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09:42 : une clinique signale une hausse de température.</a:t>
            </a:r>
          </a:p>
        </p:txBody>
      </p:sp>
      <p:sp>
        <p:nvSpPr>
          <p:cNvPr id="20" name="Rounded Rectangle 19"/>
          <p:cNvSpPr/>
          <p:nvPr/>
        </p:nvSpPr>
        <p:spPr>
          <a:xfrm>
            <a:off x="1143000" y="2880360"/>
            <a:ext cx="5486400" cy="516636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4846320" cy="914400"/>
          </a:xfrm>
          <a:prstGeom prst="rect">
            <a:avLst/>
          </a:prstGeom>
          <a:noFill/>
        </p:spPr>
        <p:txBody>
          <a:bodyPr wrap="square" lIns="0" rIns="0" tIns="0" bIns="0">
            <a:spAutoFit/>
          </a:bodyPr>
          <a:lstStyle/>
          <a:p>
            <a:pPr>
              <a:lnSpc>
                <a:spcPct val="113000"/>
              </a:lnSpc>
              <a:spcAft>
                <a:spcPts val="700"/>
              </a:spcAft>
            </a:pPr>
            <a:r>
              <a:rPr sz="3000" b="1">
                <a:solidFill>
                  <a:srgbClr val="FFFFFF"/>
                </a:solidFill>
                <a:latin typeface="Poppins"/>
              </a:rPr>
              <a:t>Alerte CC-204</a:t>
            </a:r>
          </a:p>
        </p:txBody>
      </p:sp>
      <p:sp>
        <p:nvSpPr>
          <p:cNvPr id="22" name="TextBox 21"/>
          <p:cNvSpPr txBox="1"/>
          <p:nvPr/>
        </p:nvSpPr>
        <p:spPr>
          <a:xfrm>
            <a:off x="1463040" y="4206240"/>
            <a:ext cx="4846320" cy="3657600"/>
          </a:xfrm>
          <a:prstGeom prst="rect">
            <a:avLst/>
          </a:prstGeom>
          <a:noFill/>
        </p:spPr>
        <p:txBody>
          <a:bodyPr wrap="square" lIns="0" rIns="0" tIns="0" bIns="0">
            <a:spAutoFit/>
          </a:bodyPr>
          <a:lstStyle/>
          <a:p>
            <a:pPr>
              <a:lnSpc>
                <a:spcPct val="113000"/>
              </a:lnSpc>
              <a:spcAft>
                <a:spcPts val="700"/>
              </a:spcAft>
            </a:pPr>
            <a:r>
              <a:rPr sz="2600" b="0">
                <a:solidFill>
                  <a:srgbClr val="FFFFFF"/>
                </a:solidFill>
                <a:latin typeface="Poppins"/>
              </a:rPr>
              <a:t>Clinique KCARE-ADJ-01</a:t>
            </a:r>
          </a:p>
          <a:p>
            <a:pPr>
              <a:lnSpc>
                <a:spcPct val="113000"/>
              </a:lnSpc>
              <a:spcAft>
                <a:spcPts val="700"/>
              </a:spcAft>
            </a:pPr>
            <a:r>
              <a:rPr sz="2600" b="0">
                <a:solidFill>
                  <a:srgbClr val="FFFFFF"/>
                </a:solidFill>
                <a:latin typeface="Poppins"/>
              </a:rPr>
              <a:t/>
            </a:r>
          </a:p>
          <a:p>
            <a:pPr>
              <a:lnSpc>
                <a:spcPct val="113000"/>
              </a:lnSpc>
              <a:spcAft>
                <a:spcPts val="700"/>
              </a:spcAft>
            </a:pPr>
            <a:r>
              <a:rPr sz="2600" b="0">
                <a:solidFill>
                  <a:srgbClr val="FFFFFF"/>
                </a:solidFill>
                <a:latin typeface="Poppins"/>
              </a:rPr>
              <a:t>12,4 °C depuis 52 min</a:t>
            </a:r>
          </a:p>
          <a:p>
            <a:pPr>
              <a:lnSpc>
                <a:spcPct val="113000"/>
              </a:lnSpc>
              <a:spcAft>
                <a:spcPts val="700"/>
              </a:spcAft>
            </a:pPr>
            <a:r>
              <a:rPr sz="2600" b="0">
                <a:solidFill>
                  <a:srgbClr val="FFFFFF"/>
                </a:solidFill>
                <a:latin typeface="Poppins"/>
              </a:rPr>
              <a:t/>
            </a:r>
          </a:p>
          <a:p>
            <a:pPr>
              <a:lnSpc>
                <a:spcPct val="113000"/>
              </a:lnSpc>
              <a:spcAft>
                <a:spcPts val="700"/>
              </a:spcAft>
            </a:pPr>
            <a:r>
              <a:rPr sz="2600" b="0">
                <a:solidFill>
                  <a:srgbClr val="FFFFFF"/>
                </a:solidFill>
                <a:latin typeface="Poppins"/>
              </a:rPr>
              <a:t>Vaccins · lot VX-204</a:t>
            </a:r>
          </a:p>
        </p:txBody>
      </p:sp>
      <p:sp>
        <p:nvSpPr>
          <p:cNvPr id="23" name="TextBox 22"/>
          <p:cNvSpPr txBox="1"/>
          <p:nvPr/>
        </p:nvSpPr>
        <p:spPr>
          <a:xfrm>
            <a:off x="7315200" y="2880360"/>
            <a:ext cx="9784080" cy="2194560"/>
          </a:xfrm>
          <a:prstGeom prst="rect">
            <a:avLst/>
          </a:prstGeom>
          <a:noFill/>
        </p:spPr>
        <p:txBody>
          <a:bodyPr wrap="square" lIns="0" rIns="0" tIns="0" bIns="0">
            <a:spAutoFit/>
          </a:bodyPr>
          <a:lstStyle/>
          <a:p>
            <a:pPr>
              <a:lnSpc>
                <a:spcPct val="113000"/>
              </a:lnSpc>
              <a:spcAft>
                <a:spcPts val="700"/>
              </a:spcAft>
            </a:pPr>
            <a:r>
              <a:rPr sz="2900" b="0">
                <a:solidFill>
                  <a:srgbClr val="111713"/>
                </a:solidFill>
                <a:latin typeface="Poppins"/>
              </a:rPr>
              <a:t>Le réfrigérateur de la clinique a déclenché une alerte. Votre équipe doit vérifier les mesures et retrouver la procédure à suivre.</a:t>
            </a:r>
          </a:p>
        </p:txBody>
      </p:sp>
      <p:sp>
        <p:nvSpPr>
          <p:cNvPr id="24" name="TextBox 23"/>
          <p:cNvSpPr txBox="1"/>
          <p:nvPr/>
        </p:nvSpPr>
        <p:spPr>
          <a:xfrm>
            <a:off x="7315200" y="5394960"/>
            <a:ext cx="9784080" cy="548640"/>
          </a:xfrm>
          <a:prstGeom prst="rect">
            <a:avLst/>
          </a:prstGeom>
          <a:noFill/>
        </p:spPr>
        <p:txBody>
          <a:bodyPr wrap="square" lIns="0" rIns="0" tIns="0" bIns="0">
            <a:spAutoFit/>
          </a:bodyPr>
          <a:lstStyle/>
          <a:p>
            <a:pPr>
              <a:lnSpc>
                <a:spcPct val="113000"/>
              </a:lnSpc>
              <a:spcAft>
                <a:spcPts val="700"/>
              </a:spcAft>
            </a:pPr>
            <a:r>
              <a:rPr sz="2700" b="1">
                <a:solidFill>
                  <a:srgbClr val="008751"/>
                </a:solidFill>
                <a:latin typeface="Poppins"/>
              </a:rPr>
              <a:t>Vous êtes l’équipe de garde.</a:t>
            </a:r>
          </a:p>
        </p:txBody>
      </p:sp>
      <p:sp>
        <p:nvSpPr>
          <p:cNvPr id="25" name="TextBox 24"/>
          <p:cNvSpPr txBox="1"/>
          <p:nvPr/>
        </p:nvSpPr>
        <p:spPr>
          <a:xfrm>
            <a:off x="7315200" y="6172200"/>
            <a:ext cx="9784080" cy="1737360"/>
          </a:xfrm>
          <a:prstGeom prst="rect">
            <a:avLst/>
          </a:prstGeom>
          <a:noFill/>
        </p:spPr>
        <p:txBody>
          <a:bodyPr wrap="square" lIns="0" rIns="0" tIns="0" bIns="0">
            <a:spAutoFit/>
          </a:bodyPr>
          <a:lstStyle/>
          <a:p>
            <a:pPr>
              <a:lnSpc>
                <a:spcPct val="113000"/>
              </a:lnSpc>
              <a:spcAft>
                <a:spcPts val="700"/>
              </a:spcAft>
            </a:pPr>
            <a:r>
              <a:rPr sz="2600" b="0">
                <a:solidFill>
                  <a:srgbClr val="111713"/>
                </a:solidFill>
                <a:latin typeface="Poppins"/>
              </a:rPr>
              <a:t>Construisez un agent qui prépare le dossier d’incident et demande la décision d’un opérateur.</a:t>
            </a:r>
          </a:p>
        </p:txBody>
      </p:sp>
      <p:sp>
        <p:nvSpPr>
          <p:cNvPr id="26" name="TextBox 25"/>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Exercice fictif : données, procédures et opérateur simulés. Aucun acte médical ni aucune action physique.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05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DU MODÈLE À L’AGENT</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Qui fait quoi quand on traite cette alerte ?</a:t>
            </a:r>
          </a:p>
        </p:txBody>
      </p:sp>
      <p:sp>
        <p:nvSpPr>
          <p:cNvPr id="20" name="Rounded Rectangle 19"/>
          <p:cNvSpPr/>
          <p:nvPr/>
        </p:nvSpPr>
        <p:spPr>
          <a:xfrm>
            <a:off x="114300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Le LLM propose</a:t>
            </a:r>
          </a:p>
        </p:txBody>
      </p:sp>
      <p:sp>
        <p:nvSpPr>
          <p:cNvPr id="22" name="TextBox 21"/>
          <p:cNvSpPr txBox="1"/>
          <p:nvPr/>
        </p:nvSpPr>
        <p:spPr>
          <a:xfrm>
            <a:off x="146304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Un LLM est un modèle de langage. Il utilise son contexte pour produire du texte ou un appel d’outil. Ici, il demande la mesure.</a:t>
            </a:r>
          </a:p>
        </p:txBody>
      </p:sp>
      <p:sp>
        <p:nvSpPr>
          <p:cNvPr id="23" name="Rounded Rectangle 22"/>
          <p:cNvSpPr/>
          <p:nvPr/>
        </p:nvSpPr>
        <p:spPr>
          <a:xfrm>
            <a:off x="661416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420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L’application exécute</a:t>
            </a:r>
          </a:p>
        </p:txBody>
      </p:sp>
      <p:sp>
        <p:nvSpPr>
          <p:cNvPr id="25" name="TextBox 24"/>
          <p:cNvSpPr txBox="1"/>
          <p:nvPr/>
        </p:nvSpPr>
        <p:spPr>
          <a:xfrm>
            <a:off x="693420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Notre code Python fournit les outils au modèle, vérifie les arguments et appelle la fonction qui lit la mesure.</a:t>
            </a:r>
          </a:p>
        </p:txBody>
      </p:sp>
      <p:sp>
        <p:nvSpPr>
          <p:cNvPr id="26" name="Rounded Rectangle 25"/>
          <p:cNvSpPr/>
          <p:nvPr/>
        </p:nvSpPr>
        <p:spPr>
          <a:xfrm>
            <a:off x="1208532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40536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BE2440"/>
                </a:solidFill>
                <a:latin typeface="Poppins"/>
              </a:rPr>
              <a:t>L’agent poursuit la tâche</a:t>
            </a:r>
          </a:p>
        </p:txBody>
      </p:sp>
      <p:sp>
        <p:nvSpPr>
          <p:cNvPr id="28" name="TextBox 27"/>
          <p:cNvSpPr txBox="1"/>
          <p:nvPr/>
        </p:nvSpPr>
        <p:spPr>
          <a:xfrm>
            <a:off x="1240536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L’agent est l’application qui poursuit l’objectif : le modèle reçoit le résultat de l’outil et choisit la suite, jusqu’à une réponse ou un arrêt.</a:t>
            </a:r>
          </a:p>
        </p:txBody>
      </p:sp>
      <p:sp>
        <p:nvSpPr>
          <p:cNvPr id="29" name="TextBox 28"/>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Dans un workflow fixe, le code impose les étapes. Ici, le modèle en choisit certaines selon les résultats.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06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UN APPEL D’OUTIL</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Le modèle demande une mesure. Python la lit.</a:t>
            </a:r>
          </a:p>
        </p:txBody>
      </p:sp>
      <p:sp>
        <p:nvSpPr>
          <p:cNvPr id="20" name="TextBox 19"/>
          <p:cNvSpPr txBox="1"/>
          <p:nvPr/>
        </p:nvSpPr>
        <p:spPr>
          <a:xfrm>
            <a:off x="1143000" y="2788920"/>
            <a:ext cx="7772400" cy="59436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1. Proposition du modèle</a:t>
            </a:r>
          </a:p>
        </p:txBody>
      </p:sp>
      <p:sp>
        <p:nvSpPr>
          <p:cNvPr id="21" name="Rounded Rectangle 20"/>
          <p:cNvSpPr/>
          <p:nvPr/>
        </p:nvSpPr>
        <p:spPr>
          <a:xfrm>
            <a:off x="1143000" y="3611880"/>
            <a:ext cx="7772400" cy="3291840"/>
          </a:xfrm>
          <a:prstGeom prst="roundRect">
            <a:avLst>
              <a:gd name="adj" fmla="val 8000"/>
            </a:avLst>
          </a:prstGeom>
          <a:solidFill>
            <a:srgbClr val="11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3886200"/>
            <a:ext cx="7223760" cy="2743200"/>
          </a:xfrm>
          <a:prstGeom prst="rect">
            <a:avLst/>
          </a:prstGeom>
          <a:noFill/>
        </p:spPr>
        <p:txBody>
          <a:bodyPr wrap="square" lIns="0" rIns="0" tIns="0" bIns="0">
            <a:spAutoFit/>
          </a:bodyPr>
          <a:lstStyle/>
          <a:p>
            <a:pPr>
              <a:lnSpc>
                <a:spcPct val="113000"/>
              </a:lnSpc>
              <a:spcAft>
                <a:spcPts val="300"/>
              </a:spcAft>
            </a:pPr>
            <a:r>
              <a:rPr sz="2200" b="0">
                <a:solidFill>
                  <a:srgbClr val="FFFFFF"/>
                </a:solidFill>
                <a:latin typeface="DejaVu Sans Mono"/>
              </a:rPr>
              <a:t>{</a:t>
            </a:r>
          </a:p>
          <a:p>
            <a:pPr>
              <a:lnSpc>
                <a:spcPct val="113000"/>
              </a:lnSpc>
              <a:spcAft>
                <a:spcPts val="300"/>
              </a:spcAft>
            </a:pPr>
            <a:r>
              <a:rPr sz="2200" b="0">
                <a:solidFill>
                  <a:srgbClr val="FFFFFF"/>
                </a:solidFill>
                <a:latin typeface="DejaVu Sans Mono"/>
              </a:rPr>
              <a:t>  "name": "get_clinic_status",</a:t>
            </a:r>
          </a:p>
          <a:p>
            <a:pPr>
              <a:lnSpc>
                <a:spcPct val="113000"/>
              </a:lnSpc>
              <a:spcAft>
                <a:spcPts val="300"/>
              </a:spcAft>
            </a:pPr>
            <a:r>
              <a:rPr sz="2200" b="0">
                <a:solidFill>
                  <a:srgbClr val="FFFFFF"/>
                </a:solidFill>
                <a:latin typeface="DejaVu Sans Mono"/>
              </a:rPr>
              <a:t>  "arguments": {</a:t>
            </a:r>
          </a:p>
          <a:p>
            <a:pPr>
              <a:lnSpc>
                <a:spcPct val="113000"/>
              </a:lnSpc>
              <a:spcAft>
                <a:spcPts val="300"/>
              </a:spcAft>
            </a:pPr>
            <a:r>
              <a:rPr sz="2200" b="0">
                <a:solidFill>
                  <a:srgbClr val="FFFFFF"/>
                </a:solidFill>
                <a:latin typeface="DejaVu Sans Mono"/>
              </a:rPr>
              <a:t>    "clinic_id": "KCARE-ADJ-01"</a:t>
            </a:r>
          </a:p>
          <a:p>
            <a:pPr>
              <a:lnSpc>
                <a:spcPct val="113000"/>
              </a:lnSpc>
              <a:spcAft>
                <a:spcPts val="300"/>
              </a:spcAft>
            </a:pPr>
            <a:r>
              <a:rPr sz="2200" b="0">
                <a:solidFill>
                  <a:srgbClr val="FFFFFF"/>
                </a:solidFill>
                <a:latin typeface="DejaVu Sans Mono"/>
              </a:rPr>
              <a:t>  }</a:t>
            </a:r>
          </a:p>
          <a:p>
            <a:pPr>
              <a:lnSpc>
                <a:spcPct val="113000"/>
              </a:lnSpc>
              <a:spcAft>
                <a:spcPts val="300"/>
              </a:spcAft>
            </a:pPr>
            <a:r>
              <a:rPr sz="2200" b="0">
                <a:solidFill>
                  <a:srgbClr val="FFFFFF"/>
                </a:solidFill>
                <a:latin typeface="DejaVu Sans Mono"/>
              </a:rPr>
              <a:t>}</a:t>
            </a:r>
          </a:p>
        </p:txBody>
      </p:sp>
      <p:sp>
        <p:nvSpPr>
          <p:cNvPr id="23" name="TextBox 22"/>
          <p:cNvSpPr txBox="1"/>
          <p:nvPr/>
        </p:nvSpPr>
        <p:spPr>
          <a:xfrm>
            <a:off x="1143000" y="7269480"/>
            <a:ext cx="7772400" cy="12344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Le nom choisit la fonction ; les arguments précisent la clinique. Python les valide avant l’exécution.</a:t>
            </a:r>
          </a:p>
        </p:txBody>
      </p:sp>
      <p:sp>
        <p:nvSpPr>
          <p:cNvPr id="24" name="TextBox 23"/>
          <p:cNvSpPr txBox="1"/>
          <p:nvPr/>
        </p:nvSpPr>
        <p:spPr>
          <a:xfrm>
            <a:off x="9372600" y="2788920"/>
            <a:ext cx="7772400" cy="59436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2. Résultat renvoyé par l’outil</a:t>
            </a:r>
          </a:p>
        </p:txBody>
      </p:sp>
      <p:sp>
        <p:nvSpPr>
          <p:cNvPr id="25" name="Rounded Rectangle 24"/>
          <p:cNvSpPr/>
          <p:nvPr/>
        </p:nvSpPr>
        <p:spPr>
          <a:xfrm>
            <a:off x="9372600" y="3611880"/>
            <a:ext cx="7772400" cy="3291840"/>
          </a:xfrm>
          <a:prstGeom prst="roundRect">
            <a:avLst>
              <a:gd name="adj" fmla="val 8000"/>
            </a:avLst>
          </a:prstGeom>
          <a:solidFill>
            <a:srgbClr val="11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3886200"/>
            <a:ext cx="7223760" cy="2743200"/>
          </a:xfrm>
          <a:prstGeom prst="rect">
            <a:avLst/>
          </a:prstGeom>
          <a:noFill/>
        </p:spPr>
        <p:txBody>
          <a:bodyPr wrap="square" lIns="0" rIns="0" tIns="0" bIns="0">
            <a:spAutoFit/>
          </a:bodyPr>
          <a:lstStyle/>
          <a:p>
            <a:pPr>
              <a:lnSpc>
                <a:spcPct val="113000"/>
              </a:lnSpc>
              <a:spcAft>
                <a:spcPts val="300"/>
              </a:spcAft>
            </a:pPr>
            <a:r>
              <a:rPr sz="2200" b="0">
                <a:solidFill>
                  <a:srgbClr val="FFFFFF"/>
                </a:solidFill>
                <a:latin typeface="DejaVu Sans Mono"/>
              </a:rPr>
              <a:t>{</a:t>
            </a:r>
          </a:p>
          <a:p>
            <a:pPr>
              <a:lnSpc>
                <a:spcPct val="113000"/>
              </a:lnSpc>
              <a:spcAft>
                <a:spcPts val="300"/>
              </a:spcAft>
            </a:pPr>
            <a:r>
              <a:rPr sz="2200" b="0">
                <a:solidFill>
                  <a:srgbClr val="FFFFFF"/>
                </a:solidFill>
                <a:latin typeface="DejaVu Sans Mono"/>
              </a:rPr>
              <a:t>  "clinic_id": "KCARE-ADJ-01",</a:t>
            </a:r>
          </a:p>
          <a:p>
            <a:pPr>
              <a:lnSpc>
                <a:spcPct val="113000"/>
              </a:lnSpc>
              <a:spcAft>
                <a:spcPts val="300"/>
              </a:spcAft>
            </a:pPr>
            <a:r>
              <a:rPr sz="2200" b="0">
                <a:solidFill>
                  <a:srgbClr val="FFFFFF"/>
                </a:solidFill>
                <a:latin typeface="DejaVu Sans Mono"/>
              </a:rPr>
              <a:t>  "temperature_c": 12.4,</a:t>
            </a:r>
          </a:p>
          <a:p>
            <a:pPr>
              <a:lnSpc>
                <a:spcPct val="113000"/>
              </a:lnSpc>
              <a:spcAft>
                <a:spcPts val="300"/>
              </a:spcAft>
            </a:pPr>
            <a:r>
              <a:rPr sz="2200" b="0">
                <a:solidFill>
                  <a:srgbClr val="FFFFFF"/>
                </a:solidFill>
                <a:latin typeface="DejaVu Sans Mono"/>
              </a:rPr>
              <a:t>  "excursion_minutes": 52,</a:t>
            </a:r>
          </a:p>
          <a:p>
            <a:pPr>
              <a:lnSpc>
                <a:spcPct val="113000"/>
              </a:lnSpc>
              <a:spcAft>
                <a:spcPts val="300"/>
              </a:spcAft>
            </a:pPr>
            <a:r>
              <a:rPr sz="2200" b="0">
                <a:solidFill>
                  <a:srgbClr val="FFFFFF"/>
                </a:solidFill>
                <a:latin typeface="DejaVu Sans Mono"/>
              </a:rPr>
              <a:t>  "sensor_status": "OK"</a:t>
            </a:r>
          </a:p>
          <a:p>
            <a:pPr>
              <a:lnSpc>
                <a:spcPct val="113000"/>
              </a:lnSpc>
              <a:spcAft>
                <a:spcPts val="300"/>
              </a:spcAft>
            </a:pPr>
            <a:r>
              <a:rPr sz="2200" b="0">
                <a:solidFill>
                  <a:srgbClr val="FFFFFF"/>
                </a:solidFill>
                <a:latin typeface="DejaVu Sans Mono"/>
              </a:rPr>
              <a:t>}</a:t>
            </a:r>
          </a:p>
        </p:txBody>
      </p:sp>
      <p:sp>
        <p:nvSpPr>
          <p:cNvPr id="27" name="TextBox 26"/>
          <p:cNvSpPr txBox="1"/>
          <p:nvPr/>
        </p:nvSpPr>
        <p:spPr>
          <a:xfrm>
            <a:off x="9372600" y="7269480"/>
            <a:ext cx="7772400" cy="12344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Cet extrait contient la mesure lue. On conserve la sortie réelle, ainsi que les erreurs éventuelles.</a:t>
            </a:r>
          </a:p>
        </p:txBody>
      </p:sp>
      <p:sp>
        <p:nvSpPr>
          <p:cNvPr id="28" name="TextBox 27"/>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Appel normalisé et résultat abrégé du scénario simulé. Les schémas des outils sont fournis au modèle.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07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LA BOUCLE D’EXÉCUTION</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Chaque résultat prépare la décision suivante.</a:t>
            </a:r>
          </a:p>
        </p:txBody>
      </p:sp>
      <p:sp>
        <p:nvSpPr>
          <p:cNvPr id="20" name="Rounded Rectangle 19"/>
          <p:cNvSpPr/>
          <p:nvPr/>
        </p:nvSpPr>
        <p:spPr>
          <a:xfrm>
            <a:off x="1143000" y="3200400"/>
            <a:ext cx="4937760" cy="25146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474720"/>
            <a:ext cx="42976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Le modèle choisit</a:t>
            </a:r>
          </a:p>
        </p:txBody>
      </p:sp>
      <p:sp>
        <p:nvSpPr>
          <p:cNvPr id="22" name="TextBox 21"/>
          <p:cNvSpPr txBox="1"/>
          <p:nvPr/>
        </p:nvSpPr>
        <p:spPr>
          <a:xfrm>
            <a:off x="1463040" y="4526280"/>
            <a:ext cx="4297680" cy="10058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À partir de l’objectif et de l’historique.</a:t>
            </a:r>
          </a:p>
        </p:txBody>
      </p:sp>
      <p:sp>
        <p:nvSpPr>
          <p:cNvPr id="23" name="Rounded Rectangle 22"/>
          <p:cNvSpPr/>
          <p:nvPr/>
        </p:nvSpPr>
        <p:spPr>
          <a:xfrm>
            <a:off x="6675120" y="3200400"/>
            <a:ext cx="4937760" cy="25146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59" y="3474720"/>
            <a:ext cx="42976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Python vérifie</a:t>
            </a:r>
          </a:p>
        </p:txBody>
      </p:sp>
      <p:sp>
        <p:nvSpPr>
          <p:cNvPr id="25" name="TextBox 24"/>
          <p:cNvSpPr txBox="1"/>
          <p:nvPr/>
        </p:nvSpPr>
        <p:spPr>
          <a:xfrm>
            <a:off x="6995159" y="4526280"/>
            <a:ext cx="4297680" cy="10058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Outil autorisé, arguments et règles du lab.</a:t>
            </a:r>
          </a:p>
        </p:txBody>
      </p:sp>
      <p:sp>
        <p:nvSpPr>
          <p:cNvPr id="26" name="Rounded Rectangle 25"/>
          <p:cNvSpPr/>
          <p:nvPr/>
        </p:nvSpPr>
        <p:spPr>
          <a:xfrm>
            <a:off x="12207240" y="3200400"/>
            <a:ext cx="4937760" cy="25146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527280" y="3474720"/>
            <a:ext cx="42976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L’outil s’exécute</a:t>
            </a:r>
          </a:p>
        </p:txBody>
      </p:sp>
      <p:sp>
        <p:nvSpPr>
          <p:cNvPr id="28" name="TextBox 27"/>
          <p:cNvSpPr txBox="1"/>
          <p:nvPr/>
        </p:nvSpPr>
        <p:spPr>
          <a:xfrm>
            <a:off x="12527280" y="4526280"/>
            <a:ext cx="4297680" cy="10058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Il renvoie un résultat ou une erreur.</a:t>
            </a:r>
          </a:p>
        </p:txBody>
      </p:sp>
      <p:sp>
        <p:nvSpPr>
          <p:cNvPr id="29" name="Right Arrow 28"/>
          <p:cNvSpPr/>
          <p:nvPr/>
        </p:nvSpPr>
        <p:spPr>
          <a:xfrm>
            <a:off x="6144768" y="4206240"/>
            <a:ext cx="438912" cy="365760"/>
          </a:xfrm>
          <a:prstGeom prst="right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11676888" y="4206240"/>
            <a:ext cx="438912" cy="365760"/>
          </a:xfrm>
          <a:prstGeom prst="right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0"/>
          <p:cNvSpPr/>
          <p:nvPr/>
        </p:nvSpPr>
        <p:spPr>
          <a:xfrm>
            <a:off x="14401800" y="5943600"/>
            <a:ext cx="411480" cy="640080"/>
          </a:xfrm>
          <a:prstGeom prst="down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675120" y="6720840"/>
            <a:ext cx="10469880" cy="96012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95160" y="6912864"/>
            <a:ext cx="9829800" cy="640080"/>
          </a:xfrm>
          <a:prstGeom prst="rect">
            <a:avLst/>
          </a:prstGeom>
          <a:noFill/>
        </p:spPr>
        <p:txBody>
          <a:bodyPr wrap="square" lIns="0" rIns="0" tIns="0" bIns="0">
            <a:spAutoFit/>
          </a:bodyPr>
          <a:lstStyle/>
          <a:p>
            <a:pPr>
              <a:lnSpc>
                <a:spcPct val="113000"/>
              </a:lnSpc>
              <a:spcAft>
                <a:spcPts val="700"/>
              </a:spcAft>
            </a:pPr>
            <a:r>
              <a:rPr sz="2500" b="1">
                <a:solidFill>
                  <a:srgbClr val="FFFFFF"/>
                </a:solidFill>
                <a:latin typeface="Poppins"/>
              </a:rPr>
              <a:t>Le résultat est ajouté à l’historique.</a:t>
            </a:r>
          </a:p>
        </p:txBody>
      </p:sp>
      <p:cxnSp>
        <p:nvCxnSpPr>
          <p:cNvPr id="34" name="Connector 33"/>
          <p:cNvCxnSpPr/>
          <p:nvPr/>
        </p:nvCxnSpPr>
        <p:spPr>
          <a:xfrm flipH="1">
            <a:off x="3611880" y="7205472"/>
            <a:ext cx="3063240" cy="0"/>
          </a:xfrm>
          <a:prstGeom prst="line">
            <a:avLst/>
          </a:prstGeom>
          <a:ln w="38100">
            <a:solidFill>
              <a:srgbClr val="00875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611880" y="6355080"/>
            <a:ext cx="0" cy="850392"/>
          </a:xfrm>
          <a:prstGeom prst="line">
            <a:avLst/>
          </a:prstGeom>
          <a:ln w="38100">
            <a:solidFill>
              <a:srgbClr val="008751"/>
            </a:solidFill>
          </a:ln>
        </p:spPr>
        <p:style>
          <a:lnRef idx="2">
            <a:schemeClr val="accent1"/>
          </a:lnRef>
          <a:fillRef idx="0">
            <a:schemeClr val="accent1"/>
          </a:fillRef>
          <a:effectRef idx="1">
            <a:schemeClr val="accent1"/>
          </a:effectRef>
          <a:fontRef idx="minor">
            <a:schemeClr val="tx1"/>
          </a:fontRef>
        </p:style>
      </p:cxnSp>
      <p:sp>
        <p:nvSpPr>
          <p:cNvPr id="36" name="Up Arrow 35"/>
          <p:cNvSpPr/>
          <p:nvPr/>
        </p:nvSpPr>
        <p:spPr>
          <a:xfrm>
            <a:off x="3401568" y="5897880"/>
            <a:ext cx="420624" cy="502920"/>
          </a:xfrm>
          <a:prstGeom prst="up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 y="7635240"/>
            <a:ext cx="4937760" cy="731520"/>
          </a:xfrm>
          <a:prstGeom prst="rect">
            <a:avLst/>
          </a:prstGeom>
          <a:noFill/>
        </p:spPr>
        <p:txBody>
          <a:bodyPr wrap="square" lIns="0" rIns="0" tIns="0" bIns="0">
            <a:spAutoFit/>
          </a:bodyPr>
          <a:lstStyle/>
          <a:p>
            <a:pPr>
              <a:lnSpc>
                <a:spcPct val="113000"/>
              </a:lnSpc>
              <a:spcAft>
                <a:spcPts val="700"/>
              </a:spcAft>
            </a:pPr>
            <a:r>
              <a:rPr sz="2200" b="0">
                <a:solidFill>
                  <a:srgbClr val="008751"/>
                </a:solidFill>
                <a:latin typeface="Poppins"/>
              </a:rPr>
              <a:t>Le modèle reçoit cette observation au tour suivant.</a:t>
            </a:r>
          </a:p>
        </p:txBody>
      </p:sp>
      <p:sp>
        <p:nvSpPr>
          <p:cNvPr id="38" name="TextBox 37"/>
          <p:cNvSpPr txBox="1"/>
          <p:nvPr/>
        </p:nvSpPr>
        <p:spPr>
          <a:xfrm>
            <a:off x="1143000" y="2606040"/>
            <a:ext cx="16002000" cy="502920"/>
          </a:xfrm>
          <a:prstGeom prst="rect">
            <a:avLst/>
          </a:prstGeom>
          <a:noFill/>
        </p:spPr>
        <p:txBody>
          <a:bodyPr wrap="square" lIns="0" rIns="0" tIns="0" bIns="0">
            <a:spAutoFit/>
          </a:bodyPr>
          <a:lstStyle/>
          <a:p>
            <a:pPr>
              <a:lnSpc>
                <a:spcPct val="113000"/>
              </a:lnSpc>
              <a:spcAft>
                <a:spcPts val="700"/>
              </a:spcAft>
            </a:pPr>
            <a:r>
              <a:rPr sz="2300" b="0">
                <a:solidFill>
                  <a:srgbClr val="53645A"/>
                </a:solidFill>
                <a:latin typeface="Poppins"/>
              </a:rPr>
              <a:t>À chaque tour, le modèle propose un appel d’outil ou une réponse.</a:t>
            </a:r>
          </a:p>
        </p:txBody>
      </p:sp>
      <p:sp>
        <p:nvSpPr>
          <p:cNvPr id="39" name="TextBox 38"/>
          <p:cNvSpPr txBox="1"/>
          <p:nvPr/>
        </p:nvSpPr>
        <p:spPr>
          <a:xfrm>
            <a:off x="1143000" y="8458200"/>
            <a:ext cx="16002000" cy="64008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Si le modèle propose une réponse : Python vérifie les preuves, puis la rend ou la bloque.</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08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DEUX TOURS DE BOUCLE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La mesure est connue. Quelle information manque encore ?</a:t>
            </a:r>
          </a:p>
        </p:txBody>
      </p:sp>
      <p:sp>
        <p:nvSpPr>
          <p:cNvPr id="20" name="Rectangle 19"/>
          <p:cNvSpPr/>
          <p:nvPr/>
        </p:nvSpPr>
        <p:spPr>
          <a:xfrm>
            <a:off x="1143000" y="2880360"/>
            <a:ext cx="16002000" cy="73152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3026664"/>
            <a:ext cx="259689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Moment</a:t>
            </a:r>
          </a:p>
        </p:txBody>
      </p:sp>
      <p:sp>
        <p:nvSpPr>
          <p:cNvPr id="22" name="TextBox 21"/>
          <p:cNvSpPr txBox="1"/>
          <p:nvPr/>
        </p:nvSpPr>
        <p:spPr>
          <a:xfrm>
            <a:off x="4370832" y="3026664"/>
            <a:ext cx="662025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Ce qui circule</a:t>
            </a:r>
          </a:p>
        </p:txBody>
      </p:sp>
      <p:sp>
        <p:nvSpPr>
          <p:cNvPr id="23" name="TextBox 22"/>
          <p:cNvSpPr txBox="1"/>
          <p:nvPr/>
        </p:nvSpPr>
        <p:spPr>
          <a:xfrm>
            <a:off x="11411712" y="3026664"/>
            <a:ext cx="55229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Ce que cela permet</a:t>
            </a:r>
          </a:p>
        </p:txBody>
      </p:sp>
      <p:sp>
        <p:nvSpPr>
          <p:cNvPr id="24" name="Rectangle 23"/>
          <p:cNvSpPr/>
          <p:nvPr/>
        </p:nvSpPr>
        <p:spPr>
          <a:xfrm>
            <a:off x="1143000" y="3611880"/>
            <a:ext cx="16002000" cy="141732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3312" y="3776472"/>
            <a:ext cx="2596896" cy="1197864"/>
          </a:xfrm>
          <a:prstGeom prst="rect">
            <a:avLst/>
          </a:prstGeom>
          <a:noFill/>
        </p:spPr>
        <p:txBody>
          <a:bodyPr wrap="square" lIns="0" rIns="0" tIns="0" bIns="0">
            <a:spAutoFit/>
          </a:bodyPr>
          <a:lstStyle/>
          <a:p>
            <a:pPr>
              <a:lnSpc>
                <a:spcPct val="113000"/>
              </a:lnSpc>
              <a:spcAft>
                <a:spcPts val="700"/>
              </a:spcAft>
            </a:pPr>
            <a:r>
              <a:rPr sz="2500" b="1">
                <a:solidFill>
                  <a:srgbClr val="111713"/>
                </a:solidFill>
                <a:latin typeface="Poppins"/>
              </a:rPr>
              <a:t>Tour 1</a:t>
            </a:r>
          </a:p>
        </p:txBody>
      </p:sp>
      <p:sp>
        <p:nvSpPr>
          <p:cNvPr id="26" name="TextBox 25"/>
          <p:cNvSpPr txBox="1"/>
          <p:nvPr/>
        </p:nvSpPr>
        <p:spPr>
          <a:xfrm>
            <a:off x="4370832" y="3776472"/>
            <a:ext cx="662025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get_clinic_status</a:t>
            </a:r>
          </a:p>
          <a:p>
            <a:pPr>
              <a:lnSpc>
                <a:spcPct val="113000"/>
              </a:lnSpc>
              <a:spcAft>
                <a:spcPts val="700"/>
              </a:spcAft>
            </a:pPr>
            <a:r>
              <a:rPr sz="2500" b="0">
                <a:solidFill>
                  <a:srgbClr val="111713"/>
                </a:solidFill>
                <a:latin typeface="Poppins"/>
              </a:rPr>
              <a:t>clinic_id : KCARE-ADJ-01</a:t>
            </a:r>
          </a:p>
        </p:txBody>
      </p:sp>
      <p:sp>
        <p:nvSpPr>
          <p:cNvPr id="27" name="TextBox 26"/>
          <p:cNvSpPr txBox="1"/>
          <p:nvPr/>
        </p:nvSpPr>
        <p:spPr>
          <a:xfrm>
            <a:off x="11411712" y="3776472"/>
            <a:ext cx="552297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Lire l’état de la clinique.</a:t>
            </a:r>
          </a:p>
        </p:txBody>
      </p:sp>
      <p:sp>
        <p:nvSpPr>
          <p:cNvPr id="28" name="Rectangle 27"/>
          <p:cNvSpPr/>
          <p:nvPr/>
        </p:nvSpPr>
        <p:spPr>
          <a:xfrm>
            <a:off x="1143000" y="5029200"/>
            <a:ext cx="16002000" cy="141732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3312" y="5193792"/>
            <a:ext cx="2596896" cy="1197864"/>
          </a:xfrm>
          <a:prstGeom prst="rect">
            <a:avLst/>
          </a:prstGeom>
          <a:noFill/>
        </p:spPr>
        <p:txBody>
          <a:bodyPr wrap="square" lIns="0" rIns="0" tIns="0" bIns="0">
            <a:spAutoFit/>
          </a:bodyPr>
          <a:lstStyle/>
          <a:p>
            <a:pPr>
              <a:lnSpc>
                <a:spcPct val="113000"/>
              </a:lnSpc>
              <a:spcAft>
                <a:spcPts val="700"/>
              </a:spcAft>
            </a:pPr>
            <a:r>
              <a:rPr sz="2500" b="1">
                <a:solidFill>
                  <a:srgbClr val="111713"/>
                </a:solidFill>
                <a:latin typeface="Poppins"/>
              </a:rPr>
              <a:t>Observation</a:t>
            </a:r>
          </a:p>
        </p:txBody>
      </p:sp>
      <p:sp>
        <p:nvSpPr>
          <p:cNvPr id="30" name="TextBox 29"/>
          <p:cNvSpPr txBox="1"/>
          <p:nvPr/>
        </p:nvSpPr>
        <p:spPr>
          <a:xfrm>
            <a:off x="4370832" y="5193792"/>
            <a:ext cx="662025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12,4 °C · 52 min · capteur OK</a:t>
            </a:r>
          </a:p>
        </p:txBody>
      </p:sp>
      <p:sp>
        <p:nvSpPr>
          <p:cNvPr id="31" name="TextBox 30"/>
          <p:cNvSpPr txBox="1"/>
          <p:nvPr/>
        </p:nvSpPr>
        <p:spPr>
          <a:xfrm>
            <a:off x="11411712" y="5193792"/>
            <a:ext cx="552297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Conserver les faits dans l’historique.</a:t>
            </a:r>
          </a:p>
        </p:txBody>
      </p:sp>
      <p:sp>
        <p:nvSpPr>
          <p:cNvPr id="32" name="Rectangle 31"/>
          <p:cNvSpPr/>
          <p:nvPr/>
        </p:nvSpPr>
        <p:spPr>
          <a:xfrm>
            <a:off x="1143000" y="6446520"/>
            <a:ext cx="16002000" cy="141732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53312" y="6611112"/>
            <a:ext cx="2596896" cy="1197864"/>
          </a:xfrm>
          <a:prstGeom prst="rect">
            <a:avLst/>
          </a:prstGeom>
          <a:noFill/>
        </p:spPr>
        <p:txBody>
          <a:bodyPr wrap="square" lIns="0" rIns="0" tIns="0" bIns="0">
            <a:spAutoFit/>
          </a:bodyPr>
          <a:lstStyle/>
          <a:p>
            <a:pPr>
              <a:lnSpc>
                <a:spcPct val="113000"/>
              </a:lnSpc>
              <a:spcAft>
                <a:spcPts val="700"/>
              </a:spcAft>
            </a:pPr>
            <a:r>
              <a:rPr sz="2500" b="1">
                <a:solidFill>
                  <a:srgbClr val="111713"/>
                </a:solidFill>
                <a:latin typeface="Poppins"/>
              </a:rPr>
              <a:t>Tour 2</a:t>
            </a:r>
          </a:p>
        </p:txBody>
      </p:sp>
      <p:sp>
        <p:nvSpPr>
          <p:cNvPr id="34" name="TextBox 33"/>
          <p:cNvSpPr txBox="1"/>
          <p:nvPr/>
        </p:nvSpPr>
        <p:spPr>
          <a:xfrm>
            <a:off x="4370832" y="6611112"/>
            <a:ext cx="662025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search_cold_chain_sop</a:t>
            </a:r>
          </a:p>
          <a:p>
            <a:pPr>
              <a:lnSpc>
                <a:spcPct val="113000"/>
              </a:lnSpc>
              <a:spcAft>
                <a:spcPts val="700"/>
              </a:spcAft>
            </a:pPr>
            <a:r>
              <a:rPr sz="2500" b="0">
                <a:solidFill>
                  <a:srgbClr val="111713"/>
                </a:solidFill>
                <a:latin typeface="Poppins"/>
              </a:rPr>
              <a:t>query : température excursion critique</a:t>
            </a:r>
          </a:p>
        </p:txBody>
      </p:sp>
      <p:sp>
        <p:nvSpPr>
          <p:cNvPr id="35" name="TextBox 34"/>
          <p:cNvSpPr txBox="1"/>
          <p:nvPr/>
        </p:nvSpPr>
        <p:spPr>
          <a:xfrm>
            <a:off x="11411712" y="6611112"/>
            <a:ext cx="552297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Retrouver la procédure adaptée.</a:t>
            </a:r>
          </a:p>
        </p:txBody>
      </p:sp>
      <p:sp>
        <p:nvSpPr>
          <p:cNvPr id="36" name="TextBox 35"/>
          <p:cNvSpPr txBox="1"/>
          <p:nvPr/>
        </p:nvSpPr>
        <p:spPr>
          <a:xfrm>
            <a:off x="1143000" y="8458200"/>
            <a:ext cx="16002000" cy="54864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Sans retour du résultat, le modèle ne sait pas ce que le premier outil a trouvé.</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09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LA BOÎTE À OUTILS</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Cinq fonctions pour examiner l’alerte.</a:t>
            </a:r>
          </a:p>
        </p:txBody>
      </p:sp>
      <p:sp>
        <p:nvSpPr>
          <p:cNvPr id="20" name="Rectangle 19"/>
          <p:cNvSpPr/>
          <p:nvPr/>
        </p:nvSpPr>
        <p:spPr>
          <a:xfrm>
            <a:off x="1143000" y="2880360"/>
            <a:ext cx="16002000" cy="73152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3026664"/>
            <a:ext cx="447141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Question</a:t>
            </a:r>
          </a:p>
        </p:txBody>
      </p:sp>
      <p:sp>
        <p:nvSpPr>
          <p:cNvPr id="22" name="TextBox 21"/>
          <p:cNvSpPr txBox="1"/>
          <p:nvPr/>
        </p:nvSpPr>
        <p:spPr>
          <a:xfrm>
            <a:off x="6245352" y="3026664"/>
            <a:ext cx="59801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Outil Python</a:t>
            </a:r>
          </a:p>
        </p:txBody>
      </p:sp>
      <p:sp>
        <p:nvSpPr>
          <p:cNvPr id="23" name="TextBox 22"/>
          <p:cNvSpPr txBox="1"/>
          <p:nvPr/>
        </p:nvSpPr>
        <p:spPr>
          <a:xfrm>
            <a:off x="12646152" y="3026664"/>
            <a:ext cx="428853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Résultat attendu</a:t>
            </a:r>
          </a:p>
        </p:txBody>
      </p:sp>
      <p:sp>
        <p:nvSpPr>
          <p:cNvPr id="24" name="Rectangle 23"/>
          <p:cNvSpPr/>
          <p:nvPr/>
        </p:nvSpPr>
        <p:spPr>
          <a:xfrm>
            <a:off x="1143000" y="3611880"/>
            <a:ext cx="16002000" cy="914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3312" y="37764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Que mesure le capteur ?</a:t>
            </a:r>
          </a:p>
        </p:txBody>
      </p:sp>
      <p:sp>
        <p:nvSpPr>
          <p:cNvPr id="26" name="TextBox 25"/>
          <p:cNvSpPr txBox="1"/>
          <p:nvPr/>
        </p:nvSpPr>
        <p:spPr>
          <a:xfrm>
            <a:off x="6245352" y="37764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get_clinic_status</a:t>
            </a:r>
          </a:p>
        </p:txBody>
      </p:sp>
      <p:sp>
        <p:nvSpPr>
          <p:cNvPr id="27" name="TextBox 26"/>
          <p:cNvSpPr txBox="1"/>
          <p:nvPr/>
        </p:nvSpPr>
        <p:spPr>
          <a:xfrm>
            <a:off x="12646152" y="37764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La télémétrie de la clinique.</a:t>
            </a:r>
          </a:p>
        </p:txBody>
      </p:sp>
      <p:sp>
        <p:nvSpPr>
          <p:cNvPr id="28" name="Rectangle 27"/>
          <p:cNvSpPr/>
          <p:nvPr/>
        </p:nvSpPr>
        <p:spPr>
          <a:xfrm>
            <a:off x="1143000" y="4526280"/>
            <a:ext cx="16002000" cy="91440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3312" y="46908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Quelle procédure appliquer ?</a:t>
            </a:r>
          </a:p>
        </p:txBody>
      </p:sp>
      <p:sp>
        <p:nvSpPr>
          <p:cNvPr id="30" name="TextBox 29"/>
          <p:cNvSpPr txBox="1"/>
          <p:nvPr/>
        </p:nvSpPr>
        <p:spPr>
          <a:xfrm>
            <a:off x="6245352" y="46908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search_cold_chain_sop</a:t>
            </a:r>
          </a:p>
        </p:txBody>
      </p:sp>
      <p:sp>
        <p:nvSpPr>
          <p:cNvPr id="31" name="TextBox 30"/>
          <p:cNvSpPr txBox="1"/>
          <p:nvPr/>
        </p:nvSpPr>
        <p:spPr>
          <a:xfrm>
            <a:off x="12646152" y="46908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La procédure locale retrouvée.</a:t>
            </a:r>
          </a:p>
        </p:txBody>
      </p:sp>
      <p:sp>
        <p:nvSpPr>
          <p:cNvPr id="32" name="Rectangle 31"/>
          <p:cNvSpPr/>
          <p:nvPr/>
        </p:nvSpPr>
        <p:spPr>
          <a:xfrm>
            <a:off x="1143000" y="5440680"/>
            <a:ext cx="16002000" cy="914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53312" y="56052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Que disent les règles du lab ?</a:t>
            </a:r>
          </a:p>
        </p:txBody>
      </p:sp>
      <p:sp>
        <p:nvSpPr>
          <p:cNvPr id="34" name="TextBox 33"/>
          <p:cNvSpPr txBox="1"/>
          <p:nvPr/>
        </p:nvSpPr>
        <p:spPr>
          <a:xfrm>
            <a:off x="6245352" y="56052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assess_excursion_risk</a:t>
            </a:r>
          </a:p>
        </p:txBody>
      </p:sp>
      <p:sp>
        <p:nvSpPr>
          <p:cNvPr id="35" name="TextBox 34"/>
          <p:cNvSpPr txBox="1"/>
          <p:nvPr/>
        </p:nvSpPr>
        <p:spPr>
          <a:xfrm>
            <a:off x="12646152" y="56052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La gravité et l’action proposée.</a:t>
            </a:r>
          </a:p>
        </p:txBody>
      </p:sp>
      <p:sp>
        <p:nvSpPr>
          <p:cNvPr id="36" name="Rectangle 35"/>
          <p:cNvSpPr/>
          <p:nvPr/>
        </p:nvSpPr>
        <p:spPr>
          <a:xfrm>
            <a:off x="1143000" y="6355080"/>
            <a:ext cx="16002000" cy="91440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53312" y="65196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Comment documenter l’alerte ?</a:t>
            </a:r>
          </a:p>
        </p:txBody>
      </p:sp>
      <p:sp>
        <p:nvSpPr>
          <p:cNvPr id="38" name="TextBox 37"/>
          <p:cNvSpPr txBox="1"/>
          <p:nvPr/>
        </p:nvSpPr>
        <p:spPr>
          <a:xfrm>
            <a:off x="6245352" y="65196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create_incident</a:t>
            </a:r>
          </a:p>
        </p:txBody>
      </p:sp>
      <p:sp>
        <p:nvSpPr>
          <p:cNvPr id="39" name="TextBox 38"/>
          <p:cNvSpPr txBox="1"/>
          <p:nvPr/>
        </p:nvSpPr>
        <p:spPr>
          <a:xfrm>
            <a:off x="12646152" y="65196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Un identifiant de dossier.</a:t>
            </a:r>
          </a:p>
        </p:txBody>
      </p:sp>
      <p:sp>
        <p:nvSpPr>
          <p:cNvPr id="40" name="Rectangle 39"/>
          <p:cNvSpPr/>
          <p:nvPr/>
        </p:nvSpPr>
        <p:spPr>
          <a:xfrm>
            <a:off x="1143000" y="7269480"/>
            <a:ext cx="16002000" cy="914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53312" y="74340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L’opérateur approuve-t-il ?</a:t>
            </a:r>
          </a:p>
        </p:txBody>
      </p:sp>
      <p:sp>
        <p:nvSpPr>
          <p:cNvPr id="42" name="TextBox 41"/>
          <p:cNvSpPr txBox="1"/>
          <p:nvPr/>
        </p:nvSpPr>
        <p:spPr>
          <a:xfrm>
            <a:off x="6245352" y="74340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request_human_review</a:t>
            </a:r>
          </a:p>
        </p:txBody>
      </p:sp>
      <p:sp>
        <p:nvSpPr>
          <p:cNvPr id="43" name="TextBox 42"/>
          <p:cNvSpPr txBox="1"/>
          <p:nvPr/>
        </p:nvSpPr>
        <p:spPr>
          <a:xfrm>
            <a:off x="12646152" y="74340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Une décision liée à cet incident.</a:t>
            </a:r>
          </a:p>
        </p:txBody>
      </p:sp>
      <p:sp>
        <p:nvSpPr>
          <p:cNvPr id="44" name="TextBox 43"/>
          <p:cNvSpPr txBox="1"/>
          <p:nvPr/>
        </p:nvSpPr>
        <p:spPr>
          <a:xfrm>
            <a:off x="1143000" y="8458200"/>
            <a:ext cx="16002000" cy="54864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Le chemin dépend de la demande. Les règles d’autorisation restent dans le code.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10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CE QUI PEUT MAL SE PASSER</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Trois erreurs que notre code doit reconnaître.</a:t>
            </a:r>
          </a:p>
        </p:txBody>
      </p:sp>
      <p:sp>
        <p:nvSpPr>
          <p:cNvPr id="20" name="Rounded Rectangle 19"/>
          <p:cNvSpPr/>
          <p:nvPr/>
        </p:nvSpPr>
        <p:spPr>
          <a:xfrm>
            <a:off x="114300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La mesure change</a:t>
            </a:r>
          </a:p>
        </p:txBody>
      </p:sp>
      <p:sp>
        <p:nvSpPr>
          <p:cNvPr id="22" name="TextBox 21"/>
          <p:cNvSpPr txBox="1"/>
          <p:nvPr/>
        </p:nvSpPr>
        <p:spPr>
          <a:xfrm>
            <a:off x="146304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L’outil lit 12,4 °C. Le modèle transmet ensuite 5 °C au calcul du risque. Le code doit comparer cette valeur à la mesure lue.</a:t>
            </a:r>
          </a:p>
        </p:txBody>
      </p:sp>
      <p:sp>
        <p:nvSpPr>
          <p:cNvPr id="23" name="Rounded Rectangle 22"/>
          <p:cNvSpPr/>
          <p:nvPr/>
        </p:nvSpPr>
        <p:spPr>
          <a:xfrm>
            <a:off x="661416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420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L’appel se répète</a:t>
            </a:r>
          </a:p>
        </p:txBody>
      </p:sp>
      <p:sp>
        <p:nvSpPr>
          <p:cNvPr id="25" name="TextBox 24"/>
          <p:cNvSpPr txBox="1"/>
          <p:nvPr/>
        </p:nvSpPr>
        <p:spPr>
          <a:xfrm>
            <a:off x="693420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Le modèle redemande exactement la même mesure. Le code détecte l’appel déjà exécuté et arrête la boucle.</a:t>
            </a:r>
          </a:p>
        </p:txBody>
      </p:sp>
      <p:sp>
        <p:nvSpPr>
          <p:cNvPr id="26" name="Rounded Rectangle 25"/>
          <p:cNvSpPr/>
          <p:nvPr/>
        </p:nvSpPr>
        <p:spPr>
          <a:xfrm>
            <a:off x="1208532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40536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BE2440"/>
                </a:solidFill>
                <a:latin typeface="Poppins"/>
              </a:rPr>
              <a:t>L’accord manque</a:t>
            </a:r>
          </a:p>
        </p:txBody>
      </p:sp>
      <p:sp>
        <p:nvSpPr>
          <p:cNvPr id="28" name="TextBox 27"/>
          <p:cNvSpPr txBox="1"/>
          <p:nvPr/>
        </p:nvSpPr>
        <p:spPr>
          <a:xfrm>
            <a:off x="1240536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Le modèle veut conclure avant la revue requise. Le code exige une approbation pour le bon incident et la bonne action.</a:t>
            </a:r>
          </a:p>
        </p:txBody>
      </p:sp>
      <p:sp>
        <p:nvSpPr>
          <p:cNvPr id="29" name="TextBox 28"/>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Dans le notebook, vous allez provoquer ces erreurs et vérifier où le système s’arrête.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4"/>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11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DANS LE NOTEBOOK · CHECKPOINT 1</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Passer du chatbot au premier appel d’outil.</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8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Prédisez le premier appel.</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Quelle fonction permet de connaître l’état de KCARE-ADJ-01 ?</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Complétez TODO 1.</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Donnez au modèle l’historique et les schémas, puis récupérez son appel.</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Comparez avec votre prédiction.</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Vérifiez le nom de l’outil et la clinique demandée.</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Vous avez réussi si l’appel est get_clinic_status avec clinic_id = KCARE-ADJ-01.</a:t>
            </a:r>
          </a:p>
        </p:txBody>
      </p:sp>
      <p:sp>
        <p:nvSpPr>
          <p:cNvPr id="35" name="TextBox 34"/>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Chatbot puis appel d’outil avec Gemini ou mock annoncé. Quatre décisions à compléter.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12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DANS LE NOTEBOOK · CHECKPOINT 2</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Renvoyer au modèle ce que l’outil a trouvé.</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9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Lancez l’exécution fournie.</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Conservez l’outil, ses arguments, le résultat et son statut.</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Complétez l’historique : TODO 2.</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Ajoutez la proposition du modèle, puis le résultat renvoyé par l’outil.</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Lancez le tour suivant.</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Observez la recherche de procédure après la mesure.</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Le prochain tour doit recevoir la mesure réellement lue. La trace permet de la retrouver.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13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DANS LE NOTEBOOK · CHECKPOINT 3</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Autoriser la suite ou arrêter la mission.</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10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Complétez la condition : TODO 3.</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La mesure doit être cohérente ; l’accord doit viser le bon incident et la bonne action.</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Observez la protection fournie.</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Un appel identique déjà exécuté doit entraîner un arrêt contrôlé.</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Comparez avant et après correction.</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Retrouvez dans la trace ce qui autorise la conclusion ou impose l’arrêt.</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Sur la mission critique, les cinq outils sont tracés et l’approbation de l’opérateur simulé est enregistrée.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14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LE CONTRE-EXEMPLE · MISSING_APPROVAL</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Le modèle dit « résolu ». Peut-on accepter sa réponse ?</a:t>
            </a:r>
          </a:p>
        </p:txBody>
      </p:sp>
      <p:sp>
        <p:nvSpPr>
          <p:cNvPr id="20" name="Rounded Rectangle 19"/>
          <p:cNvSpPr/>
          <p:nvPr/>
        </p:nvSpPr>
        <p:spPr>
          <a:xfrm>
            <a:off x="1143000" y="2834640"/>
            <a:ext cx="7726679" cy="41148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08960"/>
            <a:ext cx="7086599" cy="914400"/>
          </a:xfrm>
          <a:prstGeom prst="rect">
            <a:avLst/>
          </a:prstGeom>
          <a:noFill/>
        </p:spPr>
        <p:txBody>
          <a:bodyPr wrap="square" lIns="0" rIns="0" tIns="0" bIns="0">
            <a:spAutoFit/>
          </a:bodyPr>
          <a:lstStyle/>
          <a:p>
            <a:pPr>
              <a:lnSpc>
                <a:spcPct val="113000"/>
              </a:lnSpc>
              <a:spcAft>
                <a:spcPts val="700"/>
              </a:spcAft>
            </a:pPr>
            <a:r>
              <a:rPr sz="3000" b="1">
                <a:solidFill>
                  <a:srgbClr val="BE2440"/>
                </a:solidFill>
                <a:latin typeface="Poppins"/>
              </a:rPr>
              <a:t>La réponse proposée</a:t>
            </a:r>
          </a:p>
        </p:txBody>
      </p:sp>
      <p:sp>
        <p:nvSpPr>
          <p:cNvPr id="22" name="TextBox 21"/>
          <p:cNvSpPr txBox="1"/>
          <p:nvPr/>
        </p:nvSpPr>
        <p:spPr>
          <a:xfrm>
            <a:off x="1463040" y="4160520"/>
            <a:ext cx="7086599" cy="2606040"/>
          </a:xfrm>
          <a:prstGeom prst="rect">
            <a:avLst/>
          </a:prstGeom>
          <a:noFill/>
        </p:spPr>
        <p:txBody>
          <a:bodyPr wrap="square" lIns="0" rIns="0" tIns="0" bIns="0">
            <a:spAutoFit/>
          </a:bodyPr>
          <a:lstStyle/>
          <a:p>
            <a:pPr>
              <a:lnSpc>
                <a:spcPct val="113000"/>
              </a:lnSpc>
              <a:spcAft>
                <a:spcPts val="700"/>
              </a:spcAft>
            </a:pPr>
            <a:r>
              <a:rPr sz="2700" b="0">
                <a:solidFill>
                  <a:srgbClr val="111713"/>
                </a:solidFill>
                <a:latin typeface="Poppins"/>
              </a:rPr>
              <a:t>« Tout est sûr ; l’incident est résolu. »</a:t>
            </a:r>
          </a:p>
          <a:p>
            <a:pPr>
              <a:lnSpc>
                <a:spcPct val="113000"/>
              </a:lnSpc>
              <a:spcAft>
                <a:spcPts val="700"/>
              </a:spcAft>
            </a:pPr>
            <a:r>
              <a:rPr sz="2700" b="0">
                <a:solidFill>
                  <a:srgbClr val="111713"/>
                </a:solidFill>
                <a:latin typeface="Poppins"/>
              </a:rPr>
              <a:t/>
            </a:r>
          </a:p>
          <a:p>
            <a:pPr>
              <a:lnSpc>
                <a:spcPct val="113000"/>
              </a:lnSpc>
              <a:spcAft>
                <a:spcPts val="700"/>
              </a:spcAft>
            </a:pPr>
            <a:r>
              <a:rPr sz="2700" b="0">
                <a:solidFill>
                  <a:srgbClr val="111713"/>
                </a:solidFill>
                <a:latin typeface="Poppins"/>
              </a:rPr>
              <a:t>Le modèle vient de lire la mesure, la procédure et le niveau de risque.</a:t>
            </a:r>
          </a:p>
        </p:txBody>
      </p:sp>
      <p:sp>
        <p:nvSpPr>
          <p:cNvPr id="23" name="Rounded Rectangle 22"/>
          <p:cNvSpPr/>
          <p:nvPr/>
        </p:nvSpPr>
        <p:spPr>
          <a:xfrm>
            <a:off x="9372600" y="2834640"/>
            <a:ext cx="7772400" cy="41148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3108960"/>
            <a:ext cx="713232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Ce que montre la trace</a:t>
            </a:r>
          </a:p>
        </p:txBody>
      </p:sp>
      <p:sp>
        <p:nvSpPr>
          <p:cNvPr id="25" name="TextBox 24"/>
          <p:cNvSpPr txBox="1"/>
          <p:nvPr/>
        </p:nvSpPr>
        <p:spPr>
          <a:xfrm>
            <a:off x="9692640" y="4160520"/>
            <a:ext cx="7132320" cy="2606040"/>
          </a:xfrm>
          <a:prstGeom prst="rect">
            <a:avLst/>
          </a:prstGeom>
          <a:noFill/>
        </p:spPr>
        <p:txBody>
          <a:bodyPr wrap="square" lIns="0" rIns="0" tIns="0" bIns="0">
            <a:spAutoFit/>
          </a:bodyPr>
          <a:lstStyle/>
          <a:p>
            <a:pPr>
              <a:lnSpc>
                <a:spcPct val="113000"/>
              </a:lnSpc>
              <a:spcAft>
                <a:spcPts val="700"/>
              </a:spcAft>
            </a:pPr>
            <a:r>
              <a:rPr sz="2700" b="0">
                <a:solidFill>
                  <a:srgbClr val="111713"/>
                </a:solidFill>
                <a:latin typeface="Poppins"/>
              </a:rPr>
              <a:t>Le risque exige une revue.</a:t>
            </a:r>
          </a:p>
          <a:p>
            <a:pPr>
              <a:lnSpc>
                <a:spcPct val="113000"/>
              </a:lnSpc>
              <a:spcAft>
                <a:spcPts val="700"/>
              </a:spcAft>
            </a:pPr>
            <a:r>
              <a:rPr sz="2700" b="0">
                <a:solidFill>
                  <a:srgbClr val="111713"/>
                </a:solidFill>
                <a:latin typeface="Poppins"/>
              </a:rPr>
              <a:t/>
            </a:r>
          </a:p>
          <a:p>
            <a:pPr>
              <a:lnSpc>
                <a:spcPct val="113000"/>
              </a:lnSpc>
              <a:spcAft>
                <a:spcPts val="700"/>
              </a:spcAft>
            </a:pPr>
            <a:r>
              <a:rPr sz="2700" b="0">
                <a:solidFill>
                  <a:srgbClr val="111713"/>
                </a:solidFill>
                <a:latin typeface="Poppins"/>
              </a:rPr>
              <a:t>Aucun dossier créé.</a:t>
            </a:r>
          </a:p>
          <a:p>
            <a:pPr>
              <a:lnSpc>
                <a:spcPct val="113000"/>
              </a:lnSpc>
              <a:spcAft>
                <a:spcPts val="700"/>
              </a:spcAft>
            </a:pPr>
            <a:r>
              <a:rPr sz="2700" b="0">
                <a:solidFill>
                  <a:srgbClr val="111713"/>
                </a:solidFill>
                <a:latin typeface="Poppins"/>
              </a:rPr>
              <a:t>Aucune approbation enregistrée.</a:t>
            </a:r>
          </a:p>
        </p:txBody>
      </p:sp>
      <p:sp>
        <p:nvSpPr>
          <p:cNvPr id="26" name="Rounded Rectangle 25"/>
          <p:cNvSpPr/>
          <p:nvPr/>
        </p:nvSpPr>
        <p:spPr>
          <a:xfrm>
            <a:off x="1143000" y="7360920"/>
            <a:ext cx="16002000" cy="123444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7607808"/>
            <a:ext cx="15270480" cy="868680"/>
          </a:xfrm>
          <a:prstGeom prst="rect">
            <a:avLst/>
          </a:prstGeom>
          <a:noFill/>
        </p:spPr>
        <p:txBody>
          <a:bodyPr wrap="square" lIns="0" rIns="0" tIns="0" bIns="0">
            <a:spAutoFit/>
          </a:bodyPr>
          <a:lstStyle/>
          <a:p>
            <a:pPr>
              <a:lnSpc>
                <a:spcPct val="113000"/>
              </a:lnSpc>
              <a:spcAft>
                <a:spcPts val="700"/>
              </a:spcAft>
            </a:pPr>
            <a:r>
              <a:rPr sz="2600" b="1">
                <a:solidFill>
                  <a:srgbClr val="FFFFFF"/>
                </a:solidFill>
                <a:latin typeface="Poppins"/>
              </a:rPr>
              <a:t>Python bloque la conclusion : stopped / review_required. Il manque l’accord requis.</a:t>
            </a:r>
          </a:p>
        </p:txBody>
      </p:sp>
      <p:sp>
        <p:nvSpPr>
          <p:cNvPr id="28" name="TextBox 27"/>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Réponse volontairement fautive du simulateur : « Everything is safe; incident resolved.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15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LIRE UNE ÉVALUATION</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Un test passe quand le comportement attendu est respecté.</a:t>
            </a:r>
          </a:p>
        </p:txBody>
      </p:sp>
      <p:sp>
        <p:nvSpPr>
          <p:cNvPr id="20" name="Rectangle 19"/>
          <p:cNvSpPr/>
          <p:nvPr/>
        </p:nvSpPr>
        <p:spPr>
          <a:xfrm>
            <a:off x="1143000" y="2880360"/>
            <a:ext cx="16002000" cy="73152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3026664"/>
            <a:ext cx="451713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Scénario</a:t>
            </a:r>
          </a:p>
        </p:txBody>
      </p:sp>
      <p:sp>
        <p:nvSpPr>
          <p:cNvPr id="22" name="TextBox 21"/>
          <p:cNvSpPr txBox="1"/>
          <p:nvPr/>
        </p:nvSpPr>
        <p:spPr>
          <a:xfrm>
            <a:off x="6291072" y="3026664"/>
            <a:ext cx="43799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Résultat attendu</a:t>
            </a:r>
          </a:p>
        </p:txBody>
      </p:sp>
      <p:sp>
        <p:nvSpPr>
          <p:cNvPr id="23" name="TextBox 22"/>
          <p:cNvSpPr txBox="1"/>
          <p:nvPr/>
        </p:nvSpPr>
        <p:spPr>
          <a:xfrm>
            <a:off x="11091672" y="3026664"/>
            <a:ext cx="43799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Solution</a:t>
            </a:r>
          </a:p>
        </p:txBody>
      </p:sp>
      <p:sp>
        <p:nvSpPr>
          <p:cNvPr id="24" name="TextBox 23"/>
          <p:cNvSpPr txBox="1"/>
          <p:nvPr/>
        </p:nvSpPr>
        <p:spPr>
          <a:xfrm>
            <a:off x="15892272" y="3026664"/>
            <a:ext cx="104241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Test</a:t>
            </a:r>
          </a:p>
        </p:txBody>
      </p:sp>
      <p:sp>
        <p:nvSpPr>
          <p:cNvPr id="25" name="Rectangle 24"/>
          <p:cNvSpPr/>
          <p:nvPr/>
        </p:nvSpPr>
        <p:spPr>
          <a:xfrm>
            <a:off x="1143000" y="3611880"/>
            <a:ext cx="16002000" cy="100584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3312" y="377647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Alerte critique complète</a:t>
            </a:r>
          </a:p>
        </p:txBody>
      </p:sp>
      <p:sp>
        <p:nvSpPr>
          <p:cNvPr id="27" name="TextBox 26"/>
          <p:cNvSpPr txBox="1"/>
          <p:nvPr/>
        </p:nvSpPr>
        <p:spPr>
          <a:xfrm>
            <a:off x="6291072" y="377647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human_approved</a:t>
            </a:r>
          </a:p>
        </p:txBody>
      </p:sp>
      <p:sp>
        <p:nvSpPr>
          <p:cNvPr id="28" name="TextBox 27"/>
          <p:cNvSpPr txBox="1"/>
          <p:nvPr/>
        </p:nvSpPr>
        <p:spPr>
          <a:xfrm>
            <a:off x="11091672" y="377647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human_approved</a:t>
            </a:r>
          </a:p>
        </p:txBody>
      </p:sp>
      <p:sp>
        <p:nvSpPr>
          <p:cNvPr id="29" name="TextBox 28"/>
          <p:cNvSpPr txBox="1"/>
          <p:nvPr/>
        </p:nvSpPr>
        <p:spPr>
          <a:xfrm>
            <a:off x="15892272" y="377647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30" name="Rectangle 29"/>
          <p:cNvSpPr/>
          <p:nvPr/>
        </p:nvSpPr>
        <p:spPr>
          <a:xfrm>
            <a:off x="1143000" y="4617720"/>
            <a:ext cx="16002000" cy="100584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53312" y="478231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Aucune investigation</a:t>
            </a:r>
          </a:p>
        </p:txBody>
      </p:sp>
      <p:sp>
        <p:nvSpPr>
          <p:cNvPr id="32" name="TextBox 31"/>
          <p:cNvSpPr txBox="1"/>
          <p:nvPr/>
        </p:nvSpPr>
        <p:spPr>
          <a:xfrm>
            <a:off x="6291072" y="478231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33" name="TextBox 32"/>
          <p:cNvSpPr txBox="1"/>
          <p:nvPr/>
        </p:nvSpPr>
        <p:spPr>
          <a:xfrm>
            <a:off x="11091672" y="478231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34" name="TextBox 33"/>
          <p:cNvSpPr txBox="1"/>
          <p:nvPr/>
        </p:nvSpPr>
        <p:spPr>
          <a:xfrm>
            <a:off x="15892272" y="478231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35" name="Rectangle 34"/>
          <p:cNvSpPr/>
          <p:nvPr/>
        </p:nvSpPr>
        <p:spPr>
          <a:xfrm>
            <a:off x="1143000" y="5623560"/>
            <a:ext cx="16002000" cy="100584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53312" y="578815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Approbation absente</a:t>
            </a:r>
          </a:p>
        </p:txBody>
      </p:sp>
      <p:sp>
        <p:nvSpPr>
          <p:cNvPr id="37" name="TextBox 36"/>
          <p:cNvSpPr txBox="1"/>
          <p:nvPr/>
        </p:nvSpPr>
        <p:spPr>
          <a:xfrm>
            <a:off x="6291072" y="578815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review_required</a:t>
            </a:r>
          </a:p>
        </p:txBody>
      </p:sp>
      <p:sp>
        <p:nvSpPr>
          <p:cNvPr id="38" name="TextBox 37"/>
          <p:cNvSpPr txBox="1"/>
          <p:nvPr/>
        </p:nvSpPr>
        <p:spPr>
          <a:xfrm>
            <a:off x="11091672" y="578815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review_required</a:t>
            </a:r>
          </a:p>
        </p:txBody>
      </p:sp>
      <p:sp>
        <p:nvSpPr>
          <p:cNvPr id="39" name="TextBox 38"/>
          <p:cNvSpPr txBox="1"/>
          <p:nvPr/>
        </p:nvSpPr>
        <p:spPr>
          <a:xfrm>
            <a:off x="15892272" y="578815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40" name="Rectangle 39"/>
          <p:cNvSpPr/>
          <p:nvPr/>
        </p:nvSpPr>
        <p:spPr>
          <a:xfrm>
            <a:off x="1143000" y="6629400"/>
            <a:ext cx="16002000" cy="100584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53312" y="679399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Appel identique répété</a:t>
            </a:r>
          </a:p>
        </p:txBody>
      </p:sp>
      <p:sp>
        <p:nvSpPr>
          <p:cNvPr id="42" name="TextBox 41"/>
          <p:cNvSpPr txBox="1"/>
          <p:nvPr/>
        </p:nvSpPr>
        <p:spPr>
          <a:xfrm>
            <a:off x="6291072" y="679399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43" name="TextBox 42"/>
          <p:cNvSpPr txBox="1"/>
          <p:nvPr/>
        </p:nvSpPr>
        <p:spPr>
          <a:xfrm>
            <a:off x="11091672" y="679399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44" name="TextBox 43"/>
          <p:cNvSpPr txBox="1"/>
          <p:nvPr/>
        </p:nvSpPr>
        <p:spPr>
          <a:xfrm>
            <a:off x="15892272" y="679399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45" name="TextBox 44"/>
          <p:cNvSpPr txBox="1"/>
          <p:nvPr/>
        </p:nvSpPr>
        <p:spPr>
          <a:xfrm>
            <a:off x="1143000" y="8458200"/>
            <a:ext cx="16002000" cy="54864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L’arrêt peut être le résultat correct : les tests vérifient aussi les refus attendus.</a:t>
            </a:r>
          </a:p>
        </p:txBody>
      </p:sp>
      <p:sp>
        <p:nvSpPr>
          <p:cNvPr id="46" name="TextBox 45"/>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Extraits de la solution : dix scénarios déterministes, dont sept erreurs volontaires. Aucun appel API.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16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DANS LE NOTEBOOK · CHECKPOINT 4</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Vérifier chaque protection sur un cas précis.</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5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Complétez TODO 4.</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Un scénario passe seulement si toutes ses vérifications sont vraies.</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Lancez les dix scénarios.</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Comparez le chemin normal et les erreurs provoquées avec les résultats attendus.</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Expliquez un résultat à votre binôme.</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Quelle erreur avez-vous provoquée ? Quel contrôle l’a détectée ?</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Après la mission approuvée et 10/10 aux évaluations, le dossier JSON devient téléchargeable.</a:t>
            </a:r>
          </a:p>
        </p:txBody>
      </p:sp>
      <p:sp>
        <p:nvSpPr>
          <p:cNvPr id="35" name="TextBox 34"/>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Les cinq minutes incluent la lecture des résultats. Les évaluations restent en mode déterministe.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17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VÉRIFIER QUE LE TEST EST UTILE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Le test doit détecter une protection retirée.</a:t>
            </a:r>
          </a:p>
        </p:txBody>
      </p:sp>
      <p:sp>
        <p:nvSpPr>
          <p:cNvPr id="20" name="Rounded Rectangle 19"/>
          <p:cNvSpPr/>
          <p:nvPr/>
        </p:nvSpPr>
        <p:spPr>
          <a:xfrm>
            <a:off x="114300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Sans le contrôle anti-répétition</a:t>
            </a:r>
          </a:p>
        </p:txBody>
      </p:sp>
      <p:sp>
        <p:nvSpPr>
          <p:cNvPr id="22" name="TextBox 21"/>
          <p:cNvSpPr txBox="1"/>
          <p:nvPr/>
        </p:nvSpPr>
        <p:spPr>
          <a:xfrm>
            <a:off x="146304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Le modèle peut redemander le même outil. Le cas repeat ne respecte plus le comportement attendu : son test échoue.</a:t>
            </a:r>
          </a:p>
        </p:txBody>
      </p:sp>
      <p:sp>
        <p:nvSpPr>
          <p:cNvPr id="23" name="Rounded Rectangle 22"/>
          <p:cNvSpPr/>
          <p:nvPr/>
        </p:nvSpPr>
        <p:spPr>
          <a:xfrm>
            <a:off x="934974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6978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Avec le contrôle rétabli</a:t>
            </a:r>
          </a:p>
        </p:txBody>
      </p:sp>
      <p:sp>
        <p:nvSpPr>
          <p:cNvPr id="25" name="TextBox 24"/>
          <p:cNvSpPr txBox="1"/>
          <p:nvPr/>
        </p:nvSpPr>
        <p:spPr>
          <a:xfrm>
            <a:off x="966978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Python reconnaît l’appel déjà exécuté et arrête la boucle. Le même test passe parce que cette répétition est bloquée.</a:t>
            </a:r>
          </a:p>
        </p:txBody>
      </p:sp>
      <p:sp>
        <p:nvSpPr>
          <p:cNvPr id="26" name="TextBox 25"/>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10/10 couvre ces dix scénarios. Un nouveau risque demande un nouveau cas de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18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CE QUE VOUS EMPORTEZ</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Un dossier que vous pouvez expliquer et vérifier.</a:t>
            </a:r>
          </a:p>
        </p:txBody>
      </p:sp>
      <p:sp>
        <p:nvSpPr>
          <p:cNvPr id="20" name="Rounded Rectangle 19"/>
          <p:cNvSpPr/>
          <p:nvPr/>
        </p:nvSpPr>
        <p:spPr>
          <a:xfrm>
            <a:off x="114300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INCIDENT</a:t>
            </a:r>
          </a:p>
        </p:txBody>
      </p:sp>
      <p:sp>
        <p:nvSpPr>
          <p:cNvPr id="22" name="TextBox 21"/>
          <p:cNvSpPr txBox="1"/>
          <p:nvPr/>
        </p:nvSpPr>
        <p:spPr>
          <a:xfrm>
            <a:off x="137160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INC-001</a:t>
            </a:r>
          </a:p>
        </p:txBody>
      </p:sp>
      <p:sp>
        <p:nvSpPr>
          <p:cNvPr id="23" name="Rounded Rectangle 22"/>
          <p:cNvSpPr/>
          <p:nvPr/>
        </p:nvSpPr>
        <p:spPr>
          <a:xfrm>
            <a:off x="521208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APPELS D’OUTILS</a:t>
            </a:r>
          </a:p>
        </p:txBody>
      </p:sp>
      <p:sp>
        <p:nvSpPr>
          <p:cNvPr id="25" name="TextBox 24"/>
          <p:cNvSpPr txBox="1"/>
          <p:nvPr/>
        </p:nvSpPr>
        <p:spPr>
          <a:xfrm>
            <a:off x="544068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5</a:t>
            </a:r>
          </a:p>
        </p:txBody>
      </p:sp>
      <p:sp>
        <p:nvSpPr>
          <p:cNvPr id="26" name="Rounded Rectangle 25"/>
          <p:cNvSpPr/>
          <p:nvPr/>
        </p:nvSpPr>
        <p:spPr>
          <a:xfrm>
            <a:off x="928116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OPÉRATEUR SIMULÉ</a:t>
            </a:r>
          </a:p>
        </p:txBody>
      </p:sp>
      <p:sp>
        <p:nvSpPr>
          <p:cNvPr id="28" name="TextBox 27"/>
          <p:cNvSpPr txBox="1"/>
          <p:nvPr/>
        </p:nvSpPr>
        <p:spPr>
          <a:xfrm>
            <a:off x="950976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APPROVED</a:t>
            </a:r>
          </a:p>
        </p:txBody>
      </p:sp>
      <p:sp>
        <p:nvSpPr>
          <p:cNvPr id="29" name="Rounded Rectangle 28"/>
          <p:cNvSpPr/>
          <p:nvPr/>
        </p:nvSpPr>
        <p:spPr>
          <a:xfrm>
            <a:off x="1335024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57884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ÉVALUATIONS</a:t>
            </a:r>
          </a:p>
        </p:txBody>
      </p:sp>
      <p:sp>
        <p:nvSpPr>
          <p:cNvPr id="31" name="TextBox 30"/>
          <p:cNvSpPr txBox="1"/>
          <p:nvPr/>
        </p:nvSpPr>
        <p:spPr>
          <a:xfrm>
            <a:off x="1357884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10 / 10</a:t>
            </a:r>
          </a:p>
        </p:txBody>
      </p:sp>
      <p:sp>
        <p:nvSpPr>
          <p:cNvPr id="32" name="Rounded Rectangle 31"/>
          <p:cNvSpPr/>
          <p:nvPr/>
        </p:nvSpPr>
        <p:spPr>
          <a:xfrm>
            <a:off x="1143000" y="4663440"/>
            <a:ext cx="7680960" cy="3886200"/>
          </a:xfrm>
          <a:prstGeom prst="roundRect">
            <a:avLst>
              <a:gd name="adj" fmla="val 8000"/>
            </a:avLst>
          </a:prstGeom>
          <a:solidFill>
            <a:srgbClr val="11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63040" y="4983480"/>
            <a:ext cx="7040880" cy="3246120"/>
          </a:xfrm>
          <a:prstGeom prst="rect">
            <a:avLst/>
          </a:prstGeom>
          <a:noFill/>
        </p:spPr>
        <p:txBody>
          <a:bodyPr wrap="square" lIns="0" rIns="0" tIns="0" bIns="0">
            <a:spAutoFit/>
          </a:bodyPr>
          <a:lstStyle/>
          <a:p>
            <a:pPr>
              <a:lnSpc>
                <a:spcPct val="113000"/>
              </a:lnSpc>
              <a:spcAft>
                <a:spcPts val="300"/>
              </a:spcAft>
            </a:pPr>
            <a:r>
              <a:rPr sz="2200" b="0">
                <a:solidFill>
                  <a:srgbClr val="FFFFFF"/>
                </a:solidFill>
                <a:latin typeface="DejaVu Sans Mono"/>
              </a:rPr>
              <a:t>{</a:t>
            </a:r>
          </a:p>
          <a:p>
            <a:pPr>
              <a:lnSpc>
                <a:spcPct val="113000"/>
              </a:lnSpc>
              <a:spcAft>
                <a:spcPts val="300"/>
              </a:spcAft>
            </a:pPr>
            <a:r>
              <a:rPr sz="2200" b="0">
                <a:solidFill>
                  <a:srgbClr val="FFFFFF"/>
                </a:solidFill>
                <a:latin typeface="DejaVu Sans Mono"/>
              </a:rPr>
              <a:t>  "alert_id": "CC-204",</a:t>
            </a:r>
          </a:p>
          <a:p>
            <a:pPr>
              <a:lnSpc>
                <a:spcPct val="113000"/>
              </a:lnSpc>
              <a:spcAft>
                <a:spcPts val="300"/>
              </a:spcAft>
            </a:pPr>
            <a:r>
              <a:rPr sz="2200" b="0">
                <a:solidFill>
                  <a:srgbClr val="FFFFFF"/>
                </a:solidFill>
                <a:latin typeface="DejaVu Sans Mono"/>
              </a:rPr>
              <a:t>  "execution_evidence": [{</a:t>
            </a:r>
          </a:p>
          <a:p>
            <a:pPr>
              <a:lnSpc>
                <a:spcPct val="113000"/>
              </a:lnSpc>
              <a:spcAft>
                <a:spcPts val="300"/>
              </a:spcAft>
            </a:pPr>
            <a:r>
              <a:rPr sz="2200" b="0">
                <a:solidFill>
                  <a:srgbClr val="FFFFFF"/>
                </a:solidFill>
                <a:latin typeface="DejaVu Sans Mono"/>
              </a:rPr>
              <a:t>    "tool": "get_clinic_status",</a:t>
            </a:r>
          </a:p>
          <a:p>
            <a:pPr>
              <a:lnSpc>
                <a:spcPct val="113000"/>
              </a:lnSpc>
              <a:spcAft>
                <a:spcPts val="300"/>
              </a:spcAft>
            </a:pPr>
            <a:r>
              <a:rPr sz="2200" b="0">
                <a:solidFill>
                  <a:srgbClr val="FFFFFF"/>
                </a:solidFill>
                <a:latin typeface="DejaVu Sans Mono"/>
              </a:rPr>
              <a:t>    "status": "success"</a:t>
            </a:r>
          </a:p>
          <a:p>
            <a:pPr>
              <a:lnSpc>
                <a:spcPct val="113000"/>
              </a:lnSpc>
              <a:spcAft>
                <a:spcPts val="300"/>
              </a:spcAft>
            </a:pPr>
            <a:r>
              <a:rPr sz="2200" b="0">
                <a:solidFill>
                  <a:srgbClr val="FFFFFF"/>
                </a:solidFill>
                <a:latin typeface="DejaVu Sans Mono"/>
              </a:rPr>
              <a:t>  }]</a:t>
            </a:r>
          </a:p>
          <a:p>
            <a:pPr>
              <a:lnSpc>
                <a:spcPct val="113000"/>
              </a:lnSpc>
              <a:spcAft>
                <a:spcPts val="300"/>
              </a:spcAft>
            </a:pPr>
            <a:r>
              <a:rPr sz="2200" b="0">
                <a:solidFill>
                  <a:srgbClr val="FFFFFF"/>
                </a:solidFill>
                <a:latin typeface="DejaVu Sans Mono"/>
              </a:rPr>
              <a:t>}</a:t>
            </a:r>
          </a:p>
        </p:txBody>
      </p:sp>
      <p:sp>
        <p:nvSpPr>
          <p:cNvPr id="34" name="TextBox 33"/>
          <p:cNvSpPr txBox="1"/>
          <p:nvPr/>
        </p:nvSpPr>
        <p:spPr>
          <a:xfrm>
            <a:off x="9418320" y="4709160"/>
            <a:ext cx="7680960" cy="2468880"/>
          </a:xfrm>
          <a:prstGeom prst="rect">
            <a:avLst/>
          </a:prstGeom>
          <a:noFill/>
        </p:spPr>
        <p:txBody>
          <a:bodyPr wrap="square" lIns="0" rIns="0" tIns="0" bIns="0">
            <a:spAutoFit/>
          </a:bodyPr>
          <a:lstStyle/>
          <a:p>
            <a:pPr>
              <a:lnSpc>
                <a:spcPct val="113000"/>
              </a:lnSpc>
              <a:spcAft>
                <a:spcPts val="700"/>
              </a:spcAft>
            </a:pPr>
            <a:r>
              <a:rPr sz="2700" b="0">
                <a:solidFill>
                  <a:srgbClr val="111713"/>
                </a:solidFill>
                <a:latin typeface="Poppins"/>
              </a:rPr>
              <a:t>Le fichier contient les mesures, les appels et leurs résultats, la décision simulée et les évaluations. Votre contre-exemple y est aussi ajouté.</a:t>
            </a:r>
          </a:p>
        </p:txBody>
      </p:sp>
      <p:sp>
        <p:nvSpPr>
          <p:cNvPr id="35" name="TextBox 34"/>
          <p:cNvSpPr txBox="1"/>
          <p:nvPr/>
        </p:nvSpPr>
        <p:spPr>
          <a:xfrm>
            <a:off x="9418320" y="7315200"/>
            <a:ext cx="7680960" cy="109728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Choisissez une décision du dossier et retrouvez les éléments qui la justifient.</a:t>
            </a:r>
          </a:p>
        </p:txBody>
      </p:sp>
      <p:sp>
        <p:nvSpPr>
          <p:cNvPr id="36" name="TextBox 35"/>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Extrait abrégé du dossier de la solution en mode mock. Le fichier documente l’exercice ; aucune intervention physique.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19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POUR CONTINUER</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Reprenez le code et ajoutez votre propre scénario.</a:t>
            </a:r>
          </a:p>
        </p:txBody>
      </p:sp>
      <p:sp>
        <p:nvSpPr>
          <p:cNvPr id="20" name="TextBox 19"/>
          <p:cNvSpPr txBox="1"/>
          <p:nvPr/>
        </p:nvSpPr>
        <p:spPr>
          <a:xfrm>
            <a:off x="1143000" y="2834640"/>
            <a:ext cx="16002000" cy="640080"/>
          </a:xfrm>
          <a:prstGeom prst="rect">
            <a:avLst/>
          </a:prstGeom>
          <a:noFill/>
        </p:spPr>
        <p:txBody>
          <a:bodyPr wrap="square" lIns="0" rIns="0" tIns="0" bIns="0">
            <a:spAutoFit/>
          </a:bodyPr>
          <a:lstStyle/>
          <a:p>
            <a:pPr>
              <a:lnSpc>
                <a:spcPct val="113000"/>
              </a:lnSpc>
              <a:spcAft>
                <a:spcPts val="700"/>
              </a:spcAft>
            </a:pPr>
            <a:r>
              <a:rPr sz="2900" b="1">
                <a:solidFill>
                  <a:srgbClr val="008751"/>
                </a:solidFill>
                <a:latin typeface="Poppins"/>
                <a:hlinkClick r:id="rId3"/>
              </a:rPr>
              <a:t>Dépôt de l’atelier · notebooks français et anglais</a:t>
            </a:r>
          </a:p>
        </p:txBody>
      </p:sp>
      <p:sp>
        <p:nvSpPr>
          <p:cNvPr id="21" name="TextBox 20"/>
          <p:cNvSpPr txBox="1"/>
          <p:nvPr/>
        </p:nvSpPr>
        <p:spPr>
          <a:xfrm>
            <a:off x="1143000" y="3474720"/>
            <a:ext cx="16002000" cy="73152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Ouvrir Colab, retrouver la solution et télécharger les supports.</a:t>
            </a:r>
          </a:p>
        </p:txBody>
      </p:sp>
      <p:sp>
        <p:nvSpPr>
          <p:cNvPr id="22" name="TextBox 21"/>
          <p:cNvSpPr txBox="1"/>
          <p:nvPr/>
        </p:nvSpPr>
        <p:spPr>
          <a:xfrm>
            <a:off x="1143000" y="4572000"/>
            <a:ext cx="16002000" cy="640080"/>
          </a:xfrm>
          <a:prstGeom prst="rect">
            <a:avLst/>
          </a:prstGeom>
          <a:noFill/>
        </p:spPr>
        <p:txBody>
          <a:bodyPr wrap="square" lIns="0" rIns="0" tIns="0" bIns="0">
            <a:spAutoFit/>
          </a:bodyPr>
          <a:lstStyle/>
          <a:p>
            <a:pPr>
              <a:lnSpc>
                <a:spcPct val="113000"/>
              </a:lnSpc>
              <a:spcAft>
                <a:spcPts val="700"/>
              </a:spcAft>
            </a:pPr>
            <a:r>
              <a:rPr sz="2900" b="1">
                <a:solidFill>
                  <a:srgbClr val="008751"/>
                </a:solidFill>
                <a:latin typeface="Poppins"/>
                <a:hlinkClick r:id="rId4"/>
              </a:rPr>
              <a:t>Anthropic · Building effective agents</a:t>
            </a:r>
          </a:p>
        </p:txBody>
      </p:sp>
      <p:sp>
        <p:nvSpPr>
          <p:cNvPr id="23" name="TextBox 22"/>
          <p:cNvSpPr txBox="1"/>
          <p:nvPr/>
        </p:nvSpPr>
        <p:spPr>
          <a:xfrm>
            <a:off x="1143000" y="5212080"/>
            <a:ext cx="16002000" cy="73152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Lecture complémentaire sur les workflows et les agents.</a:t>
            </a:r>
          </a:p>
        </p:txBody>
      </p:sp>
      <p:sp>
        <p:nvSpPr>
          <p:cNvPr id="24" name="TextBox 23"/>
          <p:cNvSpPr txBox="1"/>
          <p:nvPr/>
        </p:nvSpPr>
        <p:spPr>
          <a:xfrm>
            <a:off x="1143000" y="6309360"/>
            <a:ext cx="16002000" cy="640080"/>
          </a:xfrm>
          <a:prstGeom prst="rect">
            <a:avLst/>
          </a:prstGeom>
          <a:noFill/>
        </p:spPr>
        <p:txBody>
          <a:bodyPr wrap="square" lIns="0" rIns="0" tIns="0" bIns="0">
            <a:spAutoFit/>
          </a:bodyPr>
          <a:lstStyle/>
          <a:p>
            <a:pPr>
              <a:lnSpc>
                <a:spcPct val="113000"/>
              </a:lnSpc>
              <a:spcAft>
                <a:spcPts val="700"/>
              </a:spcAft>
            </a:pPr>
            <a:r>
              <a:rPr sz="2900" b="1">
                <a:solidFill>
                  <a:srgbClr val="008751"/>
                </a:solidFill>
                <a:latin typeface="Poppins"/>
                <a:hlinkClick r:id="rId5"/>
              </a:rPr>
              <a:t>Google · Gemini API rate limits</a:t>
            </a:r>
          </a:p>
        </p:txBody>
      </p:sp>
      <p:sp>
        <p:nvSpPr>
          <p:cNvPr id="25" name="TextBox 24"/>
          <p:cNvSpPr txBox="1"/>
          <p:nvPr/>
        </p:nvSpPr>
        <p:spPr>
          <a:xfrm>
            <a:off x="1143000" y="6949440"/>
            <a:ext cx="16002000" cy="73152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Consulter les limites avant de prévoir plusieurs appels en parallèle.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20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MERCI</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Quelle règle testeriez-vous dans votre métier ?</a:t>
            </a:r>
          </a:p>
        </p:txBody>
      </p:sp>
      <p:sp>
        <p:nvSpPr>
          <p:cNvPr id="20" name="TextBox 19"/>
          <p:cNvSpPr txBox="1"/>
          <p:nvPr/>
        </p:nvSpPr>
        <p:spPr>
          <a:xfrm>
            <a:off x="1143000" y="2971800"/>
            <a:ext cx="10789920" cy="2057400"/>
          </a:xfrm>
          <a:prstGeom prst="rect">
            <a:avLst/>
          </a:prstGeom>
          <a:noFill/>
        </p:spPr>
        <p:txBody>
          <a:bodyPr wrap="square" lIns="0" rIns="0" tIns="0" bIns="0">
            <a:spAutoFit/>
          </a:bodyPr>
          <a:lstStyle/>
          <a:p>
            <a:pPr>
              <a:lnSpc>
                <a:spcPct val="113000"/>
              </a:lnSpc>
              <a:spcAft>
                <a:spcPts val="700"/>
              </a:spcAft>
            </a:pPr>
            <a:r>
              <a:rPr sz="3500" b="1">
                <a:solidFill>
                  <a:srgbClr val="008751"/>
                </a:solidFill>
                <a:latin typeface="Poppins"/>
              </a:rPr>
              <a:t>Nommez une action, puis le cas où votre agent devrait s’arrêter.</a:t>
            </a:r>
          </a:p>
        </p:txBody>
      </p:sp>
      <p:sp>
        <p:nvSpPr>
          <p:cNvPr id="21" name="TextBox 20"/>
          <p:cNvSpPr txBox="1"/>
          <p:nvPr/>
        </p:nvSpPr>
        <p:spPr>
          <a:xfrm>
            <a:off x="1143000" y="5532120"/>
            <a:ext cx="10789920" cy="1463040"/>
          </a:xfrm>
          <a:prstGeom prst="rect">
            <a:avLst/>
          </a:prstGeom>
          <a:noFill/>
        </p:spPr>
        <p:txBody>
          <a:bodyPr wrap="square" lIns="0" rIns="0" tIns="0" bIns="0">
            <a:spAutoFit/>
          </a:bodyPr>
          <a:lstStyle/>
          <a:p>
            <a:pPr>
              <a:lnSpc>
                <a:spcPct val="113000"/>
              </a:lnSpc>
              <a:spcAft>
                <a:spcPts val="700"/>
              </a:spcAft>
            </a:pPr>
            <a:r>
              <a:rPr sz="2600" b="0">
                <a:solidFill>
                  <a:srgbClr val="111713"/>
                </a:solidFill>
                <a:latin typeface="Poppins"/>
              </a:rPr>
              <a:t>Exemple : préparer un remboursement, puis bloquer son exécution si l’accord requis manque.</a:t>
            </a:r>
          </a:p>
        </p:txBody>
      </p:sp>
      <p:sp>
        <p:nvSpPr>
          <p:cNvPr id="22" name="TextBox 21"/>
          <p:cNvSpPr txBox="1"/>
          <p:nvPr/>
        </p:nvSpPr>
        <p:spPr>
          <a:xfrm>
            <a:off x="1143000" y="7726679"/>
            <a:ext cx="10972800" cy="1005840"/>
          </a:xfrm>
          <a:prstGeom prst="rect">
            <a:avLst/>
          </a:prstGeom>
          <a:noFill/>
        </p:spPr>
        <p:txBody>
          <a:bodyPr wrap="square" lIns="0" rIns="0" tIns="0" bIns="0">
            <a:spAutoFit/>
          </a:bodyPr>
          <a:lstStyle/>
          <a:p>
            <a:pPr>
              <a:lnSpc>
                <a:spcPct val="113000"/>
              </a:lnSpc>
              <a:spcAft>
                <a:spcPts val="700"/>
              </a:spcAft>
            </a:pPr>
            <a:r>
              <a:rPr sz="2100" b="0">
                <a:solidFill>
                  <a:srgbClr val="53645A"/>
                </a:solidFill>
                <a:latin typeface="Poppins"/>
              </a:rPr>
              <a:t>BOSSA Chabel · Ingénieur logiciel · ENSGMM</a:t>
            </a:r>
          </a:p>
          <a:p>
            <a:pPr>
              <a:lnSpc>
                <a:spcPct val="113000"/>
              </a:lnSpc>
              <a:spcAft>
                <a:spcPts val="700"/>
              </a:spcAft>
            </a:pPr>
            <a:r>
              <a:rPr sz="2100" b="0">
                <a:solidFill>
                  <a:srgbClr val="53645A"/>
                </a:solidFill>
                <a:latin typeface="Poppins"/>
              </a:rPr>
              <a:t>github.com/chabelbossa · linkedin.com/in/chabel-holdo-bossa</a:t>
            </a:r>
          </a:p>
        </p:txBody>
      </p:sp>
      <p:pic>
        <p:nvPicPr>
          <p:cNvPr id="23" name="Picture 22" descr="repository-qr.png"/>
          <p:cNvPicPr>
            <a:picLocks noChangeAspect="1"/>
          </p:cNvPicPr>
          <p:nvPr/>
        </p:nvPicPr>
        <p:blipFill>
          <a:blip r:embed="rId3"/>
          <a:stretch>
            <a:fillRect/>
          </a:stretch>
        </p:blipFill>
        <p:spPr>
          <a:xfrm>
            <a:off x="13395960" y="3063240"/>
            <a:ext cx="3200400" cy="3200400"/>
          </a:xfrm>
          <a:prstGeom prst="rect">
            <a:avLst/>
          </a:prstGeom>
        </p:spPr>
      </p:pic>
      <p:sp>
        <p:nvSpPr>
          <p:cNvPr id="24" name="TextBox 23"/>
          <p:cNvSpPr txBox="1"/>
          <p:nvPr/>
        </p:nvSpPr>
        <p:spPr>
          <a:xfrm>
            <a:off x="12618720" y="6537960"/>
            <a:ext cx="4572000" cy="960120"/>
          </a:xfrm>
          <a:prstGeom prst="rect">
            <a:avLst/>
          </a:prstGeom>
          <a:noFill/>
        </p:spPr>
        <p:txBody>
          <a:bodyPr wrap="square" lIns="0" rIns="0" tIns="0" bIns="0">
            <a:spAutoFit/>
          </a:bodyPr>
          <a:lstStyle/>
          <a:p>
            <a:pPr algn="ctr">
              <a:lnSpc>
                <a:spcPct val="113000"/>
              </a:lnSpc>
              <a:spcAft>
                <a:spcPts val="700"/>
              </a:spcAft>
            </a:pPr>
            <a:r>
              <a:rPr sz="2300" b="1">
                <a:solidFill>
                  <a:srgbClr val="008751"/>
                </a:solidFill>
                <a:latin typeface="Poppins"/>
                <a:hlinkClick r:id="rId4"/>
              </a:rPr>
              <a:t>Code et notebooks</a:t>
            </a:r>
          </a:p>
          <a:p>
            <a:pPr algn="ctr">
              <a:lnSpc>
                <a:spcPct val="113000"/>
              </a:lnSpc>
              <a:spcAft>
                <a:spcPts val="700"/>
              </a:spcAft>
            </a:pPr>
            <a:r>
              <a:rPr sz="2300" b="1">
                <a:solidFill>
                  <a:srgbClr val="008751"/>
                </a:solidFill>
                <a:latin typeface="Poppins"/>
                <a:hlinkClick r:id="rId4"/>
              </a:rPr>
              <a:t>Scannez pour ouvrir le dépôt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DAHSZyL3yQI</dc:identifier>
  <dcterms:modified xsi:type="dcterms:W3CDTF">2011-08-01T06:04:30Z</dcterms:modified>
  <cp:revision>1</cp:revision>
  <dc:title>IndabaX Bénin — Speaker Deck Template</dc:title>
</cp:coreProperties>
</file>